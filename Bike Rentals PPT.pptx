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1BDF20-EFB5-4209-8F8E-9B884BF78AA9}" v="10" dt="2026-10-05T11:17:40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92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pit Vats" userId="b5567c56118d5199" providerId="LiveId" clId="{8842D376-7311-452F-AF20-9F32A5CFB43A}"/>
    <pc:docChg chg="undo custSel modSld">
      <pc:chgData name="Arpit Vats" userId="b5567c56118d5199" providerId="LiveId" clId="{8842D376-7311-452F-AF20-9F32A5CFB43A}" dt="2026-10-05T11:27:21.499" v="117" actId="478"/>
      <pc:docMkLst>
        <pc:docMk/>
      </pc:docMkLst>
      <pc:sldChg chg="addSp delSp modSp mod">
        <pc:chgData name="Arpit Vats" userId="b5567c56118d5199" providerId="LiveId" clId="{8842D376-7311-452F-AF20-9F32A5CFB43A}" dt="2026-10-05T11:27:21.499" v="117" actId="478"/>
        <pc:sldMkLst>
          <pc:docMk/>
          <pc:sldMk cId="0" sldId="256"/>
        </pc:sldMkLst>
        <pc:spChg chg="mod">
          <ac:chgData name="Arpit Vats" userId="b5567c56118d5199" providerId="LiveId" clId="{8842D376-7311-452F-AF20-9F32A5CFB43A}" dt="2026-10-05T11:12:35.277" v="100" actId="403"/>
          <ac:spMkLst>
            <pc:docMk/>
            <pc:sldMk cId="0" sldId="256"/>
            <ac:spMk id="8" creationId="{00000000-0000-0000-0000-000000000000}"/>
          </ac:spMkLst>
        </pc:spChg>
        <pc:picChg chg="add del mod">
          <ac:chgData name="Arpit Vats" userId="b5567c56118d5199" providerId="LiveId" clId="{8842D376-7311-452F-AF20-9F32A5CFB43A}" dt="2026-10-05T11:27:21.499" v="117" actId="478"/>
          <ac:picMkLst>
            <pc:docMk/>
            <pc:sldMk cId="0" sldId="256"/>
            <ac:picMk id="10" creationId="{EB000791-6D5B-B647-1F09-8EC91CD31AA2}"/>
          </ac:picMkLst>
        </pc:picChg>
      </pc:sldChg>
      <pc:sldChg chg="addSp delSp modSp mod">
        <pc:chgData name="Arpit Vats" userId="b5567c56118d5199" providerId="LiveId" clId="{8842D376-7311-452F-AF20-9F32A5CFB43A}" dt="2026-10-05T11:12:18.657" v="97" actId="113"/>
        <pc:sldMkLst>
          <pc:docMk/>
          <pc:sldMk cId="0" sldId="267"/>
        </pc:sldMkLst>
        <pc:spChg chg="add mod">
          <ac:chgData name="Arpit Vats" userId="b5567c56118d5199" providerId="LiveId" clId="{8842D376-7311-452F-AF20-9F32A5CFB43A}" dt="2026-10-05T11:12:12.376" v="96" actId="113"/>
          <ac:spMkLst>
            <pc:docMk/>
            <pc:sldMk cId="0" sldId="267"/>
            <ac:spMk id="8" creationId="{91F1CC3F-2816-21C8-8997-6D1658118B83}"/>
          </ac:spMkLst>
        </pc:spChg>
        <pc:spChg chg="add del mod">
          <ac:chgData name="Arpit Vats" userId="b5567c56118d5199" providerId="LiveId" clId="{8842D376-7311-452F-AF20-9F32A5CFB43A}" dt="2026-10-05T11:12:18.657" v="97" actId="113"/>
          <ac:spMkLst>
            <pc:docMk/>
            <pc:sldMk cId="0" sldId="267"/>
            <ac:spMk id="10" creationId="{5B587A19-3E66-1D0C-246C-847CB29B557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Avg. rentals</c:v>
                </c:pt>
              </c:strCache>
            </c:strRef>
          </c:tx>
          <c:spPr>
            <a:solidFill>
              <a:srgbClr val="1E76B6"/>
            </a:solidFill>
            <a:ln>
              <a:solidFill>
                <a:srgbClr val="1E76B6"/>
              </a:solidFill>
            </a:ln>
          </c:spPr>
          <c:invertIfNegative val="1"/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16.3</c:v>
                </c:pt>
                <c:pt idx="1">
                  <c:v>10.7</c:v>
                </c:pt>
                <c:pt idx="2">
                  <c:v>7.2</c:v>
                </c:pt>
                <c:pt idx="3">
                  <c:v>4.9000000000000004</c:v>
                </c:pt>
                <c:pt idx="4">
                  <c:v>2.2000000000000002</c:v>
                </c:pt>
                <c:pt idx="5">
                  <c:v>4.2</c:v>
                </c:pt>
                <c:pt idx="6">
                  <c:v>19.600000000000001</c:v>
                </c:pt>
                <c:pt idx="7">
                  <c:v>54.4</c:v>
                </c:pt>
                <c:pt idx="8">
                  <c:v>128.30000000000001</c:v>
                </c:pt>
                <c:pt idx="9">
                  <c:v>87.4</c:v>
                </c:pt>
                <c:pt idx="10">
                  <c:v>53.6</c:v>
                </c:pt>
                <c:pt idx="11">
                  <c:v>59.4</c:v>
                </c:pt>
                <c:pt idx="12">
                  <c:v>76.3</c:v>
                </c:pt>
                <c:pt idx="13">
                  <c:v>78.5</c:v>
                </c:pt>
                <c:pt idx="14">
                  <c:v>74.400000000000006</c:v>
                </c:pt>
                <c:pt idx="15">
                  <c:v>78</c:v>
                </c:pt>
                <c:pt idx="16">
                  <c:v>89.3</c:v>
                </c:pt>
                <c:pt idx="17">
                  <c:v>140.19999999999999</c:v>
                </c:pt>
                <c:pt idx="18">
                  <c:v>122.9</c:v>
                </c:pt>
                <c:pt idx="19">
                  <c:v>85.1</c:v>
                </c:pt>
                <c:pt idx="20">
                  <c:v>61.8</c:v>
                </c:pt>
                <c:pt idx="21">
                  <c:v>46.4</c:v>
                </c:pt>
                <c:pt idx="22">
                  <c:v>35.1</c:v>
                </c:pt>
                <c:pt idx="23">
                  <c:v>25.2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E76B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F0A-4143-B905-E02CABB5E7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rentals</c:v>
                </c:pt>
              </c:strCache>
            </c:strRef>
          </c:tx>
          <c:spPr>
            <a:solidFill>
              <a:srgbClr val="219691"/>
            </a:solidFill>
            <a:ln>
              <a:solidFill>
                <a:srgbClr val="219691"/>
              </a:solidFill>
            </a:ln>
          </c:spPr>
          <c:invertIfNegative val="1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56.7</c:v>
                </c:pt>
                <c:pt idx="1">
                  <c:v>66</c:v>
                </c:pt>
                <c:pt idx="2">
                  <c:v>61.4</c:v>
                </c:pt>
                <c:pt idx="3">
                  <c:v>67.7</c:v>
                </c:pt>
                <c:pt idx="4">
                  <c:v>65.900000000000006</c:v>
                </c:pt>
                <c:pt idx="5">
                  <c:v>46.7</c:v>
                </c:pt>
                <c:pt idx="6">
                  <c:v>49.5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1969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BCD-40EB-A4BE-88BF06C851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rentals</c:v>
                </c:pt>
              </c:strCache>
            </c:strRef>
          </c:tx>
          <c:spPr>
            <a:solidFill>
              <a:srgbClr val="1E76B6"/>
            </a:solidFill>
            <a:ln>
              <a:solidFill>
                <a:srgbClr val="1E76B6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Normal</c:v>
                </c:pt>
                <c:pt idx="1">
                  <c:v>Yellow Alert</c:v>
                </c:pt>
                <c:pt idx="2">
                  <c:v>Orange Alert</c:v>
                </c:pt>
                <c:pt idx="3">
                  <c:v>Red Alert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37373</c:v>
                </c:pt>
                <c:pt idx="1">
                  <c:v>18106</c:v>
                </c:pt>
                <c:pt idx="2">
                  <c:v>2789</c:v>
                </c:pt>
                <c:pt idx="3">
                  <c:v>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E76B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CE7-427E-8462-473A37BF2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rentals</c:v>
                </c:pt>
              </c:strCache>
            </c:strRef>
          </c:tx>
          <c:spPr>
            <a:ln>
              <a:solidFill>
                <a:srgbClr val="1E76B6"/>
              </a:solidFill>
            </a:ln>
          </c:spPr>
          <c:cat>
            <c:strRef>
              <c:f>Sheet1!$A$2:$A$46</c:f>
              <c:strCache>
                <c:ptCount val="45"/>
                <c:pt idx="0">
                  <c:v>01 Jan</c:v>
                </c:pt>
                <c:pt idx="1">
                  <c:v>02 Jan</c:v>
                </c:pt>
                <c:pt idx="2">
                  <c:v>03 Jan</c:v>
                </c:pt>
                <c:pt idx="3">
                  <c:v>04 Jan</c:v>
                </c:pt>
                <c:pt idx="4">
                  <c:v>05 Jan</c:v>
                </c:pt>
                <c:pt idx="5">
                  <c:v>06 Jan</c:v>
                </c:pt>
                <c:pt idx="6">
                  <c:v>07 Jan</c:v>
                </c:pt>
                <c:pt idx="7">
                  <c:v>08 Jan</c:v>
                </c:pt>
                <c:pt idx="8">
                  <c:v>09 Jan</c:v>
                </c:pt>
                <c:pt idx="9">
                  <c:v>10 Jan</c:v>
                </c:pt>
                <c:pt idx="10">
                  <c:v>11 Jan</c:v>
                </c:pt>
                <c:pt idx="11">
                  <c:v>12 Jan</c:v>
                </c:pt>
                <c:pt idx="12">
                  <c:v>13 Jan</c:v>
                </c:pt>
                <c:pt idx="13">
                  <c:v>14 Jan</c:v>
                </c:pt>
                <c:pt idx="14">
                  <c:v>15 Jan</c:v>
                </c:pt>
                <c:pt idx="15">
                  <c:v>16 Jan</c:v>
                </c:pt>
                <c:pt idx="16">
                  <c:v>17 Jan</c:v>
                </c:pt>
                <c:pt idx="17">
                  <c:v>18 Jan</c:v>
                </c:pt>
                <c:pt idx="18">
                  <c:v>19 Jan</c:v>
                </c:pt>
                <c:pt idx="19">
                  <c:v>20 Jan</c:v>
                </c:pt>
                <c:pt idx="20">
                  <c:v>21 Jan</c:v>
                </c:pt>
                <c:pt idx="21">
                  <c:v>22 Jan</c:v>
                </c:pt>
                <c:pt idx="22">
                  <c:v>23 Jan</c:v>
                </c:pt>
                <c:pt idx="23">
                  <c:v>24 Jan</c:v>
                </c:pt>
                <c:pt idx="24">
                  <c:v>25 Jan</c:v>
                </c:pt>
                <c:pt idx="25">
                  <c:v>26 Jan</c:v>
                </c:pt>
                <c:pt idx="26">
                  <c:v>27 Jan</c:v>
                </c:pt>
                <c:pt idx="27">
                  <c:v>28 Jan</c:v>
                </c:pt>
                <c:pt idx="28">
                  <c:v>29 Jan</c:v>
                </c:pt>
                <c:pt idx="29">
                  <c:v>30 Jan</c:v>
                </c:pt>
                <c:pt idx="30">
                  <c:v>31 Jan</c:v>
                </c:pt>
                <c:pt idx="31">
                  <c:v>01 Feb</c:v>
                </c:pt>
                <c:pt idx="32">
                  <c:v>02 Feb</c:v>
                </c:pt>
                <c:pt idx="33">
                  <c:v>03 Feb</c:v>
                </c:pt>
                <c:pt idx="34">
                  <c:v>04 Feb</c:v>
                </c:pt>
                <c:pt idx="35">
                  <c:v>05 Feb</c:v>
                </c:pt>
                <c:pt idx="36">
                  <c:v>06 Feb</c:v>
                </c:pt>
                <c:pt idx="37">
                  <c:v>07 Feb</c:v>
                </c:pt>
                <c:pt idx="38">
                  <c:v>08 Feb</c:v>
                </c:pt>
                <c:pt idx="39">
                  <c:v>09 Feb</c:v>
                </c:pt>
                <c:pt idx="40">
                  <c:v>10 Feb</c:v>
                </c:pt>
                <c:pt idx="41">
                  <c:v>11 Feb</c:v>
                </c:pt>
                <c:pt idx="42">
                  <c:v>12 Feb</c:v>
                </c:pt>
                <c:pt idx="43">
                  <c:v>13 Feb</c:v>
                </c:pt>
                <c:pt idx="44">
                  <c:v>14 Feb</c:v>
                </c:pt>
              </c:strCache>
            </c:str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83-4A81-A208-CAD2FC334B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Rental count</c:v>
                </c:pt>
              </c:strCache>
            </c:strRef>
          </c:tx>
          <c:spPr>
            <a:solidFill>
              <a:srgbClr val="C04646"/>
            </a:solidFill>
            <a:ln>
              <a:solidFill>
                <a:srgbClr val="C04646"/>
              </a:solidFill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20 Jan
8:00</c:v>
                </c:pt>
                <c:pt idx="1">
                  <c:v>08 Feb
8:00</c:v>
                </c:pt>
                <c:pt idx="2">
                  <c:v>25 Jan
8:00</c:v>
                </c:pt>
                <c:pt idx="3">
                  <c:v>07 Feb
8:00</c:v>
                </c:pt>
                <c:pt idx="4">
                  <c:v>25 Jan
18:00</c:v>
                </c:pt>
                <c:pt idx="5">
                  <c:v>25 Jan
17:00</c:v>
                </c:pt>
                <c:pt idx="6">
                  <c:v>04 Feb
8:00</c:v>
                </c:pt>
                <c:pt idx="7">
                  <c:v>06 Jan
8:00</c:v>
                </c:pt>
                <c:pt idx="8">
                  <c:v>11 Jan
8:00</c:v>
                </c:pt>
                <c:pt idx="9">
                  <c:v>21 Jan
8:00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249</c:v>
                </c:pt>
                <c:pt idx="1">
                  <c:v>243</c:v>
                </c:pt>
                <c:pt idx="2">
                  <c:v>238</c:v>
                </c:pt>
                <c:pt idx="3">
                  <c:v>230</c:v>
                </c:pt>
                <c:pt idx="4">
                  <c:v>225</c:v>
                </c:pt>
                <c:pt idx="5">
                  <c:v>222</c:v>
                </c:pt>
                <c:pt idx="6">
                  <c:v>220</c:v>
                </c:pt>
                <c:pt idx="7">
                  <c:v>219</c:v>
                </c:pt>
                <c:pt idx="8">
                  <c:v>217</c:v>
                </c:pt>
                <c:pt idx="9">
                  <c:v>217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C0464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FF0-47A2-ADF7-E10F90D8F0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ln>
              <a:solidFill>
                <a:srgbClr val="1E76B6"/>
              </a:solidFill>
            </a:ln>
          </c:spPr>
          <c:marker>
            <c:symbol val="none"/>
          </c:marker>
          <c:cat>
            <c:strRef>
              <c:f>Sheet1!$A$2:$A$91</c:f>
              <c:strCache>
                <c:ptCount val="90"/>
                <c:pt idx="0">
                  <c:v>01 Jan</c:v>
                </c:pt>
                <c:pt idx="1">
                  <c:v>02 Jan</c:v>
                </c:pt>
                <c:pt idx="2">
                  <c:v>03 Jan</c:v>
                </c:pt>
                <c:pt idx="3">
                  <c:v>04 Jan</c:v>
                </c:pt>
                <c:pt idx="4">
                  <c:v>05 Jan</c:v>
                </c:pt>
                <c:pt idx="5">
                  <c:v>06 Jan</c:v>
                </c:pt>
                <c:pt idx="6">
                  <c:v>07 Jan</c:v>
                </c:pt>
                <c:pt idx="7">
                  <c:v>08 Jan</c:v>
                </c:pt>
                <c:pt idx="8">
                  <c:v>09 Jan</c:v>
                </c:pt>
                <c:pt idx="9">
                  <c:v>10 Jan</c:v>
                </c:pt>
                <c:pt idx="10">
                  <c:v>11 Jan</c:v>
                </c:pt>
                <c:pt idx="11">
                  <c:v>12 Jan</c:v>
                </c:pt>
                <c:pt idx="12">
                  <c:v>13 Jan</c:v>
                </c:pt>
                <c:pt idx="13">
                  <c:v>14 Jan</c:v>
                </c:pt>
                <c:pt idx="14">
                  <c:v>15 Jan</c:v>
                </c:pt>
                <c:pt idx="15">
                  <c:v>16 Jan</c:v>
                </c:pt>
                <c:pt idx="16">
                  <c:v>17 Jan</c:v>
                </c:pt>
                <c:pt idx="17">
                  <c:v>18 Jan</c:v>
                </c:pt>
                <c:pt idx="18">
                  <c:v>19 Jan</c:v>
                </c:pt>
                <c:pt idx="19">
                  <c:v>20 Jan</c:v>
                </c:pt>
                <c:pt idx="20">
                  <c:v>21 Jan</c:v>
                </c:pt>
                <c:pt idx="21">
                  <c:v>22 Jan</c:v>
                </c:pt>
                <c:pt idx="22">
                  <c:v>23 Jan</c:v>
                </c:pt>
                <c:pt idx="23">
                  <c:v>24 Jan</c:v>
                </c:pt>
                <c:pt idx="24">
                  <c:v>25 Jan</c:v>
                </c:pt>
                <c:pt idx="25">
                  <c:v>26 Jan</c:v>
                </c:pt>
                <c:pt idx="26">
                  <c:v>27 Jan</c:v>
                </c:pt>
                <c:pt idx="27">
                  <c:v>28 Jan</c:v>
                </c:pt>
                <c:pt idx="28">
                  <c:v>29 Jan</c:v>
                </c:pt>
                <c:pt idx="29">
                  <c:v>30 Jan</c:v>
                </c:pt>
                <c:pt idx="30">
                  <c:v>31 Jan</c:v>
                </c:pt>
                <c:pt idx="31">
                  <c:v>01 Feb</c:v>
                </c:pt>
                <c:pt idx="32">
                  <c:v>02 Feb</c:v>
                </c:pt>
                <c:pt idx="33">
                  <c:v>03 Feb</c:v>
                </c:pt>
                <c:pt idx="34">
                  <c:v>04 Feb</c:v>
                </c:pt>
                <c:pt idx="35">
                  <c:v>05 Feb</c:v>
                </c:pt>
                <c:pt idx="36">
                  <c:v>06 Feb</c:v>
                </c:pt>
                <c:pt idx="37">
                  <c:v>07 Feb</c:v>
                </c:pt>
                <c:pt idx="38">
                  <c:v>08 Feb</c:v>
                </c:pt>
                <c:pt idx="39">
                  <c:v>09 Feb</c:v>
                </c:pt>
                <c:pt idx="40">
                  <c:v>10 Feb</c:v>
                </c:pt>
                <c:pt idx="41">
                  <c:v>11 Feb</c:v>
                </c:pt>
                <c:pt idx="42">
                  <c:v>12 Feb</c:v>
                </c:pt>
                <c:pt idx="43">
                  <c:v>13 Feb</c:v>
                </c:pt>
                <c:pt idx="44">
                  <c:v>14 Feb</c:v>
                </c:pt>
                <c:pt idx="45">
                  <c:v>15 Feb</c:v>
                </c:pt>
                <c:pt idx="46">
                  <c:v>16 Feb</c:v>
                </c:pt>
                <c:pt idx="47">
                  <c:v>17 Feb</c:v>
                </c:pt>
                <c:pt idx="48">
                  <c:v>18 Feb</c:v>
                </c:pt>
                <c:pt idx="49">
                  <c:v>19 Feb</c:v>
                </c:pt>
                <c:pt idx="50">
                  <c:v>20 Feb</c:v>
                </c:pt>
                <c:pt idx="51">
                  <c:v>21 Feb</c:v>
                </c:pt>
                <c:pt idx="52">
                  <c:v>22 Feb</c:v>
                </c:pt>
                <c:pt idx="53">
                  <c:v>23 Feb</c:v>
                </c:pt>
                <c:pt idx="54">
                  <c:v>24 Feb</c:v>
                </c:pt>
                <c:pt idx="55">
                  <c:v>25 Feb</c:v>
                </c:pt>
                <c:pt idx="56">
                  <c:v>26 Feb</c:v>
                </c:pt>
                <c:pt idx="57">
                  <c:v>27 Feb</c:v>
                </c:pt>
                <c:pt idx="58">
                  <c:v>28 Feb</c:v>
                </c:pt>
                <c:pt idx="59">
                  <c:v>01 Mar</c:v>
                </c:pt>
                <c:pt idx="60">
                  <c:v>02 Mar</c:v>
                </c:pt>
                <c:pt idx="61">
                  <c:v>03 Mar</c:v>
                </c:pt>
                <c:pt idx="62">
                  <c:v>04 Mar</c:v>
                </c:pt>
                <c:pt idx="63">
                  <c:v>05 Mar</c:v>
                </c:pt>
                <c:pt idx="64">
                  <c:v>06 Mar</c:v>
                </c:pt>
                <c:pt idx="65">
                  <c:v>07 Mar</c:v>
                </c:pt>
                <c:pt idx="66">
                  <c:v>08 Mar</c:v>
                </c:pt>
                <c:pt idx="67">
                  <c:v>09 Mar</c:v>
                </c:pt>
                <c:pt idx="68">
                  <c:v>10 Mar</c:v>
                </c:pt>
                <c:pt idx="69">
                  <c:v>11 Mar</c:v>
                </c:pt>
                <c:pt idx="70">
                  <c:v>12 Mar</c:v>
                </c:pt>
                <c:pt idx="71">
                  <c:v>13 Mar</c:v>
                </c:pt>
                <c:pt idx="72">
                  <c:v>14 Mar</c:v>
                </c:pt>
                <c:pt idx="73">
                  <c:v>15 Mar</c:v>
                </c:pt>
                <c:pt idx="74">
                  <c:v>16 Mar</c:v>
                </c:pt>
                <c:pt idx="75">
                  <c:v>17 Mar</c:v>
                </c:pt>
                <c:pt idx="76">
                  <c:v>18 Mar</c:v>
                </c:pt>
                <c:pt idx="77">
                  <c:v>19 Mar</c:v>
                </c:pt>
                <c:pt idx="78">
                  <c:v>20 Mar</c:v>
                </c:pt>
                <c:pt idx="79">
                  <c:v>21 Mar</c:v>
                </c:pt>
                <c:pt idx="80">
                  <c:v>22 Mar</c:v>
                </c:pt>
                <c:pt idx="81">
                  <c:v>23 Mar</c:v>
                </c:pt>
                <c:pt idx="82">
                  <c:v>24 Mar</c:v>
                </c:pt>
                <c:pt idx="83">
                  <c:v>25 Mar</c:v>
                </c:pt>
                <c:pt idx="84">
                  <c:v>26 Mar</c:v>
                </c:pt>
                <c:pt idx="85">
                  <c:v>27 Mar</c:v>
                </c:pt>
                <c:pt idx="86">
                  <c:v>28 Mar</c:v>
                </c:pt>
                <c:pt idx="87">
                  <c:v>29 Mar</c:v>
                </c:pt>
                <c:pt idx="88">
                  <c:v>30 Mar</c:v>
                </c:pt>
                <c:pt idx="89">
                  <c:v>31 Mar</c:v>
                </c:pt>
              </c:strCache>
            </c:strRef>
          </c:cat>
          <c:val>
            <c:numRef>
              <c:f>Sheet1!$B$2:$B$91</c:f>
              <c:numCache>
                <c:formatCode>General</c:formatCode>
                <c:ptCount val="90"/>
                <c:pt idx="0">
                  <c:v>41.041666666666664</c:v>
                </c:pt>
                <c:pt idx="1">
                  <c:v>34.826086956521742</c:v>
                </c:pt>
                <c:pt idx="2">
                  <c:v>61.31818181818182</c:v>
                </c:pt>
                <c:pt idx="3">
                  <c:v>67.913043478260875</c:v>
                </c:pt>
                <c:pt idx="4">
                  <c:v>69.565217391304344</c:v>
                </c:pt>
                <c:pt idx="5">
                  <c:v>69.826086956521735</c:v>
                </c:pt>
                <c:pt idx="6">
                  <c:v>65.652173913043484</c:v>
                </c:pt>
                <c:pt idx="7">
                  <c:v>39.958333333333336</c:v>
                </c:pt>
                <c:pt idx="8">
                  <c:v>34.25</c:v>
                </c:pt>
                <c:pt idx="9">
                  <c:v>55.041666666666664</c:v>
                </c:pt>
                <c:pt idx="10">
                  <c:v>57.409090909090907</c:v>
                </c:pt>
                <c:pt idx="11">
                  <c:v>52.81818181818182</c:v>
                </c:pt>
                <c:pt idx="12">
                  <c:v>58.583333333333336</c:v>
                </c:pt>
                <c:pt idx="13">
                  <c:v>61.782608695652172</c:v>
                </c:pt>
                <c:pt idx="14">
                  <c:v>52</c:v>
                </c:pt>
                <c:pt idx="15">
                  <c:v>50.166666666666664</c:v>
                </c:pt>
                <c:pt idx="16">
                  <c:v>41.666666666666664</c:v>
                </c:pt>
                <c:pt idx="17">
                  <c:v>56.916666666666664</c:v>
                </c:pt>
                <c:pt idx="18">
                  <c:v>71.739130434782609</c:v>
                </c:pt>
                <c:pt idx="19">
                  <c:v>80.291666666666671</c:v>
                </c:pt>
                <c:pt idx="20">
                  <c:v>64.291666666666671</c:v>
                </c:pt>
                <c:pt idx="21">
                  <c:v>42.652173913043477</c:v>
                </c:pt>
                <c:pt idx="22">
                  <c:v>42.869565217391305</c:v>
                </c:pt>
                <c:pt idx="23">
                  <c:v>61.565217391304351</c:v>
                </c:pt>
                <c:pt idx="24">
                  <c:v>86.304347826086953</c:v>
                </c:pt>
                <c:pt idx="25">
                  <c:v>31.625</c:v>
                </c:pt>
                <c:pt idx="26">
                  <c:v>53.875</c:v>
                </c:pt>
                <c:pt idx="27">
                  <c:v>50.739130434782609</c:v>
                </c:pt>
                <c:pt idx="28">
                  <c:v>47.739130434782609</c:v>
                </c:pt>
                <c:pt idx="29">
                  <c:v>47.652173913043477</c:v>
                </c:pt>
                <c:pt idx="30">
                  <c:v>62.541666666666664</c:v>
                </c:pt>
                <c:pt idx="31">
                  <c:v>59.130434782608695</c:v>
                </c:pt>
                <c:pt idx="32">
                  <c:v>63.583333333333336</c:v>
                </c:pt>
                <c:pt idx="33">
                  <c:v>67.391304347826093</c:v>
                </c:pt>
                <c:pt idx="34">
                  <c:v>74.260869565217391</c:v>
                </c:pt>
                <c:pt idx="35">
                  <c:v>41.875</c:v>
                </c:pt>
                <c:pt idx="36">
                  <c:v>67.625</c:v>
                </c:pt>
                <c:pt idx="37">
                  <c:v>71.333333333333329</c:v>
                </c:pt>
                <c:pt idx="38">
                  <c:v>63.75</c:v>
                </c:pt>
                <c:pt idx="39">
                  <c:v>69.782608695652172</c:v>
                </c:pt>
                <c:pt idx="40">
                  <c:v>66.869565217391298</c:v>
                </c:pt>
                <c:pt idx="41">
                  <c:v>79.36363636363636</c:v>
                </c:pt>
                <c:pt idx="42">
                  <c:v>61.333333333333336</c:v>
                </c:pt>
                <c:pt idx="43">
                  <c:v>69.086956521739125</c:v>
                </c:pt>
                <c:pt idx="44">
                  <c:v>18.875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50-442A-928D-F3D7328746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ln>
              <a:solidFill>
                <a:srgbClr val="30915E"/>
              </a:solidFill>
            </a:ln>
          </c:spPr>
          <c:marker>
            <c:symbol val="none"/>
          </c:marker>
          <c:cat>
            <c:strRef>
              <c:f>Sheet1!$A$2:$A$91</c:f>
              <c:strCache>
                <c:ptCount val="90"/>
                <c:pt idx="0">
                  <c:v>01 Jan</c:v>
                </c:pt>
                <c:pt idx="1">
                  <c:v>02 Jan</c:v>
                </c:pt>
                <c:pt idx="2">
                  <c:v>03 Jan</c:v>
                </c:pt>
                <c:pt idx="3">
                  <c:v>04 Jan</c:v>
                </c:pt>
                <c:pt idx="4">
                  <c:v>05 Jan</c:v>
                </c:pt>
                <c:pt idx="5">
                  <c:v>06 Jan</c:v>
                </c:pt>
                <c:pt idx="6">
                  <c:v>07 Jan</c:v>
                </c:pt>
                <c:pt idx="7">
                  <c:v>08 Jan</c:v>
                </c:pt>
                <c:pt idx="8">
                  <c:v>09 Jan</c:v>
                </c:pt>
                <c:pt idx="9">
                  <c:v>10 Jan</c:v>
                </c:pt>
                <c:pt idx="10">
                  <c:v>11 Jan</c:v>
                </c:pt>
                <c:pt idx="11">
                  <c:v>12 Jan</c:v>
                </c:pt>
                <c:pt idx="12">
                  <c:v>13 Jan</c:v>
                </c:pt>
                <c:pt idx="13">
                  <c:v>14 Jan</c:v>
                </c:pt>
                <c:pt idx="14">
                  <c:v>15 Jan</c:v>
                </c:pt>
                <c:pt idx="15">
                  <c:v>16 Jan</c:v>
                </c:pt>
                <c:pt idx="16">
                  <c:v>17 Jan</c:v>
                </c:pt>
                <c:pt idx="17">
                  <c:v>18 Jan</c:v>
                </c:pt>
                <c:pt idx="18">
                  <c:v>19 Jan</c:v>
                </c:pt>
                <c:pt idx="19">
                  <c:v>20 Jan</c:v>
                </c:pt>
                <c:pt idx="20">
                  <c:v>21 Jan</c:v>
                </c:pt>
                <c:pt idx="21">
                  <c:v>22 Jan</c:v>
                </c:pt>
                <c:pt idx="22">
                  <c:v>23 Jan</c:v>
                </c:pt>
                <c:pt idx="23">
                  <c:v>24 Jan</c:v>
                </c:pt>
                <c:pt idx="24">
                  <c:v>25 Jan</c:v>
                </c:pt>
                <c:pt idx="25">
                  <c:v>26 Jan</c:v>
                </c:pt>
                <c:pt idx="26">
                  <c:v>27 Jan</c:v>
                </c:pt>
                <c:pt idx="27">
                  <c:v>28 Jan</c:v>
                </c:pt>
                <c:pt idx="28">
                  <c:v>29 Jan</c:v>
                </c:pt>
                <c:pt idx="29">
                  <c:v>30 Jan</c:v>
                </c:pt>
                <c:pt idx="30">
                  <c:v>31 Jan</c:v>
                </c:pt>
                <c:pt idx="31">
                  <c:v>01 Feb</c:v>
                </c:pt>
                <c:pt idx="32">
                  <c:v>02 Feb</c:v>
                </c:pt>
                <c:pt idx="33">
                  <c:v>03 Feb</c:v>
                </c:pt>
                <c:pt idx="34">
                  <c:v>04 Feb</c:v>
                </c:pt>
                <c:pt idx="35">
                  <c:v>05 Feb</c:v>
                </c:pt>
                <c:pt idx="36">
                  <c:v>06 Feb</c:v>
                </c:pt>
                <c:pt idx="37">
                  <c:v>07 Feb</c:v>
                </c:pt>
                <c:pt idx="38">
                  <c:v>08 Feb</c:v>
                </c:pt>
                <c:pt idx="39">
                  <c:v>09 Feb</c:v>
                </c:pt>
                <c:pt idx="40">
                  <c:v>10 Feb</c:v>
                </c:pt>
                <c:pt idx="41">
                  <c:v>11 Feb</c:v>
                </c:pt>
                <c:pt idx="42">
                  <c:v>12 Feb</c:v>
                </c:pt>
                <c:pt idx="43">
                  <c:v>13 Feb</c:v>
                </c:pt>
                <c:pt idx="44">
                  <c:v>14 Feb</c:v>
                </c:pt>
                <c:pt idx="45">
                  <c:v>15 Feb</c:v>
                </c:pt>
                <c:pt idx="46">
                  <c:v>16 Feb</c:v>
                </c:pt>
                <c:pt idx="47">
                  <c:v>17 Feb</c:v>
                </c:pt>
                <c:pt idx="48">
                  <c:v>18 Feb</c:v>
                </c:pt>
                <c:pt idx="49">
                  <c:v>19 Feb</c:v>
                </c:pt>
                <c:pt idx="50">
                  <c:v>20 Feb</c:v>
                </c:pt>
                <c:pt idx="51">
                  <c:v>21 Feb</c:v>
                </c:pt>
                <c:pt idx="52">
                  <c:v>22 Feb</c:v>
                </c:pt>
                <c:pt idx="53">
                  <c:v>23 Feb</c:v>
                </c:pt>
                <c:pt idx="54">
                  <c:v>24 Feb</c:v>
                </c:pt>
                <c:pt idx="55">
                  <c:v>25 Feb</c:v>
                </c:pt>
                <c:pt idx="56">
                  <c:v>26 Feb</c:v>
                </c:pt>
                <c:pt idx="57">
                  <c:v>27 Feb</c:v>
                </c:pt>
                <c:pt idx="58">
                  <c:v>28 Feb</c:v>
                </c:pt>
                <c:pt idx="59">
                  <c:v>01 Mar</c:v>
                </c:pt>
                <c:pt idx="60">
                  <c:v>02 Mar</c:v>
                </c:pt>
                <c:pt idx="61">
                  <c:v>03 Mar</c:v>
                </c:pt>
                <c:pt idx="62">
                  <c:v>04 Mar</c:v>
                </c:pt>
                <c:pt idx="63">
                  <c:v>05 Mar</c:v>
                </c:pt>
                <c:pt idx="64">
                  <c:v>06 Mar</c:v>
                </c:pt>
                <c:pt idx="65">
                  <c:v>07 Mar</c:v>
                </c:pt>
                <c:pt idx="66">
                  <c:v>08 Mar</c:v>
                </c:pt>
                <c:pt idx="67">
                  <c:v>09 Mar</c:v>
                </c:pt>
                <c:pt idx="68">
                  <c:v>10 Mar</c:v>
                </c:pt>
                <c:pt idx="69">
                  <c:v>11 Mar</c:v>
                </c:pt>
                <c:pt idx="70">
                  <c:v>12 Mar</c:v>
                </c:pt>
                <c:pt idx="71">
                  <c:v>13 Mar</c:v>
                </c:pt>
                <c:pt idx="72">
                  <c:v>14 Mar</c:v>
                </c:pt>
                <c:pt idx="73">
                  <c:v>15 Mar</c:v>
                </c:pt>
                <c:pt idx="74">
                  <c:v>16 Mar</c:v>
                </c:pt>
                <c:pt idx="75">
                  <c:v>17 Mar</c:v>
                </c:pt>
                <c:pt idx="76">
                  <c:v>18 Mar</c:v>
                </c:pt>
                <c:pt idx="77">
                  <c:v>19 Mar</c:v>
                </c:pt>
                <c:pt idx="78">
                  <c:v>20 Mar</c:v>
                </c:pt>
                <c:pt idx="79">
                  <c:v>21 Mar</c:v>
                </c:pt>
                <c:pt idx="80">
                  <c:v>22 Mar</c:v>
                </c:pt>
                <c:pt idx="81">
                  <c:v>23 Mar</c:v>
                </c:pt>
                <c:pt idx="82">
                  <c:v>24 Mar</c:v>
                </c:pt>
                <c:pt idx="83">
                  <c:v>25 Mar</c:v>
                </c:pt>
                <c:pt idx="84">
                  <c:v>26 Mar</c:v>
                </c:pt>
                <c:pt idx="85">
                  <c:v>27 Mar</c:v>
                </c:pt>
                <c:pt idx="86">
                  <c:v>28 Mar</c:v>
                </c:pt>
                <c:pt idx="87">
                  <c:v>29 Mar</c:v>
                </c:pt>
                <c:pt idx="88">
                  <c:v>30 Mar</c:v>
                </c:pt>
                <c:pt idx="89">
                  <c:v>31 Mar</c:v>
                </c:pt>
              </c:strCache>
            </c:strRef>
          </c:cat>
          <c:val>
            <c:numRef>
              <c:f>Sheet1!$C$2:$C$91</c:f>
              <c:numCache>
                <c:formatCode>General</c:formatCode>
                <c:ptCount val="90"/>
                <c:pt idx="44">
                  <c:v>18.875</c:v>
                </c:pt>
                <c:pt idx="45">
                  <c:v>61.270134143024279</c:v>
                </c:pt>
                <c:pt idx="46">
                  <c:v>61.525827765725516</c:v>
                </c:pt>
                <c:pt idx="47">
                  <c:v>61.781521388426746</c:v>
                </c:pt>
                <c:pt idx="48">
                  <c:v>62.037215011127984</c:v>
                </c:pt>
                <c:pt idx="49">
                  <c:v>62.292908633829221</c:v>
                </c:pt>
                <c:pt idx="50">
                  <c:v>62.548602256530458</c:v>
                </c:pt>
                <c:pt idx="51">
                  <c:v>62.804295879231688</c:v>
                </c:pt>
                <c:pt idx="52">
                  <c:v>63.059989501932925</c:v>
                </c:pt>
                <c:pt idx="53">
                  <c:v>63.315683124634162</c:v>
                </c:pt>
                <c:pt idx="54">
                  <c:v>63.5713767473354</c:v>
                </c:pt>
                <c:pt idx="55">
                  <c:v>63.827070370036637</c:v>
                </c:pt>
                <c:pt idx="56">
                  <c:v>64.082763992737867</c:v>
                </c:pt>
                <c:pt idx="57">
                  <c:v>64.338457615439111</c:v>
                </c:pt>
                <c:pt idx="58">
                  <c:v>64.594151238140341</c:v>
                </c:pt>
                <c:pt idx="59">
                  <c:v>64.849844860841571</c:v>
                </c:pt>
                <c:pt idx="60">
                  <c:v>65.105538483542816</c:v>
                </c:pt>
                <c:pt idx="61">
                  <c:v>65.361232106244046</c:v>
                </c:pt>
                <c:pt idx="62">
                  <c:v>65.616925728945276</c:v>
                </c:pt>
                <c:pt idx="63">
                  <c:v>65.87261935164652</c:v>
                </c:pt>
                <c:pt idx="64">
                  <c:v>66.12831297434775</c:v>
                </c:pt>
                <c:pt idx="65">
                  <c:v>66.384006597048995</c:v>
                </c:pt>
                <c:pt idx="66">
                  <c:v>66.639700219750225</c:v>
                </c:pt>
                <c:pt idx="67">
                  <c:v>66.895393842451455</c:v>
                </c:pt>
                <c:pt idx="68">
                  <c:v>67.151087465152699</c:v>
                </c:pt>
                <c:pt idx="69">
                  <c:v>67.406781087853929</c:v>
                </c:pt>
                <c:pt idx="70">
                  <c:v>67.662474710555173</c:v>
                </c:pt>
                <c:pt idx="71">
                  <c:v>67.918168333256403</c:v>
                </c:pt>
                <c:pt idx="72">
                  <c:v>68.173861955957634</c:v>
                </c:pt>
                <c:pt idx="73">
                  <c:v>68.429555578658878</c:v>
                </c:pt>
                <c:pt idx="74">
                  <c:v>68.685249201360108</c:v>
                </c:pt>
                <c:pt idx="75">
                  <c:v>68.940942824061352</c:v>
                </c:pt>
                <c:pt idx="76">
                  <c:v>69.196636446762582</c:v>
                </c:pt>
                <c:pt idx="77">
                  <c:v>69.452330069463812</c:v>
                </c:pt>
                <c:pt idx="78">
                  <c:v>69.708023692165057</c:v>
                </c:pt>
                <c:pt idx="79">
                  <c:v>69.963717314866287</c:v>
                </c:pt>
                <c:pt idx="80">
                  <c:v>70.219410937567517</c:v>
                </c:pt>
                <c:pt idx="81">
                  <c:v>70.475104560268761</c:v>
                </c:pt>
                <c:pt idx="82">
                  <c:v>70.730798182969991</c:v>
                </c:pt>
                <c:pt idx="83">
                  <c:v>70.986491805671236</c:v>
                </c:pt>
                <c:pt idx="84">
                  <c:v>71.242185428372466</c:v>
                </c:pt>
                <c:pt idx="85">
                  <c:v>71.497879051073696</c:v>
                </c:pt>
                <c:pt idx="86">
                  <c:v>71.75357267377494</c:v>
                </c:pt>
                <c:pt idx="87">
                  <c:v>72.00926629647617</c:v>
                </c:pt>
                <c:pt idx="88">
                  <c:v>72.264959919177414</c:v>
                </c:pt>
                <c:pt idx="89">
                  <c:v>72.520653541878644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50-442A-928D-F3D732874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85800"/>
            <a:ext cx="109728" cy="5166360"/>
          </a:xfrm>
          <a:prstGeom prst="rect">
            <a:avLst/>
          </a:prstGeom>
          <a:solidFill>
            <a:srgbClr val="28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051560"/>
            <a:ext cx="9875520" cy="731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BIKE RENTALS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9875520" cy="731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3000" b="0">
                <a:solidFill>
                  <a:srgbClr val="BCD7E9"/>
                </a:solidFill>
                <a:latin typeface="Aptos"/>
              </a:defRPr>
            </a:pPr>
            <a:r>
              <a:t>Dashboard &amp; 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8961120" cy="10058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A professional walkthrough of the workbook structure, KPIs, visual analytics, anomaly detection and forecasting.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166360"/>
            <a:ext cx="50292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0">
                <a:solidFill>
                  <a:srgbClr val="B1C2D3"/>
                </a:solidFill>
                <a:latin typeface="Aptos"/>
              </a:defRPr>
            </a:pPr>
            <a:r>
              <a:t>Source workbook: Final_DataSet.xlsx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5166360"/>
            <a:ext cx="2834640" cy="307777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defRPr sz="1100" b="0">
                <a:solidFill>
                  <a:srgbClr val="B1C2D3"/>
                </a:solidFill>
                <a:latin typeface="Aptos"/>
              </a:defRPr>
            </a:pPr>
            <a:r>
              <a:rPr lang="en-IN" sz="1400" b="1" dirty="0"/>
              <a:t>Project: NEXTHIKES IT SOLUTIONS</a:t>
            </a:r>
            <a:endParaRPr sz="1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  <a:latin typeface="Aptos"/>
              </a:defRPr>
            </a:pPr>
            <a:r>
              <a:t>What the workbook tells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1234440"/>
          </a:xfrm>
          <a:prstGeom prst="rect">
            <a:avLst/>
          </a:prstGeom>
          <a:solidFill>
            <a:srgbClr val="1E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16151"/>
            <a:ext cx="21945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697787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219456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2400" b="1">
                <a:solidFill>
                  <a:srgbClr val="142B48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219456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Hourly 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105156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79" y="1051560"/>
            <a:ext cx="73152" cy="1234440"/>
          </a:xfrm>
          <a:prstGeom prst="rect">
            <a:avLst/>
          </a:prstGeom>
          <a:solidFill>
            <a:srgbClr val="28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216151"/>
            <a:ext cx="21945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697787"/>
                </a:solidFill>
                <a:latin typeface="Aptos"/>
              </a:defRPr>
            </a:pPr>
            <a:r>
              <a:t>Total rentals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508760"/>
            <a:ext cx="219456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2400" b="1">
                <a:solidFill>
                  <a:srgbClr val="142B48"/>
                </a:solidFill>
                <a:latin typeface="Aptos"/>
              </a:defRPr>
            </a:pPr>
            <a:r>
              <a:t>58,304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938528"/>
            <a:ext cx="219456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Across the analyzed period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05156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051560"/>
            <a:ext cx="73152" cy="123444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216151"/>
            <a:ext cx="21945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697787"/>
                </a:solidFill>
                <a:latin typeface="Aptos"/>
              </a:defRPr>
            </a:pPr>
            <a:r>
              <a:t>Registered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508760"/>
            <a:ext cx="219456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2400" b="1">
                <a:solidFill>
                  <a:srgbClr val="142B48"/>
                </a:solidFill>
                <a:latin typeface="Aptos"/>
              </a:defRPr>
            </a:pPr>
            <a:r>
              <a:t>53,383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38528"/>
            <a:ext cx="219456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91.6% of all rentals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19" y="105156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1119" y="1051560"/>
            <a:ext cx="73152" cy="123444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3999" y="1216151"/>
            <a:ext cx="21945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697787"/>
                </a:solidFill>
                <a:latin typeface="Aptos"/>
              </a:defRPr>
            </a:pPr>
            <a:r>
              <a:t>Casual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1508760"/>
            <a:ext cx="219456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2400" b="1">
                <a:solidFill>
                  <a:srgbClr val="142B48"/>
                </a:solidFill>
                <a:latin typeface="Aptos"/>
              </a:defRPr>
            </a:pPr>
            <a:r>
              <a:t>4,921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9" y="1938528"/>
            <a:ext cx="219456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8.4% of all rentals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606040"/>
            <a:ext cx="53035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400" b="1">
                <a:solidFill>
                  <a:srgbClr val="142B48"/>
                </a:solidFill>
                <a:latin typeface="Aptos"/>
              </a:defRPr>
            </a:pPr>
            <a:r>
              <a:t>Dataset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97180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• 1,000 hourly records from 1–28 January 2011.</a:t>
            </a:r>
          </a:p>
          <a:p>
            <a:pPr>
              <a:spcAft>
                <a:spcPts val="8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• Core variables combine time, weekday, holiday, weather and customer segments.</a:t>
            </a:r>
          </a:p>
          <a:p>
            <a:pPr>
              <a:spcAft>
                <a:spcPts val="800"/>
              </a:spcAft>
              <a:defRPr sz="1400">
                <a:solidFill>
                  <a:srgbClr val="222B36"/>
                </a:solidFill>
                <a:latin typeface="Aptos"/>
              </a:defRPr>
            </a:pPr>
            <a:r>
              <a:t>• The workbook extends analysis with pivot charts, advanced visualisation, outlier checks and a forecast sheet.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606040"/>
            <a:ext cx="53035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400" b="1">
                <a:solidFill>
                  <a:srgbClr val="142B48"/>
                </a:solidFill>
                <a:latin typeface="Aptos"/>
              </a:defRPr>
            </a:pPr>
            <a:r>
              <a:t>Headline insight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2971800"/>
            <a:ext cx="5394960" cy="2468880"/>
          </a:xfrm>
          <a:prstGeom prst="roundRect">
            <a:avLst/>
          </a:prstGeom>
          <a:solidFill>
            <a:srgbClr val="E4F1F9"/>
          </a:solidFill>
          <a:ln>
            <a:solidFill>
              <a:srgbClr val="C3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291840"/>
            <a:ext cx="4754880" cy="822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2100" b="1">
                <a:solidFill>
                  <a:srgbClr val="142B48"/>
                </a:solidFill>
                <a:latin typeface="Aptos"/>
              </a:defRPr>
            </a:pPr>
            <a:r>
              <a:t>Demand is highly time-driven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160520"/>
            <a:ext cx="4754880" cy="822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300" b="0">
                <a:solidFill>
                  <a:srgbClr val="222B36"/>
                </a:solidFill>
                <a:latin typeface="Aptos"/>
              </a:defRPr>
            </a:pPr>
            <a:r>
              <a:t>Average hourly rentals peak around the morning and evening commute windows, while weekends and adverse weather generally reduce demand.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47104"/>
            <a:ext cx="11183112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787"/>
                </a:solidFill>
                <a:latin typeface="Aptos"/>
              </a:defRPr>
            </a:pPr>
            <a:r>
              <a:rPr dirty="0"/>
              <a:t>Bike Rentals Analytics | Dashboard &amp; Dataset Overview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6539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787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  <a:latin typeface="Aptos"/>
              </a:defRPr>
            </a:pPr>
            <a:r>
              <a:t>KPI + operational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1143000"/>
          </a:xfrm>
          <a:prstGeom prst="rect">
            <a:avLst/>
          </a:prstGeom>
          <a:solidFill>
            <a:srgbClr val="1E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16151"/>
            <a:ext cx="21488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697787"/>
                </a:solidFill>
                <a:latin typeface="Aptos"/>
              </a:defRPr>
            </a:pPr>
            <a:r>
              <a:t>Average / 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214884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2400" b="1">
                <a:solidFill>
                  <a:srgbClr val="142B48"/>
                </a:solidFill>
                <a:latin typeface="Aptos"/>
              </a:defRPr>
            </a:pPr>
            <a:r>
              <a:t>58.3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214884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05156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051560"/>
            <a:ext cx="73152" cy="1143000"/>
          </a:xfrm>
          <a:prstGeom prst="rect">
            <a:avLst/>
          </a:prstGeom>
          <a:solidFill>
            <a:srgbClr val="28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216151"/>
            <a:ext cx="21488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697787"/>
                </a:solidFill>
                <a:latin typeface="Aptos"/>
              </a:defRPr>
            </a:pPr>
            <a:r>
              <a:t>Peak observation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508760"/>
            <a:ext cx="214884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2400" b="1">
                <a:solidFill>
                  <a:srgbClr val="142B48"/>
                </a:solidFill>
                <a:latin typeface="Aptos"/>
              </a:defRPr>
            </a:pPr>
            <a:r>
              <a:t>249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47088"/>
            <a:ext cx="214884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at 08:00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05156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7880" y="1051560"/>
            <a:ext cx="73152" cy="1143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1216151"/>
            <a:ext cx="21488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697787"/>
                </a:solidFill>
                <a:latin typeface="Aptos"/>
              </a:defRPr>
            </a:pPr>
            <a:r>
              <a:t>Registered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508760"/>
            <a:ext cx="214884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2400" b="1">
                <a:solidFill>
                  <a:srgbClr val="142B48"/>
                </a:solidFill>
                <a:latin typeface="Aptos"/>
              </a:defRPr>
            </a:pPr>
            <a:r>
              <a:t>91.6%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847088"/>
            <a:ext cx="214884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of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105156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49640" y="1051560"/>
            <a:ext cx="73152" cy="11430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32519" y="1216151"/>
            <a:ext cx="26060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697787"/>
                </a:solidFill>
                <a:latin typeface="Aptos"/>
              </a:defRPr>
            </a:pPr>
            <a:r>
              <a:t>Highest avg weekday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19" y="1508760"/>
            <a:ext cx="260604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2400" b="1">
                <a:solidFill>
                  <a:srgbClr val="142B48"/>
                </a:solidFill>
                <a:latin typeface="Aptos"/>
              </a:defRPr>
            </a:pPr>
            <a:r>
              <a:t>Tuesday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19" y="1847088"/>
            <a:ext cx="260604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68.7 customers / hour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40080" y="2514600"/>
          <a:ext cx="64922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85800" y="2240280"/>
            <a:ext cx="621792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200" b="1">
                <a:solidFill>
                  <a:srgbClr val="142B48"/>
                </a:solidFill>
                <a:latin typeface="Aptos"/>
              </a:defRPr>
            </a:pPr>
            <a:r>
              <a:t>Average rentals by hour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423160"/>
            <a:ext cx="3749039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400" b="1">
                <a:solidFill>
                  <a:srgbClr val="142B48"/>
                </a:solidFill>
                <a:latin typeface="Aptos"/>
              </a:defRPr>
            </a:pPr>
            <a:r>
              <a:t>How to read the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83464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22B36"/>
                </a:solidFill>
                <a:latin typeface="Aptos"/>
              </a:defRPr>
            </a:pPr>
            <a:r>
              <a:t>• KPIs give the top-line operating picture.</a:t>
            </a:r>
          </a:p>
          <a:p>
            <a:pPr>
              <a:spcAft>
                <a:spcPts val="800"/>
              </a:spcAft>
              <a:defRPr sz="1300">
                <a:solidFill>
                  <a:srgbClr val="222B36"/>
                </a:solidFill>
                <a:latin typeface="Aptos"/>
              </a:defRPr>
            </a:pPr>
            <a:r>
              <a:t>• Hourly patterns support staffing and fleet positioning.</a:t>
            </a:r>
          </a:p>
          <a:p>
            <a:pPr>
              <a:spcAft>
                <a:spcPts val="800"/>
              </a:spcAft>
              <a:defRPr sz="1300">
                <a:solidFill>
                  <a:srgbClr val="222B36"/>
                </a:solidFill>
                <a:latin typeface="Aptos"/>
              </a:defRPr>
            </a:pPr>
            <a:r>
              <a:t>• Filters/segments can be used to isolate customer and weather effects.</a:t>
            </a:r>
          </a:p>
          <a:p>
            <a:pPr>
              <a:spcAft>
                <a:spcPts val="800"/>
              </a:spcAft>
              <a:defRPr sz="1300">
                <a:solidFill>
                  <a:srgbClr val="222B36"/>
                </a:solidFill>
                <a:latin typeface="Aptos"/>
              </a:defRPr>
            </a:pPr>
            <a:r>
              <a:t>• Charts convert raw rows into decisions rather than just reporting counts.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47104"/>
            <a:ext cx="11183112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787"/>
                </a:solidFill>
                <a:latin typeface="Aptos"/>
              </a:defRPr>
            </a:pPr>
            <a:r>
              <a:t>Bike Rentals Analytics | Dashboard &amp; Dataset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6539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787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Dataset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  <a:latin typeface="Aptos"/>
              </a:defRPr>
            </a:pPr>
            <a:r>
              <a:t>How the workbook is organised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78308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400" b="1">
                <a:solidFill>
                  <a:srgbClr val="142B48"/>
                </a:solidFill>
                <a:latin typeface="Aptos"/>
              </a:defRPr>
            </a:pPr>
            <a:r>
              <a:t>DataSet_1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178308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1">
                <a:solidFill>
                  <a:srgbClr val="1E76B6"/>
                </a:solidFill>
                <a:latin typeface="Aptos"/>
              </a:defRPr>
            </a:pPr>
            <a:r>
              <a:t>Time +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783080" cy="594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900" b="0">
                <a:solidFill>
                  <a:srgbClr val="697787"/>
                </a:solidFill>
                <a:latin typeface="Aptos"/>
              </a:defRPr>
            </a:pPr>
            <a:r>
              <a:t>Date, hour, holiday,</a:t>
            </a:r>
            <a:br/>
            <a:r>
              <a:t>weekday, weather, temperature</a:t>
            </a:r>
          </a:p>
        </p:txBody>
      </p:sp>
      <p:sp>
        <p:nvSpPr>
          <p:cNvPr id="10" name="Chevron 9"/>
          <p:cNvSpPr/>
          <p:nvPr/>
        </p:nvSpPr>
        <p:spPr>
          <a:xfrm>
            <a:off x="2587752" y="2651760"/>
            <a:ext cx="228600" cy="320040"/>
          </a:xfrm>
          <a:prstGeom prst="chevron">
            <a:avLst/>
          </a:prstGeom>
          <a:solidFill>
            <a:srgbClr val="28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3464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2057400"/>
            <a:ext cx="178308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400" b="1">
                <a:solidFill>
                  <a:srgbClr val="142B48"/>
                </a:solidFill>
                <a:latin typeface="Aptos"/>
              </a:defRPr>
            </a:pPr>
            <a:r>
              <a:t>DataSet_2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42032"/>
            <a:ext cx="178308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1">
                <a:solidFill>
                  <a:srgbClr val="1E76B6"/>
                </a:solidFill>
                <a:latin typeface="Aptos"/>
              </a:defRPr>
            </a:pPr>
            <a:r>
              <a:t>Customer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017520"/>
            <a:ext cx="1783080" cy="594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900" b="0">
                <a:solidFill>
                  <a:srgbClr val="697787"/>
                </a:solidFill>
                <a:latin typeface="Aptos"/>
              </a:defRPr>
            </a:pPr>
            <a:r>
              <a:t>Humidity, windspeed,</a:t>
            </a:r>
            <a:br/>
            <a:r>
              <a:t>casual, registered, total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9472" y="2651760"/>
            <a:ext cx="228600" cy="320040"/>
          </a:xfrm>
          <a:prstGeom prst="chevron">
            <a:avLst/>
          </a:prstGeom>
          <a:solidFill>
            <a:srgbClr val="28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6636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2057400"/>
            <a:ext cx="178308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400" b="1">
                <a:solidFill>
                  <a:srgbClr val="142B48"/>
                </a:solidFill>
                <a:latin typeface="Aptos"/>
              </a:defRPr>
            </a:pPr>
            <a:r>
              <a:t>DataSet_3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542032"/>
            <a:ext cx="178308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1">
                <a:solidFill>
                  <a:srgbClr val="1E76B6"/>
                </a:solidFill>
                <a:latin typeface="Aptos"/>
              </a:defRPr>
            </a:pPr>
            <a:r>
              <a:t>Additional subset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17520"/>
            <a:ext cx="1783080" cy="594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900" b="0">
                <a:solidFill>
                  <a:srgbClr val="697787"/>
                </a:solidFill>
                <a:latin typeface="Aptos"/>
              </a:defRPr>
            </a:pPr>
            <a:r>
              <a:t>Operational records with</a:t>
            </a:r>
            <a:br/>
            <a:r>
              <a:t>customer and weather fields</a:t>
            </a:r>
          </a:p>
        </p:txBody>
      </p:sp>
      <p:sp>
        <p:nvSpPr>
          <p:cNvPr id="20" name="Chevron 19"/>
          <p:cNvSpPr/>
          <p:nvPr/>
        </p:nvSpPr>
        <p:spPr>
          <a:xfrm>
            <a:off x="7251192" y="2651760"/>
            <a:ext cx="228600" cy="320040"/>
          </a:xfrm>
          <a:prstGeom prst="chevron">
            <a:avLst/>
          </a:prstGeom>
          <a:solidFill>
            <a:srgbClr val="28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98079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2057400"/>
            <a:ext cx="178308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400" b="1">
                <a:solidFill>
                  <a:srgbClr val="142B48"/>
                </a:solidFill>
                <a:latin typeface="Aptos"/>
              </a:defRPr>
            </a:pPr>
            <a:r>
              <a:t>DataSet_A(1+2)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542032"/>
            <a:ext cx="178308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1">
                <a:solidFill>
                  <a:srgbClr val="1E76B6"/>
                </a:solidFill>
                <a:latin typeface="Aptos"/>
              </a:defRPr>
            </a:pPr>
            <a:r>
              <a:t>Merged analysis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017520"/>
            <a:ext cx="1783080" cy="594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900" b="0">
                <a:solidFill>
                  <a:srgbClr val="697787"/>
                </a:solidFill>
                <a:latin typeface="Aptos"/>
              </a:defRPr>
            </a:pPr>
            <a:r>
              <a:t>Combines the first two</a:t>
            </a:r>
            <a:br/>
            <a:r>
              <a:t>data components</a:t>
            </a:r>
          </a:p>
        </p:txBody>
      </p:sp>
      <p:sp>
        <p:nvSpPr>
          <p:cNvPr id="25" name="Chevron 24"/>
          <p:cNvSpPr/>
          <p:nvPr/>
        </p:nvSpPr>
        <p:spPr>
          <a:xfrm>
            <a:off x="9582911" y="2651760"/>
            <a:ext cx="228600" cy="320040"/>
          </a:xfrm>
          <a:prstGeom prst="chevron">
            <a:avLst/>
          </a:prstGeom>
          <a:solidFill>
            <a:srgbClr val="28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66960" y="2057400"/>
            <a:ext cx="178308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400" b="1">
                <a:solidFill>
                  <a:srgbClr val="142B48"/>
                </a:solidFill>
                <a:latin typeface="Aptos"/>
              </a:defRPr>
            </a:pPr>
            <a:r>
              <a:t>Final_DataSet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542032"/>
            <a:ext cx="178308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1">
                <a:solidFill>
                  <a:srgbClr val="1E76B6"/>
                </a:solidFill>
                <a:latin typeface="Aptos"/>
              </a:defRPr>
            </a:pPr>
            <a:r>
              <a:t>Analysis-ready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17520"/>
            <a:ext cx="1783080" cy="594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900" b="0">
                <a:solidFill>
                  <a:srgbClr val="697787"/>
                </a:solidFill>
                <a:latin typeface="Aptos"/>
              </a:defRPr>
            </a:pPr>
            <a:r>
              <a:t>1,000 records + KPI</a:t>
            </a:r>
            <a:br/>
            <a:r>
              <a:t>calculations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343400"/>
            <a:ext cx="109728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400" b="1">
                <a:solidFill>
                  <a:srgbClr val="142B48"/>
                </a:solidFill>
                <a:latin typeface="Aptos"/>
              </a:defRPr>
            </a:pPr>
            <a:r>
              <a:t>Analysis layers built on top of the master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00600"/>
            <a:ext cx="192024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1E76B6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800600"/>
            <a:ext cx="7955279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222B36"/>
                </a:solidFill>
                <a:latin typeface="Aptos"/>
              </a:defRPr>
            </a:pPr>
            <a:r>
              <a:t>KPI summary + management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093208"/>
            <a:ext cx="192024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28AEBE"/>
                </a:solidFill>
                <a:latin typeface="Aptos"/>
              </a:defRPr>
            </a:pPr>
            <a:r>
              <a:t>Advanced Visualisation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093208"/>
            <a:ext cx="7955279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222B36"/>
                </a:solidFill>
                <a:latin typeface="Aptos"/>
              </a:defRPr>
            </a:pPr>
            <a:r>
              <a:t>Weather impact + ridership heatmap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85816"/>
            <a:ext cx="192024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219691"/>
                </a:solidFill>
                <a:latin typeface="Aptos"/>
              </a:defRPr>
            </a:pPr>
            <a:r>
              <a:t>Pivot Charts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385816"/>
            <a:ext cx="7955279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222B36"/>
                </a:solidFill>
                <a:latin typeface="Aptos"/>
              </a:defRPr>
            </a:pPr>
            <a:r>
              <a:t>Time trend + hourly comparison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78424"/>
            <a:ext cx="192024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DA972D"/>
                </a:solidFill>
                <a:latin typeface="Aptos"/>
              </a:defRPr>
            </a:pPr>
            <a:r>
              <a:t>Anamoly Detection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678424"/>
            <a:ext cx="7955279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222B36"/>
                </a:solidFill>
                <a:latin typeface="Aptos"/>
              </a:defRPr>
            </a:pPr>
            <a:r>
              <a:t>Outlier identification using statistical rules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71032"/>
            <a:ext cx="1920240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30915E"/>
                </a:solidFill>
                <a:latin typeface="Aptos"/>
              </a:defRPr>
            </a:pPr>
            <a:r>
              <a:t>Forecast Sheet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971032"/>
            <a:ext cx="7955279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222B36"/>
                </a:solidFill>
                <a:latin typeface="Aptos"/>
              </a:defRPr>
            </a:pPr>
            <a:r>
              <a:t>Forward demand estimates + confidence bounds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547104"/>
            <a:ext cx="11183112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787"/>
                </a:solidFill>
                <a:latin typeface="Aptos"/>
              </a:defRPr>
            </a:pPr>
            <a:r>
              <a:t>Bike Rentals Analytics | Dashboard &amp; Dataset Overview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6539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787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Sheet-by-Sheet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  <a:latin typeface="Aptos"/>
              </a:defRPr>
            </a:pPr>
            <a:r>
              <a:t>What each workbook tab contributes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69264"/>
            <a:ext cx="10972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024128"/>
            <a:ext cx="24231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42B48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024128"/>
            <a:ext cx="8183879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50" b="0">
                <a:solidFill>
                  <a:srgbClr val="222B36"/>
                </a:solidFill>
                <a:latin typeface="Aptos"/>
              </a:defRPr>
            </a:pPr>
            <a:r>
              <a:t>Management-facing summary of KPIs and core charts.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24231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42B48"/>
                </a:solidFill>
                <a:latin typeface="Aptos"/>
              </a:defRPr>
            </a:pPr>
            <a:r>
              <a:t>Final_DataSet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517904"/>
            <a:ext cx="8183879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50" b="0">
                <a:solidFill>
                  <a:srgbClr val="222B36"/>
                </a:solidFill>
                <a:latin typeface="Aptos"/>
              </a:defRPr>
            </a:pPr>
            <a:r>
              <a:t>Primary analysis table; combines the key fields and KPI calculations.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956816"/>
            <a:ext cx="10972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24231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42B48"/>
                </a:solidFill>
                <a:latin typeface="Aptos"/>
              </a:defRPr>
            </a:pPr>
            <a:r>
              <a:t>Advanced Visualisation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011680"/>
            <a:ext cx="8183879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50" b="0">
                <a:solidFill>
                  <a:srgbClr val="222B36"/>
                </a:solidFill>
                <a:latin typeface="Aptos"/>
              </a:defRPr>
            </a:pPr>
            <a:r>
              <a:t>Adds weather-impact analysis and a weekday × hour ridership heatmap.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05456"/>
            <a:ext cx="24231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42B48"/>
                </a:solidFill>
                <a:latin typeface="Aptos"/>
              </a:defRPr>
            </a:pPr>
            <a:r>
              <a:t>Pivot 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505456"/>
            <a:ext cx="8183879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50" b="0">
                <a:solidFill>
                  <a:srgbClr val="222B36"/>
                </a:solidFill>
                <a:latin typeface="Aptos"/>
              </a:defRPr>
            </a:pPr>
            <a:r>
              <a:t>Summarises daily rental trends and average rentals by hour.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44368"/>
            <a:ext cx="10972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999232"/>
            <a:ext cx="24231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42B48"/>
                </a:solidFill>
                <a:latin typeface="Aptos"/>
              </a:defRPr>
            </a:pPr>
            <a:r>
              <a:t>Anamoly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999232"/>
            <a:ext cx="8183879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50" b="0">
                <a:solidFill>
                  <a:srgbClr val="222B36"/>
                </a:solidFill>
                <a:latin typeface="Aptos"/>
              </a:defRPr>
            </a:pPr>
            <a:r>
              <a:t>Flags unusual customer counts using standard-deviation and IQR logic.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93008"/>
            <a:ext cx="24231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42B48"/>
                </a:solidFill>
                <a:latin typeface="Aptos"/>
              </a:defRPr>
            </a:pPr>
            <a:r>
              <a:t>Forecast Sheet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493008"/>
            <a:ext cx="8183879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50" b="0">
                <a:solidFill>
                  <a:srgbClr val="222B36"/>
                </a:solidFill>
                <a:latin typeface="Aptos"/>
              </a:defRPr>
            </a:pPr>
            <a:r>
              <a:t>Projects future demand and shows lower/upper confidence bounds.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931920"/>
            <a:ext cx="10972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986784"/>
            <a:ext cx="24231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42B48"/>
                </a:solidFill>
                <a:latin typeface="Aptos"/>
              </a:defRPr>
            </a:pPr>
            <a:r>
              <a:t>DataSet_3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986784"/>
            <a:ext cx="8183879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50" b="0">
                <a:solidFill>
                  <a:srgbClr val="222B36"/>
                </a:solidFill>
                <a:latin typeface="Aptos"/>
              </a:defRPr>
            </a:pPr>
            <a:r>
              <a:t>Subset of operational records used as an additional data component.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80560"/>
            <a:ext cx="24231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42B48"/>
                </a:solidFill>
                <a:latin typeface="Aptos"/>
              </a:defRPr>
            </a:pPr>
            <a:r>
              <a:t>DataSet_A(1+2)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480560"/>
            <a:ext cx="8183879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50" b="0">
                <a:solidFill>
                  <a:srgbClr val="222B36"/>
                </a:solidFill>
                <a:latin typeface="Aptos"/>
              </a:defRPr>
            </a:pPr>
            <a:r>
              <a:t>Combined dataset derived from the first two source datasets.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919472"/>
            <a:ext cx="10972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974336"/>
            <a:ext cx="24231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42B48"/>
                </a:solidFill>
                <a:latin typeface="Aptos"/>
              </a:defRPr>
            </a:pPr>
            <a:r>
              <a:t>DataSet_2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974336"/>
            <a:ext cx="8183879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50" b="0">
                <a:solidFill>
                  <a:srgbClr val="222B36"/>
                </a:solidFill>
                <a:latin typeface="Aptos"/>
              </a:defRPr>
            </a:pPr>
            <a:r>
              <a:t>Environmental + customer-demand measures.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68112"/>
            <a:ext cx="2423160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42B48"/>
                </a:solidFill>
                <a:latin typeface="Aptos"/>
              </a:defRPr>
            </a:pPr>
            <a:r>
              <a:t>DataSet_1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468112"/>
            <a:ext cx="8183879" cy="256032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50" b="0">
                <a:solidFill>
                  <a:srgbClr val="222B36"/>
                </a:solidFill>
                <a:latin typeface="Aptos"/>
              </a:defRPr>
            </a:pPr>
            <a:r>
              <a:t>Date/time, holiday, weekday and weather context.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47104"/>
            <a:ext cx="11183112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787"/>
                </a:solidFill>
                <a:latin typeface="Aptos"/>
              </a:defRPr>
            </a:pPr>
            <a:r>
              <a:t>Bike Rentals Analytics | Dashboard &amp; Dataset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6539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787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Core Variables &amp; KPI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  <a:latin typeface="Aptos"/>
              </a:defRPr>
            </a:pPr>
            <a:r>
              <a:t>What the data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12064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500" b="1">
                <a:solidFill>
                  <a:srgbClr val="142B48"/>
                </a:solidFill>
                <a:latin typeface="Aptos"/>
              </a:defRPr>
            </a:pPr>
            <a:r>
              <a:t>Field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09728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200" b="1">
                <a:solidFill>
                  <a:srgbClr val="1E76B6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08760"/>
            <a:ext cx="329184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222B36"/>
                </a:solidFill>
                <a:latin typeface="Aptos"/>
              </a:defRPr>
            </a:pPr>
            <a:r>
              <a:t>Date, Hours, Weekday, Holiday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37943"/>
            <a:ext cx="356616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697787"/>
                </a:solidFill>
                <a:latin typeface="Aptos"/>
              </a:defRPr>
            </a:pPr>
            <a:r>
              <a:t>When demand occurs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109728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200" b="1">
                <a:solidFill>
                  <a:srgbClr val="1E76B6"/>
                </a:solidFill>
                <a:latin typeface="Aptos"/>
              </a:defRPr>
            </a:pPr>
            <a:r>
              <a:t>Weather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23160"/>
            <a:ext cx="329184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222B36"/>
                </a:solidFill>
                <a:latin typeface="Aptos"/>
              </a:defRPr>
            </a:pPr>
            <a:r>
              <a:t>WeatherSit, Temperature, Assumed_Temp, Humidity, Windspeed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52344"/>
            <a:ext cx="356616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697787"/>
                </a:solidFill>
                <a:latin typeface="Aptos"/>
              </a:defRPr>
            </a:pPr>
            <a:r>
              <a:t>External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109728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200" b="1">
                <a:solidFill>
                  <a:srgbClr val="1E76B6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337560"/>
            <a:ext cx="329184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222B36"/>
                </a:solidFill>
                <a:latin typeface="Aptos"/>
              </a:defRPr>
            </a:pPr>
            <a:r>
              <a:t>Casual_Customers, Registered_Customers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66744"/>
            <a:ext cx="356616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697787"/>
                </a:solidFill>
                <a:latin typeface="Aptos"/>
              </a:defRPr>
            </a:pPr>
            <a:r>
              <a:t>Who is renting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109728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200" b="1">
                <a:solidFill>
                  <a:srgbClr val="1E76B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51960"/>
            <a:ext cx="329184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222B36"/>
                </a:solidFill>
                <a:latin typeface="Aptos"/>
              </a:defRPr>
            </a:pPr>
            <a:r>
              <a:t>Total_Count / Total_Customers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581144"/>
            <a:ext cx="356616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697787"/>
                </a:solidFill>
                <a:latin typeface="Aptos"/>
              </a:defRPr>
            </a:pPr>
            <a:r>
              <a:t>Overall rental demand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234440"/>
            <a:ext cx="53949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1554480"/>
            <a:ext cx="475488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500" b="1">
                <a:solidFill>
                  <a:srgbClr val="142B48"/>
                </a:solidFill>
                <a:latin typeface="Aptos"/>
              </a:defRPr>
            </a:pPr>
            <a:r>
              <a:t>Key calculations used in the workbook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48840"/>
            <a:ext cx="14630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E76B6"/>
                </a:solidFill>
                <a:latin typeface="Aptos"/>
              </a:defRPr>
            </a:pPr>
            <a:r>
              <a:t>Total rentals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148840"/>
            <a:ext cx="256032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222B36"/>
                </a:solidFill>
                <a:latin typeface="Aptos"/>
              </a:defRPr>
            </a:pPr>
            <a:r>
              <a:t>Casual + Registered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148840"/>
            <a:ext cx="8229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defRPr sz="1100" b="1">
                <a:solidFill>
                  <a:srgbClr val="142B48"/>
                </a:solidFill>
                <a:latin typeface="Aptos"/>
              </a:defRPr>
            </a:pPr>
            <a:r>
              <a:t>58,304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80360"/>
            <a:ext cx="14630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E76B6"/>
                </a:solidFill>
                <a:latin typeface="Aptos"/>
              </a:defRPr>
            </a:pPr>
            <a:r>
              <a:t>Average rentals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880360"/>
            <a:ext cx="256032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222B36"/>
                </a:solidFill>
                <a:latin typeface="Aptos"/>
              </a:defRPr>
            </a:pPr>
            <a:r>
              <a:t>Total rentals ÷ 1,000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2880360"/>
            <a:ext cx="8229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defRPr sz="1100" b="1">
                <a:solidFill>
                  <a:srgbClr val="142B48"/>
                </a:solidFill>
                <a:latin typeface="Aptos"/>
              </a:defRPr>
            </a:pPr>
            <a:r>
              <a:t>58.3 / hour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611880"/>
            <a:ext cx="14630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E76B6"/>
                </a:solidFill>
                <a:latin typeface="Aptos"/>
              </a:defRPr>
            </a:pPr>
            <a:r>
              <a:t>Registered share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611880"/>
            <a:ext cx="256032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222B36"/>
                </a:solidFill>
                <a:latin typeface="Aptos"/>
              </a:defRPr>
            </a:pPr>
            <a:r>
              <a:t>Registered ÷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611880"/>
            <a:ext cx="8229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defRPr sz="1100" b="1">
                <a:solidFill>
                  <a:srgbClr val="142B48"/>
                </a:solidFill>
                <a:latin typeface="Aptos"/>
              </a:defRPr>
            </a:pPr>
            <a:r>
              <a:t>91.6%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343400"/>
            <a:ext cx="146304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E76B6"/>
                </a:solidFill>
                <a:latin typeface="Aptos"/>
              </a:defRPr>
            </a:pPr>
            <a:r>
              <a:t>Peak observation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343400"/>
            <a:ext cx="256032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222B36"/>
                </a:solidFill>
                <a:latin typeface="Aptos"/>
              </a:defRPr>
            </a:pPr>
            <a:r>
              <a:t>Maximum Total_Count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4343400"/>
            <a:ext cx="8229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defRPr sz="1100" b="1">
                <a:solidFill>
                  <a:srgbClr val="142B48"/>
                </a:solidFill>
                <a:latin typeface="Aptos"/>
              </a:defRPr>
            </a:pPr>
            <a:r>
              <a:t>249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946904"/>
            <a:ext cx="448056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219691"/>
                </a:solidFill>
                <a:latin typeface="Aptos"/>
              </a:defRPr>
            </a:pPr>
            <a:r>
              <a:t>Data quality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217566"/>
            <a:ext cx="448056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0">
                <a:solidFill>
                  <a:srgbClr val="222B36"/>
                </a:solidFill>
                <a:latin typeface="Aptos"/>
              </a:defRPr>
            </a:pPr>
            <a:r>
              <a:rPr dirty="0"/>
              <a:t>All 13 core fields are complete in </a:t>
            </a:r>
            <a:r>
              <a:rPr dirty="0" err="1"/>
              <a:t>Final_DataSet</a:t>
            </a:r>
            <a:r>
              <a:rPr dirty="0"/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47104"/>
            <a:ext cx="11183112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787"/>
                </a:solidFill>
                <a:latin typeface="Aptos"/>
              </a:defRPr>
            </a:pPr>
            <a:r>
              <a:t>Bike Rentals Analytics | Dashboard &amp; Dataset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6539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787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Business Insights from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  <a:latin typeface="Aptos"/>
              </a:defRPr>
            </a:pPr>
            <a:r>
              <a:t>Time, weekday and weather effects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5394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1097280"/>
            <a:ext cx="502920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200" b="1">
                <a:solidFill>
                  <a:srgbClr val="142B48"/>
                </a:solidFill>
                <a:latin typeface="Aptos"/>
              </a:defRPr>
            </a:pPr>
            <a:r>
              <a:t>Average rentals by weekday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72200" y="1417320"/>
          <a:ext cx="53492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097280"/>
            <a:ext cx="502920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200" b="1">
                <a:solidFill>
                  <a:srgbClr val="142B48"/>
                </a:solidFill>
                <a:latin typeface="Aptos"/>
              </a:defRPr>
            </a:pPr>
            <a:r>
              <a:t>Total rentals by weather 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42B48"/>
                </a:solidFill>
                <a:latin typeface="Aptos"/>
              </a:defRPr>
            </a:pPr>
            <a:r>
              <a:t>Takeaway: Tuesday is the strongest average weekday, while normal-weather periods account for the largest rental volume. Orange/Red alerts are associated with lower demand.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787"/>
                </a:solidFill>
                <a:latin typeface="Aptos"/>
              </a:defRPr>
            </a:pPr>
            <a:r>
              <a:t>Bike Rentals Analytics | Dashboard &amp; Dataset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6539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787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Advanced Visualisation &amp; Pivot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  <a:latin typeface="Aptos"/>
              </a:defRPr>
            </a:pPr>
            <a:r>
              <a:t>From raw records to patterns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640080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1097280"/>
            <a:ext cx="594360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200" b="1">
                <a:solidFill>
                  <a:srgbClr val="142B48"/>
                </a:solidFill>
                <a:latin typeface="Aptos"/>
              </a:defRPr>
            </a:pPr>
            <a:r>
              <a:t>Daily rental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097280"/>
            <a:ext cx="402336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200" b="1">
                <a:solidFill>
                  <a:srgbClr val="142B48"/>
                </a:solidFill>
                <a:latin typeface="Aptos"/>
              </a:defRPr>
            </a:pPr>
            <a:r>
              <a:t>Ridership heatmap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54480"/>
            <a:ext cx="8229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1">
                <a:solidFill>
                  <a:srgbClr val="697787"/>
                </a:solidFill>
                <a:latin typeface="Aptos"/>
              </a:defRPr>
            </a:pPr>
            <a:r>
              <a:t>Mon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527048"/>
            <a:ext cx="219456" cy="347472"/>
          </a:xfrm>
          <a:prstGeom prst="rect">
            <a:avLst/>
          </a:prstGeom>
          <a:solidFill>
            <a:srgbClr val="CD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39911" y="1527048"/>
            <a:ext cx="219456" cy="347472"/>
          </a:xfrm>
          <a:prstGeom prst="rect">
            <a:avLst/>
          </a:prstGeom>
          <a:solidFill>
            <a:srgbClr val="9FC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95944" y="1527048"/>
            <a:ext cx="219456" cy="347472"/>
          </a:xfrm>
          <a:prstGeom prst="rect">
            <a:avLst/>
          </a:prstGeom>
          <a:solidFill>
            <a:srgbClr val="4A9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51976" y="1527048"/>
            <a:ext cx="219456" cy="347472"/>
          </a:xfrm>
          <a:prstGeom prst="rect">
            <a:avLst/>
          </a:prstGeom>
          <a:solidFill>
            <a:srgbClr val="8BB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08008" y="1527048"/>
            <a:ext cx="219456" cy="347472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464040" y="1527048"/>
            <a:ext cx="219456" cy="347472"/>
          </a:xfrm>
          <a:prstGeom prst="rect">
            <a:avLst/>
          </a:prstGeom>
          <a:solidFill>
            <a:srgbClr val="A6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720072" y="1527048"/>
            <a:ext cx="219456" cy="347472"/>
          </a:xfrm>
          <a:prstGeom prst="rect">
            <a:avLst/>
          </a:prstGeom>
          <a:solidFill>
            <a:srgbClr val="A4C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76104" y="1527048"/>
            <a:ext cx="219456" cy="347472"/>
          </a:xfrm>
          <a:prstGeom prst="rect">
            <a:avLst/>
          </a:prstGeom>
          <a:solidFill>
            <a:srgbClr val="94B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232136" y="1527048"/>
            <a:ext cx="219456" cy="347472"/>
          </a:xfrm>
          <a:prstGeom prst="rect">
            <a:avLst/>
          </a:prstGeom>
          <a:solidFill>
            <a:srgbClr val="4A9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488167" y="1527048"/>
            <a:ext cx="219456" cy="347472"/>
          </a:xfrm>
          <a:prstGeom prst="rect">
            <a:avLst/>
          </a:prstGeom>
          <a:solidFill>
            <a:srgbClr val="569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744200" y="1527048"/>
            <a:ext cx="219456" cy="347472"/>
          </a:xfrm>
          <a:prstGeom prst="rect">
            <a:avLst/>
          </a:prstGeom>
          <a:solidFill>
            <a:srgbClr val="83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00232" y="1527048"/>
            <a:ext cx="219456" cy="347472"/>
          </a:xfrm>
          <a:prstGeom prst="rect">
            <a:avLst/>
          </a:prstGeom>
          <a:solidFill>
            <a:srgbClr val="A3C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0" y="2066543"/>
            <a:ext cx="8229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1">
                <a:solidFill>
                  <a:srgbClr val="697787"/>
                </a:solidFill>
                <a:latin typeface="Aptos"/>
              </a:defRPr>
            </a:pPr>
            <a:r>
              <a:t>Tue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039112"/>
            <a:ext cx="219456" cy="347472"/>
          </a:xfrm>
          <a:prstGeom prst="rect">
            <a:avLst/>
          </a:prstGeom>
          <a:solidFill>
            <a:srgbClr val="C6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39911" y="2039112"/>
            <a:ext cx="219456" cy="347472"/>
          </a:xfrm>
          <a:prstGeom prst="rect">
            <a:avLst/>
          </a:prstGeom>
          <a:solidFill>
            <a:srgbClr val="8DB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95944" y="2039112"/>
            <a:ext cx="219456" cy="347472"/>
          </a:xfrm>
          <a:prstGeom prst="rect">
            <a:avLst/>
          </a:prstGeom>
          <a:solidFill>
            <a:srgbClr val="227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51976" y="2039112"/>
            <a:ext cx="219456" cy="347472"/>
          </a:xfrm>
          <a:prstGeom prst="rect">
            <a:avLst/>
          </a:prstGeom>
          <a:solidFill>
            <a:srgbClr val="6CA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08008" y="2039112"/>
            <a:ext cx="219456" cy="347472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64040" y="2039112"/>
            <a:ext cx="219456" cy="347472"/>
          </a:xfrm>
          <a:prstGeom prst="rect">
            <a:avLst/>
          </a:prstGeom>
          <a:solidFill>
            <a:srgbClr val="AAC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20072" y="2039112"/>
            <a:ext cx="219456" cy="347472"/>
          </a:xfrm>
          <a:prstGeom prst="rect">
            <a:avLst/>
          </a:prstGeom>
          <a:solidFill>
            <a:srgbClr val="AEC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76104" y="2039112"/>
            <a:ext cx="219456" cy="347472"/>
          </a:xfrm>
          <a:prstGeom prst="rect">
            <a:avLst/>
          </a:prstGeom>
          <a:solidFill>
            <a:srgbClr val="97C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232136" y="2039112"/>
            <a:ext cx="219456" cy="347472"/>
          </a:xfrm>
          <a:prstGeom prst="rect">
            <a:avLst/>
          </a:prstGeom>
          <a:solidFill>
            <a:srgbClr val="3D8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488167" y="2039112"/>
            <a:ext cx="219456" cy="347472"/>
          </a:xfrm>
          <a:prstGeom prst="rect">
            <a:avLst/>
          </a:prstGeom>
          <a:solidFill>
            <a:srgbClr val="4C9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744200" y="2039112"/>
            <a:ext cx="219456" cy="347472"/>
          </a:xfrm>
          <a:prstGeom prst="rect">
            <a:avLst/>
          </a:prstGeom>
          <a:solidFill>
            <a:srgbClr val="82B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000232" y="2039112"/>
            <a:ext cx="219456" cy="347472"/>
          </a:xfrm>
          <a:prstGeom prst="rect">
            <a:avLst/>
          </a:prstGeom>
          <a:solidFill>
            <a:srgbClr val="A2C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2578608"/>
            <a:ext cx="8229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1">
                <a:solidFill>
                  <a:srgbClr val="697787"/>
                </a:solidFill>
                <a:latin typeface="Aptos"/>
              </a:defRPr>
            </a:pPr>
            <a:r>
              <a:t>Wed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2551176"/>
            <a:ext cx="219456" cy="347472"/>
          </a:xfrm>
          <a:prstGeom prst="rect">
            <a:avLst/>
          </a:prstGeom>
          <a:solidFill>
            <a:srgbClr val="CC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439911" y="2551176"/>
            <a:ext cx="219456" cy="347472"/>
          </a:xfrm>
          <a:prstGeom prst="rect">
            <a:avLst/>
          </a:prstGeom>
          <a:solidFill>
            <a:srgbClr val="A3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695944" y="2551176"/>
            <a:ext cx="219456" cy="347472"/>
          </a:xfrm>
          <a:prstGeom prst="rect">
            <a:avLst/>
          </a:prstGeom>
          <a:solidFill>
            <a:srgbClr val="4D9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51976" y="2551176"/>
            <a:ext cx="219456" cy="347472"/>
          </a:xfrm>
          <a:prstGeom prst="rect">
            <a:avLst/>
          </a:prstGeom>
          <a:solidFill>
            <a:srgbClr val="83B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208008" y="2551176"/>
            <a:ext cx="219456" cy="347472"/>
          </a:xfrm>
          <a:prstGeom prst="rect">
            <a:avLst/>
          </a:prstGeom>
          <a:solidFill>
            <a:srgbClr val="B6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464040" y="2551176"/>
            <a:ext cx="219456" cy="347472"/>
          </a:xfrm>
          <a:prstGeom prst="rect">
            <a:avLst/>
          </a:prstGeom>
          <a:solidFill>
            <a:srgbClr val="A8C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720072" y="2551176"/>
            <a:ext cx="219456" cy="347472"/>
          </a:xfrm>
          <a:prstGeom prst="rect">
            <a:avLst/>
          </a:prstGeom>
          <a:solidFill>
            <a:srgbClr val="AEC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976104" y="2551176"/>
            <a:ext cx="219456" cy="347472"/>
          </a:xfrm>
          <a:prstGeom prst="rect">
            <a:avLst/>
          </a:prstGeom>
          <a:solidFill>
            <a:srgbClr val="98C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232136" y="2551176"/>
            <a:ext cx="219456" cy="347472"/>
          </a:xfrm>
          <a:prstGeom prst="rect">
            <a:avLst/>
          </a:prstGeom>
          <a:solidFill>
            <a:srgbClr val="53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488167" y="2551176"/>
            <a:ext cx="219456" cy="347472"/>
          </a:xfrm>
          <a:prstGeom prst="rect">
            <a:avLst/>
          </a:prstGeom>
          <a:solidFill>
            <a:srgbClr val="478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744200" y="2551176"/>
            <a:ext cx="219456" cy="347472"/>
          </a:xfrm>
          <a:prstGeom prst="rect">
            <a:avLst/>
          </a:prstGeom>
          <a:solidFill>
            <a:srgbClr val="83B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1000232" y="2551176"/>
            <a:ext cx="219456" cy="347472"/>
          </a:xfrm>
          <a:prstGeom prst="rect">
            <a:avLst/>
          </a:prstGeom>
          <a:solidFill>
            <a:srgbClr val="9B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0" y="3090672"/>
            <a:ext cx="8229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1">
                <a:solidFill>
                  <a:srgbClr val="697787"/>
                </a:solidFill>
                <a:latin typeface="Aptos"/>
              </a:defRPr>
            </a:pPr>
            <a:r>
              <a:t>Thu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3063240"/>
            <a:ext cx="219456" cy="347472"/>
          </a:xfrm>
          <a:prstGeom prst="rect">
            <a:avLst/>
          </a:prstGeom>
          <a:solidFill>
            <a:srgbClr val="C5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439911" y="3063240"/>
            <a:ext cx="219456" cy="347472"/>
          </a:xfrm>
          <a:prstGeom prst="rect">
            <a:avLst/>
          </a:prstGeom>
          <a:solidFill>
            <a:srgbClr val="8DB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695944" y="3063240"/>
            <a:ext cx="219456" cy="347472"/>
          </a:xfrm>
          <a:prstGeom prst="rect">
            <a:avLst/>
          </a:prstGeom>
          <a:solidFill>
            <a:srgbClr val="1E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51976" y="3063240"/>
            <a:ext cx="219456" cy="347472"/>
          </a:xfrm>
          <a:prstGeom prst="rect">
            <a:avLst/>
          </a:prstGeom>
          <a:solidFill>
            <a:srgbClr val="66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208008" y="3063240"/>
            <a:ext cx="219456" cy="347472"/>
          </a:xfrm>
          <a:prstGeom prst="rect">
            <a:avLst/>
          </a:prstGeom>
          <a:solidFill>
            <a:srgbClr val="B9D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464040" y="3063240"/>
            <a:ext cx="219456" cy="347472"/>
          </a:xfrm>
          <a:prstGeom prst="rect">
            <a:avLst/>
          </a:prstGeom>
          <a:solidFill>
            <a:srgbClr val="A0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20072" y="3063240"/>
            <a:ext cx="219456" cy="347472"/>
          </a:xfrm>
          <a:prstGeom prst="rect">
            <a:avLst/>
          </a:prstGeom>
          <a:solidFill>
            <a:srgbClr val="ADC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976104" y="3063240"/>
            <a:ext cx="219456" cy="347472"/>
          </a:xfrm>
          <a:prstGeom prst="rect">
            <a:avLst/>
          </a:prstGeom>
          <a:solidFill>
            <a:srgbClr val="9FC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232136" y="3063240"/>
            <a:ext cx="219456" cy="347472"/>
          </a:xfrm>
          <a:prstGeom prst="rect">
            <a:avLst/>
          </a:prstGeom>
          <a:solidFill>
            <a:srgbClr val="49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488167" y="3063240"/>
            <a:ext cx="219456" cy="347472"/>
          </a:xfrm>
          <a:prstGeom prst="rect">
            <a:avLst/>
          </a:prstGeom>
          <a:solidFill>
            <a:srgbClr val="54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744200" y="3063240"/>
            <a:ext cx="219456" cy="347472"/>
          </a:xfrm>
          <a:prstGeom prst="rect">
            <a:avLst/>
          </a:prstGeom>
          <a:solidFill>
            <a:srgbClr val="7CB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1000232" y="3063240"/>
            <a:ext cx="219456" cy="347472"/>
          </a:xfrm>
          <a:prstGeom prst="rect">
            <a:avLst/>
          </a:prstGeom>
          <a:solidFill>
            <a:srgbClr val="91B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15200" y="3602736"/>
            <a:ext cx="8229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1">
                <a:solidFill>
                  <a:srgbClr val="697787"/>
                </a:solidFill>
                <a:latin typeface="Aptos"/>
              </a:defRPr>
            </a:pPr>
            <a:r>
              <a:t>Fri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83879" y="3575304"/>
            <a:ext cx="219456" cy="347472"/>
          </a:xfrm>
          <a:prstGeom prst="rect">
            <a:avLst/>
          </a:prstGeom>
          <a:solidFill>
            <a:srgbClr val="CD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439911" y="3575304"/>
            <a:ext cx="219456" cy="347472"/>
          </a:xfrm>
          <a:prstGeom prst="rect">
            <a:avLst/>
          </a:prstGeom>
          <a:solidFill>
            <a:srgbClr val="9EC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695944" y="3575304"/>
            <a:ext cx="219456" cy="347472"/>
          </a:xfrm>
          <a:prstGeom prst="rect">
            <a:avLst/>
          </a:prstGeom>
          <a:solidFill>
            <a:srgbClr val="287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951976" y="3575304"/>
            <a:ext cx="219456" cy="347472"/>
          </a:xfrm>
          <a:prstGeom prst="rect">
            <a:avLst/>
          </a:prstGeom>
          <a:solidFill>
            <a:srgbClr val="67A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08008" y="3575304"/>
            <a:ext cx="219456" cy="347472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464040" y="3575304"/>
            <a:ext cx="219456" cy="347472"/>
          </a:xfrm>
          <a:prstGeom prst="rect">
            <a:avLst/>
          </a:prstGeom>
          <a:solidFill>
            <a:srgbClr val="A7C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720072" y="3575304"/>
            <a:ext cx="219456" cy="347472"/>
          </a:xfrm>
          <a:prstGeom prst="rect">
            <a:avLst/>
          </a:prstGeom>
          <a:solidFill>
            <a:srgbClr val="A6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976104" y="3575304"/>
            <a:ext cx="219456" cy="347472"/>
          </a:xfrm>
          <a:prstGeom prst="rect">
            <a:avLst/>
          </a:prstGeom>
          <a:solidFill>
            <a:srgbClr val="88B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232136" y="3575304"/>
            <a:ext cx="219456" cy="347472"/>
          </a:xfrm>
          <a:prstGeom prst="rect">
            <a:avLst/>
          </a:prstGeom>
          <a:solidFill>
            <a:srgbClr val="398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488167" y="3575304"/>
            <a:ext cx="219456" cy="347472"/>
          </a:xfrm>
          <a:prstGeom prst="rect">
            <a:avLst/>
          </a:prstGeom>
          <a:solidFill>
            <a:srgbClr val="61A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744200" y="3575304"/>
            <a:ext cx="219456" cy="347472"/>
          </a:xfrm>
          <a:prstGeom prst="rect">
            <a:avLst/>
          </a:prstGeom>
          <a:solidFill>
            <a:srgbClr val="88B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000232" y="3575304"/>
            <a:ext cx="219456" cy="347472"/>
          </a:xfrm>
          <a:prstGeom prst="rect">
            <a:avLst/>
          </a:prstGeom>
          <a:solidFill>
            <a:srgbClr val="AAC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0" y="4114800"/>
            <a:ext cx="8229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1">
                <a:solidFill>
                  <a:srgbClr val="697787"/>
                </a:solidFill>
                <a:latin typeface="Aptos"/>
              </a:defRPr>
            </a:pPr>
            <a:r>
              <a:t>Sat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83879" y="4087368"/>
            <a:ext cx="219456" cy="347472"/>
          </a:xfrm>
          <a:prstGeom prst="rect">
            <a:avLst/>
          </a:prstGeom>
          <a:solidFill>
            <a:srgbClr val="E2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439911" y="4087368"/>
            <a:ext cx="219456" cy="347472"/>
          </a:xfrm>
          <a:prstGeom prst="rect">
            <a:avLst/>
          </a:prstGeom>
          <a:solidFill>
            <a:srgbClr val="DE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695944" y="4087368"/>
            <a:ext cx="219456" cy="347472"/>
          </a:xfrm>
          <a:prstGeom prst="rect">
            <a:avLst/>
          </a:prstGeom>
          <a:solidFill>
            <a:srgbClr val="D0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951976" y="4087368"/>
            <a:ext cx="219456" cy="347472"/>
          </a:xfrm>
          <a:prstGeom prst="rect">
            <a:avLst/>
          </a:prstGeom>
          <a:solidFill>
            <a:srgbClr val="C8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208008" y="4087368"/>
            <a:ext cx="219456" cy="347472"/>
          </a:xfrm>
          <a:prstGeom prst="rect">
            <a:avLst/>
          </a:prstGeom>
          <a:solidFill>
            <a:srgbClr val="B0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464040" y="4087368"/>
            <a:ext cx="219456" cy="347472"/>
          </a:xfrm>
          <a:prstGeom prst="rect">
            <a:avLst/>
          </a:prstGeom>
          <a:solidFill>
            <a:srgbClr val="93B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720072" y="4087368"/>
            <a:ext cx="219456" cy="347472"/>
          </a:xfrm>
          <a:prstGeom prst="rect">
            <a:avLst/>
          </a:prstGeom>
          <a:solidFill>
            <a:srgbClr val="89B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976104" y="4087368"/>
            <a:ext cx="219456" cy="347472"/>
          </a:xfrm>
          <a:prstGeom prst="rect">
            <a:avLst/>
          </a:prstGeom>
          <a:solidFill>
            <a:srgbClr val="84B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232136" y="4087368"/>
            <a:ext cx="219456" cy="347472"/>
          </a:xfrm>
          <a:prstGeom prst="rect">
            <a:avLst/>
          </a:prstGeom>
          <a:solidFill>
            <a:srgbClr val="93B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488167" y="4087368"/>
            <a:ext cx="219456" cy="347472"/>
          </a:xfrm>
          <a:prstGeom prst="rect">
            <a:avLst/>
          </a:prstGeom>
          <a:solidFill>
            <a:srgbClr val="A8C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744200" y="4087368"/>
            <a:ext cx="219456" cy="347472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1000232" y="4087368"/>
            <a:ext cx="219456" cy="347472"/>
          </a:xfrm>
          <a:prstGeom prst="rect">
            <a:avLst/>
          </a:prstGeom>
          <a:solidFill>
            <a:srgbClr val="BB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315200" y="4626864"/>
            <a:ext cx="82296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1">
                <a:solidFill>
                  <a:srgbClr val="697787"/>
                </a:solidFill>
                <a:latin typeface="Aptos"/>
              </a:defRPr>
            </a:pPr>
            <a:r>
              <a:t>Sun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83879" y="4599432"/>
            <a:ext cx="219456" cy="347472"/>
          </a:xfrm>
          <a:prstGeom prst="rect">
            <a:avLst/>
          </a:prstGeom>
          <a:solidFill>
            <a:srgbClr val="E3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439911" y="4599432"/>
            <a:ext cx="219456" cy="347472"/>
          </a:xfrm>
          <a:prstGeom prst="rect">
            <a:avLst/>
          </a:prstGeom>
          <a:solidFill>
            <a:srgbClr val="E1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695944" y="4599432"/>
            <a:ext cx="219456" cy="347472"/>
          </a:xfrm>
          <a:prstGeom prst="rect">
            <a:avLst/>
          </a:prstGeom>
          <a:solidFill>
            <a:srgbClr val="D6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951976" y="4599432"/>
            <a:ext cx="219456" cy="347472"/>
          </a:xfrm>
          <a:prstGeom prst="rect">
            <a:avLst/>
          </a:prstGeom>
          <a:solidFill>
            <a:srgbClr val="C5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9208008" y="4599432"/>
            <a:ext cx="219456" cy="347472"/>
          </a:xfrm>
          <a:prstGeom prst="rect">
            <a:avLst/>
          </a:prstGeom>
          <a:solidFill>
            <a:srgbClr val="A0C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9464040" y="4599432"/>
            <a:ext cx="219456" cy="347472"/>
          </a:xfrm>
          <a:prstGeom prst="rect">
            <a:avLst/>
          </a:prstGeom>
          <a:solidFill>
            <a:srgbClr val="74A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9720072" y="4599432"/>
            <a:ext cx="219456" cy="347472"/>
          </a:xfrm>
          <a:prstGeom prst="rect">
            <a:avLst/>
          </a:prstGeom>
          <a:solidFill>
            <a:srgbClr val="7AA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976104" y="4599432"/>
            <a:ext cx="219456" cy="347472"/>
          </a:xfrm>
          <a:prstGeom prst="rect">
            <a:avLst/>
          </a:prstGeom>
          <a:solidFill>
            <a:srgbClr val="7E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0232136" y="4599432"/>
            <a:ext cx="219456" cy="347472"/>
          </a:xfrm>
          <a:prstGeom prst="rect">
            <a:avLst/>
          </a:prstGeom>
          <a:solidFill>
            <a:srgbClr val="91B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0488167" y="4599432"/>
            <a:ext cx="219456" cy="347472"/>
          </a:xfrm>
          <a:prstGeom prst="rect">
            <a:avLst/>
          </a:prstGeom>
          <a:solidFill>
            <a:srgbClr val="A6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0744200" y="4599432"/>
            <a:ext cx="219456" cy="347472"/>
          </a:xfrm>
          <a:prstGeom prst="rect">
            <a:avLst/>
          </a:prstGeom>
          <a:solidFill>
            <a:srgbClr val="B9D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1000232" y="4599432"/>
            <a:ext cx="219456" cy="347472"/>
          </a:xfrm>
          <a:prstGeom prst="rect">
            <a:avLst/>
          </a:prstGeom>
          <a:solidFill>
            <a:srgbClr val="C1D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183879" y="5285232"/>
            <a:ext cx="329184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Darker = higher average demand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142B48"/>
                </a:solidFill>
                <a:latin typeface="Aptos"/>
              </a:defRPr>
            </a:pPr>
            <a:r>
              <a:t>Pivot charts answer two practical questions: how demand changes over time, and which hours consistently generate the most rentals.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2920" y="6547104"/>
            <a:ext cx="11183112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0292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787"/>
                </a:solidFill>
                <a:latin typeface="Aptos"/>
              </a:defRPr>
            </a:pPr>
            <a:r>
              <a:t>Bike Rentals Analytics | Dashboard &amp; Dataset Overview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155680" y="656539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787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  <a:latin typeface="Aptos"/>
              </a:defRPr>
            </a:pPr>
            <a:r>
              <a:t>Finding unusual rental volumes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1097280"/>
            <a:ext cx="603504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200" b="1">
                <a:solidFill>
                  <a:srgbClr val="142B48"/>
                </a:solidFill>
                <a:latin typeface="Aptos"/>
              </a:defRPr>
            </a:pPr>
            <a:r>
              <a:t>Highest-demand observations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41732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06640" y="1417320"/>
            <a:ext cx="73152" cy="1234440"/>
          </a:xfrm>
          <a:prstGeom prst="rect">
            <a:avLst/>
          </a:prstGeom>
          <a:solidFill>
            <a:srgbClr val="1E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1581912"/>
            <a:ext cx="1554479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697787"/>
                </a:solidFill>
                <a:latin typeface="Aptos"/>
              </a:defRPr>
            </a:pPr>
            <a:r>
              <a:t>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1874519"/>
            <a:ext cx="1554479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2400" b="1">
                <a:solidFill>
                  <a:srgbClr val="142B48"/>
                </a:solidFill>
                <a:latin typeface="Aptos"/>
              </a:defRPr>
            </a:pPr>
            <a:r>
              <a:t>58.3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2304288"/>
            <a:ext cx="1554479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customers / hour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41732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464040" y="1417320"/>
            <a:ext cx="73152" cy="1234440"/>
          </a:xfrm>
          <a:prstGeom prst="rect">
            <a:avLst/>
          </a:prstGeom>
          <a:solidFill>
            <a:srgbClr val="28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46919" y="1581912"/>
            <a:ext cx="1554479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697787"/>
                </a:solidFill>
                <a:latin typeface="Aptos"/>
              </a:defRPr>
            </a:pPr>
            <a:r>
              <a:t>Std. dev.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19" y="1874519"/>
            <a:ext cx="1554479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2400" b="1">
                <a:solidFill>
                  <a:srgbClr val="142B48"/>
                </a:solidFill>
                <a:latin typeface="Aptos"/>
              </a:defRPr>
            </a:pPr>
            <a:r>
              <a:t>51.0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19" y="2304288"/>
            <a:ext cx="1554479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8346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06640" y="2834640"/>
            <a:ext cx="73152" cy="123444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19" y="2999232"/>
            <a:ext cx="1554479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697787"/>
                </a:solidFill>
                <a:latin typeface="Aptos"/>
              </a:defRPr>
            </a:pPr>
            <a:r>
              <a:t>2σ upper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3291840"/>
            <a:ext cx="1554479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2400" b="1">
                <a:solidFill>
                  <a:srgbClr val="142B48"/>
                </a:solidFill>
                <a:latin typeface="Aptos"/>
              </a:defRPr>
            </a:pPr>
            <a:r>
              <a:t>160.3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3721608"/>
            <a:ext cx="1554479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rule threshold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28346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64040" y="2834640"/>
            <a:ext cx="73152" cy="1234440"/>
          </a:xfrm>
          <a:prstGeom prst="rect">
            <a:avLst/>
          </a:prstGeom>
          <a:solidFill>
            <a:srgbClr val="C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46919" y="2999232"/>
            <a:ext cx="1554479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000" b="1">
                <a:solidFill>
                  <a:srgbClr val="697787"/>
                </a:solidFill>
                <a:latin typeface="Aptos"/>
              </a:defRPr>
            </a:pPr>
            <a:r>
              <a:t>IQR upper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19" y="3291840"/>
            <a:ext cx="1554479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2400" b="1">
                <a:solidFill>
                  <a:srgbClr val="142B48"/>
                </a:solidFill>
                <a:latin typeface="Aptos"/>
              </a:defRPr>
            </a:pPr>
            <a:r>
              <a:t>183.5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3721608"/>
            <a:ext cx="1554479" cy="20116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900" b="0">
                <a:solidFill>
                  <a:srgbClr val="697787"/>
                </a:solidFill>
                <a:latin typeface="Aptos"/>
              </a:defRPr>
            </a:pPr>
            <a:r>
              <a:t>rule threshold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434840"/>
            <a:ext cx="39319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300" b="1">
                <a:solidFill>
                  <a:srgbClr val="142B48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7548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22B36"/>
                </a:solidFill>
                <a:latin typeface="Aptos"/>
              </a:defRPr>
            </a:pPr>
            <a:r>
              <a:t>• The workbook applies both standard-deviation and IQR-based checks.</a:t>
            </a:r>
          </a:p>
          <a:p>
            <a:pPr>
              <a:spcAft>
                <a:spcPts val="800"/>
              </a:spcAft>
              <a:defRPr sz="1100">
                <a:solidFill>
                  <a:srgbClr val="222B36"/>
                </a:solidFill>
                <a:latin typeface="Aptos"/>
              </a:defRPr>
            </a:pPr>
            <a:r>
              <a:t>• Outliers should be reviewed as operational signals, not automatically treated as errors.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47104"/>
            <a:ext cx="11183112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787"/>
                </a:solidFill>
                <a:latin typeface="Aptos"/>
              </a:defRPr>
            </a:pPr>
            <a:r>
              <a:t>Bike Rentals Analytics | Dashboard &amp; Dataset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6539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787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  <a:latin typeface="Aptos"/>
              </a:defRPr>
            </a:pPr>
            <a:r>
              <a:t>Using historical demand to look ahead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32588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1005840"/>
            <a:ext cx="685800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200" b="1">
                <a:solidFill>
                  <a:srgbClr val="142B48"/>
                </a:solidFill>
                <a:latin typeface="Aptos"/>
              </a:defRPr>
            </a:pPr>
            <a:r>
              <a:t>Historical demand and 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30175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400" b="1">
                <a:solidFill>
                  <a:srgbClr val="142B48"/>
                </a:solidFill>
                <a:latin typeface="Aptos"/>
              </a:defRPr>
            </a:pPr>
            <a:r>
              <a:t>Forecast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22B36"/>
                </a:solidFill>
                <a:latin typeface="Aptos"/>
              </a:defRPr>
            </a:pPr>
            <a:r>
              <a:t>• The workbook provides a forward forecast with lower and upper confidence bounds.</a:t>
            </a:r>
          </a:p>
          <a:p>
            <a:pPr>
              <a:spcAft>
                <a:spcPts val="800"/>
              </a:spcAft>
              <a:defRPr sz="1200">
                <a:solidFill>
                  <a:srgbClr val="222B36"/>
                </a:solidFill>
                <a:latin typeface="Aptos"/>
              </a:defRPr>
            </a:pPr>
            <a:r>
              <a:t>• Forecast values begin after the observed period and extend through March 2011.</a:t>
            </a:r>
          </a:p>
          <a:p>
            <a:pPr>
              <a:spcAft>
                <a:spcPts val="800"/>
              </a:spcAft>
              <a:defRPr sz="1200">
                <a:solidFill>
                  <a:srgbClr val="222B36"/>
                </a:solidFill>
                <a:latin typeface="Aptos"/>
              </a:defRPr>
            </a:pPr>
            <a:r>
              <a:t>• Use the range—not only the point forecast—to plan capacity and staffing.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389120"/>
            <a:ext cx="301752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1">
                <a:solidFill>
                  <a:srgbClr val="219691"/>
                </a:solidFill>
                <a:latin typeface="Aptos"/>
              </a:defRPr>
            </a:pPr>
            <a:r>
              <a:t>Forecast horizon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709160"/>
            <a:ext cx="301752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300" b="1">
                <a:solidFill>
                  <a:srgbClr val="142B48"/>
                </a:solidFill>
                <a:latin typeface="Aptos"/>
              </a:defRPr>
            </a:pPr>
            <a:r>
              <a:t>15 Feb 2011 → 31 Mar 2011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47104"/>
            <a:ext cx="11183112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787"/>
                </a:solidFill>
                <a:latin typeface="Aptos"/>
              </a:defRPr>
            </a:pPr>
            <a:r>
              <a:t>Bike Rentals Analytics | Dashboard &amp; Dataset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6539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78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Findings &amp; Business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E1F0"/>
                </a:solidFill>
                <a:latin typeface="Aptos"/>
              </a:defRPr>
            </a:pPr>
            <a:r>
              <a:t>What decision-makers should take away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43000"/>
            <a:ext cx="438912" cy="438912"/>
          </a:xfrm>
          <a:prstGeom prst="ellipse">
            <a:avLst/>
          </a:prstGeom>
          <a:solidFill>
            <a:srgbClr val="1E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225296"/>
            <a:ext cx="438912" cy="1828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124712"/>
            <a:ext cx="393192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400" b="1">
                <a:solidFill>
                  <a:srgbClr val="142B48"/>
                </a:solidFill>
                <a:latin typeface="Aptos"/>
              </a:defRPr>
            </a:pPr>
            <a:r>
              <a:t>Demand is strongly time-patterned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124712"/>
            <a:ext cx="6126480" cy="502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0">
                <a:solidFill>
                  <a:srgbClr val="222B36"/>
                </a:solidFill>
                <a:latin typeface="Aptos"/>
              </a:defRPr>
            </a:pPr>
            <a:r>
              <a:t>Use peak-hour insights to align bike availability, maintenance and staffing.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438912" cy="438912"/>
          </a:xfrm>
          <a:prstGeom prst="ellipse">
            <a:avLst/>
          </a:prstGeom>
          <a:solidFill>
            <a:srgbClr val="1E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85415"/>
            <a:ext cx="438912" cy="1828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084831"/>
            <a:ext cx="393192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400" b="1">
                <a:solidFill>
                  <a:srgbClr val="142B48"/>
                </a:solidFill>
                <a:latin typeface="Aptos"/>
              </a:defRPr>
            </a:pPr>
            <a:r>
              <a:t>Registered riders dominate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084831"/>
            <a:ext cx="6126480" cy="502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0">
                <a:solidFill>
                  <a:srgbClr val="222B36"/>
                </a:solidFill>
                <a:latin typeface="Aptos"/>
              </a:defRPr>
            </a:pPr>
            <a:r>
              <a:t>Retention and subscription-style strategies are likely more important than purely casual acquisition.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063240"/>
            <a:ext cx="438912" cy="438912"/>
          </a:xfrm>
          <a:prstGeom prst="ellipse">
            <a:avLst/>
          </a:prstGeom>
          <a:solidFill>
            <a:srgbClr val="1E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45536"/>
            <a:ext cx="438912" cy="1828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044952"/>
            <a:ext cx="393192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400" b="1">
                <a:solidFill>
                  <a:srgbClr val="142B48"/>
                </a:solidFill>
                <a:latin typeface="Aptos"/>
              </a:defRPr>
            </a:pPr>
            <a:r>
              <a:t>Weekdays outperform weekends on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044952"/>
            <a:ext cx="6126480" cy="502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0">
                <a:solidFill>
                  <a:srgbClr val="222B36"/>
                </a:solidFill>
                <a:latin typeface="Aptos"/>
              </a:defRPr>
            </a:pPr>
            <a:r>
              <a:t>Weekday commuting patterns create a stronger base-demand signal.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023360"/>
            <a:ext cx="438912" cy="438912"/>
          </a:xfrm>
          <a:prstGeom prst="ellipse">
            <a:avLst/>
          </a:prstGeom>
          <a:solidFill>
            <a:srgbClr val="1E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105656"/>
            <a:ext cx="438912" cy="1828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05072"/>
            <a:ext cx="393192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400" b="1">
                <a:solidFill>
                  <a:srgbClr val="142B48"/>
                </a:solidFill>
                <a:latin typeface="Aptos"/>
              </a:defRPr>
            </a:pPr>
            <a:r>
              <a:t>Weather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005072"/>
            <a:ext cx="6126480" cy="502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0">
                <a:solidFill>
                  <a:srgbClr val="222B36"/>
                </a:solidFill>
                <a:latin typeface="Aptos"/>
              </a:defRPr>
            </a:pPr>
            <a:r>
              <a:t>Adverse weather coincides with lower average demand; operational planning should account for risk conditions.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983480"/>
            <a:ext cx="438912" cy="438912"/>
          </a:xfrm>
          <a:prstGeom prst="ellipse">
            <a:avLst/>
          </a:prstGeom>
          <a:solidFill>
            <a:srgbClr val="1E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065776"/>
            <a:ext cx="438912" cy="1828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965192"/>
            <a:ext cx="393192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400" b="1">
                <a:solidFill>
                  <a:srgbClr val="142B48"/>
                </a:solidFill>
                <a:latin typeface="Aptos"/>
              </a:defRPr>
            </a:pPr>
            <a:r>
              <a:t>Analytics can move beyond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965192"/>
            <a:ext cx="6126480" cy="502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defRPr sz="1100" b="0">
                <a:solidFill>
                  <a:srgbClr val="222B36"/>
                </a:solidFill>
                <a:latin typeface="Aptos"/>
              </a:defRPr>
            </a:pPr>
            <a:r>
              <a:t>Anomaly detection and forecasting turn the dashboard into a planning tool.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897880"/>
            <a:ext cx="10789920" cy="438912"/>
          </a:xfrm>
          <a:prstGeom prst="roundRect">
            <a:avLst/>
          </a:prstGeom>
          <a:solidFill>
            <a:srgbClr val="E4F6F4"/>
          </a:solidFill>
          <a:ln>
            <a:solidFill>
              <a:srgbClr val="BE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6007608"/>
            <a:ext cx="10332720" cy="1828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100" b="1">
                <a:solidFill>
                  <a:srgbClr val="219691"/>
                </a:solidFill>
                <a:latin typeface="Aptos"/>
              </a:defRPr>
            </a:pPr>
            <a:r>
              <a:t>Overall: the workbook provides a complete analytics workflow from source data → dashboard → diagnostics → forecast.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47104"/>
            <a:ext cx="11183112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787"/>
                </a:solidFill>
                <a:latin typeface="Aptos"/>
              </a:defRPr>
            </a:pPr>
            <a:r>
              <a:t>Bike Rentals Analytics | Dashboard &amp; Dataset 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6539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787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607040" cy="594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65960"/>
            <a:ext cx="9418320" cy="640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2200" b="0">
                <a:solidFill>
                  <a:srgbClr val="BDD8EA"/>
                </a:solidFill>
                <a:latin typeface="Aptos"/>
              </a:defRPr>
            </a:pPr>
            <a:r>
              <a:t>Bike Rentals Dashboard &amp; Dataset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71800"/>
            <a:ext cx="8503920" cy="9144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The workbook connects descriptive analytics, visual exploration, anomaly detection and forecasting into one decision-support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166360"/>
            <a:ext cx="667512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0">
                <a:solidFill>
                  <a:srgbClr val="B1C2D3"/>
                </a:solidFill>
                <a:latin typeface="Aptos"/>
              </a:defRPr>
            </a:pPr>
            <a:r>
              <a:rPr dirty="0"/>
              <a:t>Source: Final_DataSet.xlsx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1CC3F-2816-21C8-8997-6D1658118B83}"/>
              </a:ext>
            </a:extLst>
          </p:cNvPr>
          <p:cNvSpPr txBox="1"/>
          <p:nvPr/>
        </p:nvSpPr>
        <p:spPr>
          <a:xfrm>
            <a:off x="6675120" y="6012180"/>
            <a:ext cx="6675120" cy="5232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0">
                <a:solidFill>
                  <a:srgbClr val="B1C2D3"/>
                </a:solidFill>
                <a:latin typeface="Aptos"/>
              </a:defRPr>
            </a:pPr>
            <a:r>
              <a:rPr lang="en-IN" sz="1400" b="1" dirty="0"/>
              <a:t>Presented to:</a:t>
            </a:r>
          </a:p>
          <a:p>
            <a:pPr algn="ctr">
              <a:defRPr sz="1000" b="0">
                <a:solidFill>
                  <a:srgbClr val="B1C2D3"/>
                </a:solidFill>
                <a:latin typeface="Aptos"/>
              </a:defRPr>
            </a:pPr>
            <a:r>
              <a:rPr lang="en-IN" sz="1400" b="1" dirty="0"/>
              <a:t>NEXTHIKES IT SOLUTIONS</a:t>
            </a:r>
            <a:endParaRPr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587A19-3E66-1D0C-246C-847CB29B557A}"/>
              </a:ext>
            </a:extLst>
          </p:cNvPr>
          <p:cNvSpPr txBox="1"/>
          <p:nvPr/>
        </p:nvSpPr>
        <p:spPr>
          <a:xfrm>
            <a:off x="-1714196" y="6027420"/>
            <a:ext cx="6675120" cy="5232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000" b="0">
                <a:solidFill>
                  <a:srgbClr val="B1C2D3"/>
                </a:solidFill>
                <a:latin typeface="Aptos"/>
              </a:defRPr>
            </a:pPr>
            <a:r>
              <a:rPr lang="en-IN" sz="1400" b="1" dirty="0"/>
              <a:t>Presented by:</a:t>
            </a:r>
          </a:p>
          <a:p>
            <a:pPr algn="ctr">
              <a:defRPr sz="1000" b="0">
                <a:solidFill>
                  <a:srgbClr val="B1C2D3"/>
                </a:solidFill>
                <a:latin typeface="Aptos"/>
              </a:defRPr>
            </a:pPr>
            <a:r>
              <a:rPr lang="en-IN" sz="1400" b="1" dirty="0"/>
              <a:t>Arpit Vats</a:t>
            </a:r>
            <a:endParaRPr sz="1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1069</Words>
  <Application>Microsoft Office PowerPoint</Application>
  <PresentationFormat>Widescreen</PresentationFormat>
  <Paragraphs>221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Arpit Vats</dc:creator>
  <cp:keywords/>
  <dc:description>generated using python-pptx</dc:description>
  <cp:lastModifiedBy>Arpit Vats</cp:lastModifiedBy>
  <cp:revision>2</cp:revision>
  <dcterms:created xsi:type="dcterms:W3CDTF">2013-01-27T09:14:16Z</dcterms:created>
  <dcterms:modified xsi:type="dcterms:W3CDTF">2026-10-05T11:27:23Z</dcterms:modified>
  <cp:category/>
</cp:coreProperties>
</file>