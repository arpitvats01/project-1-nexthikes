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6858000" cy="9144000"/>
  <p:embeddedFontLst>
    <p:embeddedFont>
      <p:font typeface="Calibri (MS)" panose="020B0604020202020204" charset="0"/>
      <p:regular r:id="rId21"/>
    </p:embeddedFont>
    <p:embeddedFont>
      <p:font typeface="Calibri (MS) Bold" panose="020B0604020202020204" charset="0"/>
      <p:regular r:id="rId22"/>
    </p:embeddedFont>
    <p:embeddedFont>
      <p:font typeface="Cambria Bold" panose="02040803050406030204" pitchFamily="18" charset="0"/>
      <p:bold r:id="rId23"/>
    </p:embeddedFont>
    <p:embeddedFont>
      <p:font typeface="Canva Sans Bold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940" y="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09.10.2026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Opening: this deck turns the Excel dashboard into a story about when, why and who rents bikes.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Each objective maps to one or more dashboard views.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From cleaning to forecasting, all inside one workbook.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 dataset logs every rental hour with weather, holiday and customer type.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Headline numbers from the KPI block of the dashboard.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Doughnut chart from the dashboard: registered versus casual.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Line chart of total customers per day.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Average customers by hour of day.</a:t>
            </a:r>
          </a:p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Weekday average 63.3 versus weekend 48.1 rentals per hour.</a:t>
            </a:r>
          </a:p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Heatmap of average rentals by time block and weekday.</a:t>
            </a:r>
          </a:p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Average customers by weather alert level. Red Alert has one record only.</a:t>
            </a:r>
          </a:p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Correlation of each weather variable with total customers.</a:t>
            </a:r>
          </a:p>
          <a:p>
            <a:r>
              <a:rPr lang="en-US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Holiday versus non-holiday averages.</a:t>
            </a:r>
          </a:p>
          <a:p>
            <a:r>
              <a:rPr lang="en-US"/>
              <a:t>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IQR and standard deviation limits from the anomaly sheet.</a:t>
            </a:r>
          </a:p>
          <a:p>
            <a:r>
              <a:rPr lang="en-US"/>
              <a:t>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Excel forecast sheet: average rentals per hour, 15 Feb to 31 Mar 2011.</a:t>
            </a:r>
          </a:p>
          <a:p>
            <a:r>
              <a:rPr lang="en-US"/>
              <a:t>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Summarise: who rides, when, and what moves demand.</a:t>
            </a:r>
          </a:p>
          <a:p>
            <a:r>
              <a:rPr lang="en-US"/>
              <a:t>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Each action follows directly from a finding.</a:t>
            </a:r>
          </a:p>
          <a:p>
            <a:r>
              <a:rPr lang="en-US"/>
              <a:t>18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Close and open the floor for questions.</a:t>
            </a:r>
          </a:p>
          <a:p>
            <a:r>
              <a:rPr lang="en-US"/>
              <a:t>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524914" y="2171700"/>
            <a:ext cx="7411099" cy="7299933"/>
          </a:xfrm>
          <a:custGeom>
            <a:avLst/>
            <a:gdLst/>
            <a:ahLst/>
            <a:cxnLst/>
            <a:rect l="l" t="t" r="r" b="b"/>
            <a:pathLst>
              <a:path w="7411099" h="7299933">
                <a:moveTo>
                  <a:pt x="0" y="0"/>
                </a:moveTo>
                <a:lnTo>
                  <a:pt x="7411100" y="0"/>
                </a:lnTo>
                <a:lnTo>
                  <a:pt x="7411100" y="7299933"/>
                </a:lnTo>
                <a:lnTo>
                  <a:pt x="0" y="72999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019175"/>
            <a:ext cx="9496214" cy="115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7500" b="1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Bike Rentals Analysis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213109"/>
            <a:ext cx="9961883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20"/>
              </a:lnSpc>
            </a:pPr>
            <a:r>
              <a:rPr lang="en-US" sz="4100" b="1">
                <a:solidFill>
                  <a:srgbClr val="C4553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Project: NEXTHIKES IT SOLUTIONS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4870459"/>
            <a:ext cx="9961883" cy="590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1">
                <a:solidFill>
                  <a:srgbClr val="C4553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Presented by: Arpit Vats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7111472"/>
            <a:ext cx="11360946" cy="1047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9"/>
              </a:lnSpc>
              <a:spcBef>
                <a:spcPct val="0"/>
              </a:spcBef>
            </a:pPr>
            <a:r>
              <a:rPr lang="en-US" sz="319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professional walkthrough of the workbook structure, KPIs, visual analytics, anomaly detection and forecasting.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60120" y="2674620"/>
            <a:ext cx="3840480" cy="5897880"/>
            <a:chOff x="0" y="0"/>
            <a:chExt cx="5120640" cy="7863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20640" cy="7863840"/>
            </a:xfrm>
            <a:custGeom>
              <a:avLst/>
              <a:gdLst/>
              <a:ahLst/>
              <a:cxnLst/>
              <a:rect l="l" t="t" r="r" b="b"/>
              <a:pathLst>
                <a:path w="5120640" h="78638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974336" y="0"/>
                  </a:lnTo>
                  <a:cubicBezTo>
                    <a:pt x="5055108" y="0"/>
                    <a:pt x="5120640" y="65532"/>
                    <a:pt x="5120640" y="146304"/>
                  </a:cubicBezTo>
                  <a:lnTo>
                    <a:pt x="5120640" y="7717536"/>
                  </a:lnTo>
                  <a:cubicBezTo>
                    <a:pt x="5120640" y="7798308"/>
                    <a:pt x="5055108" y="7863840"/>
                    <a:pt x="4974336" y="7863840"/>
                  </a:cubicBezTo>
                  <a:lnTo>
                    <a:pt x="146304" y="7863840"/>
                  </a:lnTo>
                  <a:cubicBezTo>
                    <a:pt x="65532" y="7863840"/>
                    <a:pt x="0" y="7798308"/>
                    <a:pt x="0" y="7717536"/>
                  </a:cubicBezTo>
                  <a:close/>
                </a:path>
              </a:pathLst>
            </a:custGeom>
            <a:solidFill>
              <a:srgbClr val="54454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371600" y="3154680"/>
            <a:ext cx="1165860" cy="1165860"/>
            <a:chOff x="0" y="0"/>
            <a:chExt cx="1554480" cy="155448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54480" cy="1554480"/>
            </a:xfrm>
            <a:custGeom>
              <a:avLst/>
              <a:gdLst/>
              <a:ahLst/>
              <a:cxnLst/>
              <a:rect l="l" t="t" r="r" b="b"/>
              <a:pathLst>
                <a:path w="1554480" h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C2B19C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645920" y="3429000"/>
            <a:ext cx="617220" cy="617220"/>
            <a:chOff x="0" y="0"/>
            <a:chExt cx="822960" cy="822960"/>
          </a:xfrm>
        </p:grpSpPr>
        <p:sp>
          <p:nvSpPr>
            <p:cNvPr id="7" name="Freeform 7" descr="Objective icon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60" h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3154680" y="3223260"/>
            <a:ext cx="1234440" cy="960120"/>
            <a:chOff x="0" y="0"/>
            <a:chExt cx="1645920" cy="12801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45920" cy="1280160"/>
            </a:xfrm>
            <a:custGeom>
              <a:avLst/>
              <a:gdLst/>
              <a:ahLst/>
              <a:cxnLst/>
              <a:rect l="l" t="t" r="r" b="b"/>
              <a:pathLst>
                <a:path w="1645920" h="1280160">
                  <a:moveTo>
                    <a:pt x="0" y="0"/>
                  </a:moveTo>
                  <a:lnTo>
                    <a:pt x="1645920" y="0"/>
                  </a:lnTo>
                  <a:lnTo>
                    <a:pt x="16459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9791" r="-49791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645920" cy="12896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5759"/>
                </a:lnSpc>
              </a:pPr>
              <a:r>
                <a:rPr lang="en-US" sz="4800" b="1">
                  <a:solidFill>
                    <a:srgbClr val="B8B8B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01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157216" y="2674620"/>
            <a:ext cx="3840480" cy="5897880"/>
            <a:chOff x="0" y="0"/>
            <a:chExt cx="5120640" cy="78638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120640" cy="7863840"/>
            </a:xfrm>
            <a:custGeom>
              <a:avLst/>
              <a:gdLst/>
              <a:ahLst/>
              <a:cxnLst/>
              <a:rect l="l" t="t" r="r" b="b"/>
              <a:pathLst>
                <a:path w="5120640" h="78638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974336" y="0"/>
                  </a:lnTo>
                  <a:cubicBezTo>
                    <a:pt x="5055108" y="0"/>
                    <a:pt x="5120640" y="65532"/>
                    <a:pt x="5120640" y="146304"/>
                  </a:cubicBezTo>
                  <a:lnTo>
                    <a:pt x="5120640" y="7717536"/>
                  </a:lnTo>
                  <a:cubicBezTo>
                    <a:pt x="5120640" y="7798308"/>
                    <a:pt x="5055108" y="7863840"/>
                    <a:pt x="4974336" y="7863840"/>
                  </a:cubicBezTo>
                  <a:lnTo>
                    <a:pt x="146304" y="7863840"/>
                  </a:lnTo>
                  <a:cubicBezTo>
                    <a:pt x="65532" y="7863840"/>
                    <a:pt x="0" y="7798308"/>
                    <a:pt x="0" y="7717536"/>
                  </a:cubicBezTo>
                  <a:close/>
                </a:path>
              </a:pathLst>
            </a:custGeom>
            <a:solidFill>
              <a:srgbClr val="544541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5568696" y="3154680"/>
            <a:ext cx="1165860" cy="1165860"/>
            <a:chOff x="0" y="0"/>
            <a:chExt cx="1554480" cy="155448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554480" cy="1554480"/>
            </a:xfrm>
            <a:custGeom>
              <a:avLst/>
              <a:gdLst/>
              <a:ahLst/>
              <a:cxnLst/>
              <a:rect l="l" t="t" r="r" b="b"/>
              <a:pathLst>
                <a:path w="1554480" h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C2B19C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5843016" y="3429000"/>
            <a:ext cx="617220" cy="617220"/>
            <a:chOff x="0" y="0"/>
            <a:chExt cx="822960" cy="822960"/>
          </a:xfrm>
        </p:grpSpPr>
        <p:sp>
          <p:nvSpPr>
            <p:cNvPr id="16" name="Freeform 16" descr="Objective icon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60" h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7351776" y="3223260"/>
            <a:ext cx="1234440" cy="960120"/>
            <a:chOff x="0" y="0"/>
            <a:chExt cx="1645920" cy="128016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645920" cy="1280160"/>
            </a:xfrm>
            <a:custGeom>
              <a:avLst/>
              <a:gdLst/>
              <a:ahLst/>
              <a:cxnLst/>
              <a:rect l="l" t="t" r="r" b="b"/>
              <a:pathLst>
                <a:path w="1645920" h="1280160">
                  <a:moveTo>
                    <a:pt x="0" y="0"/>
                  </a:moveTo>
                  <a:lnTo>
                    <a:pt x="1645920" y="0"/>
                  </a:lnTo>
                  <a:lnTo>
                    <a:pt x="16459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9791" r="-49791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1645920" cy="12896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5759"/>
                </a:lnSpc>
              </a:pPr>
              <a:r>
                <a:rPr lang="en-US" sz="4800" b="1">
                  <a:solidFill>
                    <a:srgbClr val="B8B8B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354312" y="2674620"/>
            <a:ext cx="3840480" cy="5897880"/>
            <a:chOff x="0" y="0"/>
            <a:chExt cx="5120640" cy="786384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120640" cy="7863840"/>
            </a:xfrm>
            <a:custGeom>
              <a:avLst/>
              <a:gdLst/>
              <a:ahLst/>
              <a:cxnLst/>
              <a:rect l="l" t="t" r="r" b="b"/>
              <a:pathLst>
                <a:path w="5120640" h="78638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974336" y="0"/>
                  </a:lnTo>
                  <a:cubicBezTo>
                    <a:pt x="5055108" y="0"/>
                    <a:pt x="5120640" y="65532"/>
                    <a:pt x="5120640" y="146304"/>
                  </a:cubicBezTo>
                  <a:lnTo>
                    <a:pt x="5120640" y="7717536"/>
                  </a:lnTo>
                  <a:cubicBezTo>
                    <a:pt x="5120640" y="7798308"/>
                    <a:pt x="5055108" y="7863840"/>
                    <a:pt x="4974336" y="7863840"/>
                  </a:cubicBezTo>
                  <a:lnTo>
                    <a:pt x="146304" y="7863840"/>
                  </a:lnTo>
                  <a:cubicBezTo>
                    <a:pt x="65532" y="7863840"/>
                    <a:pt x="0" y="7798308"/>
                    <a:pt x="0" y="7717536"/>
                  </a:cubicBezTo>
                  <a:close/>
                </a:path>
              </a:pathLst>
            </a:custGeom>
            <a:solidFill>
              <a:srgbClr val="544541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9765792" y="3154680"/>
            <a:ext cx="1165860" cy="1165860"/>
            <a:chOff x="0" y="0"/>
            <a:chExt cx="1554480" cy="155448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554480" cy="1554480"/>
            </a:xfrm>
            <a:custGeom>
              <a:avLst/>
              <a:gdLst/>
              <a:ahLst/>
              <a:cxnLst/>
              <a:rect l="l" t="t" r="r" b="b"/>
              <a:pathLst>
                <a:path w="1554480" h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C2B19C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0040112" y="3429000"/>
            <a:ext cx="617220" cy="617220"/>
            <a:chOff x="0" y="0"/>
            <a:chExt cx="822960" cy="822960"/>
          </a:xfrm>
        </p:grpSpPr>
        <p:sp>
          <p:nvSpPr>
            <p:cNvPr id="25" name="Freeform 25" descr="Objective icon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60" h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26" name="Group 26"/>
          <p:cNvGrpSpPr/>
          <p:nvPr/>
        </p:nvGrpSpPr>
        <p:grpSpPr>
          <a:xfrm>
            <a:off x="11548872" y="3223260"/>
            <a:ext cx="1234440" cy="960120"/>
            <a:chOff x="0" y="0"/>
            <a:chExt cx="1645920" cy="128016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645920" cy="1280160"/>
            </a:xfrm>
            <a:custGeom>
              <a:avLst/>
              <a:gdLst/>
              <a:ahLst/>
              <a:cxnLst/>
              <a:rect l="l" t="t" r="r" b="b"/>
              <a:pathLst>
                <a:path w="1645920" h="1280160">
                  <a:moveTo>
                    <a:pt x="0" y="0"/>
                  </a:moveTo>
                  <a:lnTo>
                    <a:pt x="1645920" y="0"/>
                  </a:lnTo>
                  <a:lnTo>
                    <a:pt x="16459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9791" r="-49791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9525"/>
              <a:ext cx="1645920" cy="12896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5759"/>
                </a:lnSpc>
              </a:pPr>
              <a:r>
                <a:rPr lang="en-US" sz="4800" b="1">
                  <a:solidFill>
                    <a:srgbClr val="B8B8B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03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3551408" y="2674620"/>
            <a:ext cx="3840480" cy="5897880"/>
            <a:chOff x="0" y="0"/>
            <a:chExt cx="5120640" cy="786384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120640" cy="7863840"/>
            </a:xfrm>
            <a:custGeom>
              <a:avLst/>
              <a:gdLst/>
              <a:ahLst/>
              <a:cxnLst/>
              <a:rect l="l" t="t" r="r" b="b"/>
              <a:pathLst>
                <a:path w="5120640" h="78638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974336" y="0"/>
                  </a:lnTo>
                  <a:cubicBezTo>
                    <a:pt x="5055108" y="0"/>
                    <a:pt x="5120640" y="65532"/>
                    <a:pt x="5120640" y="146304"/>
                  </a:cubicBezTo>
                  <a:lnTo>
                    <a:pt x="5120640" y="7717536"/>
                  </a:lnTo>
                  <a:cubicBezTo>
                    <a:pt x="5120640" y="7798308"/>
                    <a:pt x="5055108" y="7863840"/>
                    <a:pt x="4974336" y="7863840"/>
                  </a:cubicBezTo>
                  <a:lnTo>
                    <a:pt x="146304" y="7863840"/>
                  </a:lnTo>
                  <a:cubicBezTo>
                    <a:pt x="65532" y="7863840"/>
                    <a:pt x="0" y="7798308"/>
                    <a:pt x="0" y="7717536"/>
                  </a:cubicBezTo>
                  <a:close/>
                </a:path>
              </a:pathLst>
            </a:custGeom>
            <a:solidFill>
              <a:srgbClr val="544541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13962888" y="3154680"/>
            <a:ext cx="1165860" cy="1165860"/>
            <a:chOff x="0" y="0"/>
            <a:chExt cx="1554480" cy="155448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554480" cy="1554480"/>
            </a:xfrm>
            <a:custGeom>
              <a:avLst/>
              <a:gdLst/>
              <a:ahLst/>
              <a:cxnLst/>
              <a:rect l="l" t="t" r="r" b="b"/>
              <a:pathLst>
                <a:path w="1554480" h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C2B19C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14237208" y="3429000"/>
            <a:ext cx="617220" cy="617220"/>
            <a:chOff x="0" y="0"/>
            <a:chExt cx="822960" cy="822960"/>
          </a:xfrm>
        </p:grpSpPr>
        <p:sp>
          <p:nvSpPr>
            <p:cNvPr id="34" name="Freeform 34" descr="Objective icon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60" h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35" name="Group 35"/>
          <p:cNvGrpSpPr/>
          <p:nvPr/>
        </p:nvGrpSpPr>
        <p:grpSpPr>
          <a:xfrm>
            <a:off x="15745968" y="3223260"/>
            <a:ext cx="1234440" cy="960120"/>
            <a:chOff x="0" y="0"/>
            <a:chExt cx="1645920" cy="128016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645920" cy="1280160"/>
            </a:xfrm>
            <a:custGeom>
              <a:avLst/>
              <a:gdLst/>
              <a:ahLst/>
              <a:cxnLst/>
              <a:rect l="l" t="t" r="r" b="b"/>
              <a:pathLst>
                <a:path w="1645920" h="1280160">
                  <a:moveTo>
                    <a:pt x="0" y="0"/>
                  </a:moveTo>
                  <a:lnTo>
                    <a:pt x="1645920" y="0"/>
                  </a:lnTo>
                  <a:lnTo>
                    <a:pt x="16459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9791" r="-49791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9525"/>
              <a:ext cx="1645920" cy="12896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5759"/>
                </a:lnSpc>
              </a:pPr>
              <a:r>
                <a:rPr lang="en-US" sz="4800" b="1">
                  <a:solidFill>
                    <a:srgbClr val="B8B8B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04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0" y="25360"/>
            <a:ext cx="18287001" cy="1244847"/>
            <a:chOff x="0" y="0"/>
            <a:chExt cx="31357471" cy="2134591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31357472" cy="2134591"/>
            </a:xfrm>
            <a:custGeom>
              <a:avLst/>
              <a:gdLst/>
              <a:ahLst/>
              <a:cxnLst/>
              <a:rect l="l" t="t" r="r" b="b"/>
              <a:pathLst>
                <a:path w="31357472" h="2134591">
                  <a:moveTo>
                    <a:pt x="0" y="81318"/>
                  </a:moveTo>
                  <a:cubicBezTo>
                    <a:pt x="0" y="36424"/>
                    <a:pt x="299638" y="0"/>
                    <a:pt x="668959" y="0"/>
                  </a:cubicBezTo>
                  <a:lnTo>
                    <a:pt x="30688511" y="0"/>
                  </a:lnTo>
                  <a:cubicBezTo>
                    <a:pt x="31057834" y="0"/>
                    <a:pt x="31357472" y="36424"/>
                    <a:pt x="31357472" y="81318"/>
                  </a:cubicBezTo>
                  <a:lnTo>
                    <a:pt x="31357472" y="2053273"/>
                  </a:lnTo>
                  <a:cubicBezTo>
                    <a:pt x="31357472" y="2098167"/>
                    <a:pt x="31057834" y="2134591"/>
                    <a:pt x="30688511" y="2134591"/>
                  </a:cubicBezTo>
                  <a:lnTo>
                    <a:pt x="668959" y="2134591"/>
                  </a:lnTo>
                  <a:cubicBezTo>
                    <a:pt x="299638" y="2134591"/>
                    <a:pt x="0" y="2098167"/>
                    <a:pt x="0" y="2053273"/>
                  </a:cubicBezTo>
                  <a:close/>
                </a:path>
              </a:pathLst>
            </a:custGeom>
            <a:solidFill>
              <a:srgbClr val="C2B19C"/>
            </a:solidFill>
          </p:spPr>
        </p:sp>
      </p:grpSp>
      <p:sp>
        <p:nvSpPr>
          <p:cNvPr id="40" name="TextBox 40"/>
          <p:cNvSpPr txBox="1"/>
          <p:nvPr/>
        </p:nvSpPr>
        <p:spPr>
          <a:xfrm>
            <a:off x="896112" y="271564"/>
            <a:ext cx="16363188" cy="752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99"/>
              </a:lnSpc>
            </a:pPr>
            <a:r>
              <a:rPr lang="en-US" sz="4999" b="1">
                <a:solidFill>
                  <a:srgbClr val="262626"/>
                </a:solidFill>
                <a:latin typeface="Cambria Bold"/>
                <a:ea typeface="Cambria Bold"/>
                <a:cs typeface="Cambria Bold"/>
                <a:sym typeface="Cambria Bold"/>
              </a:rPr>
              <a:t>Objectives of Project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371600" y="4712970"/>
            <a:ext cx="3154680" cy="1253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Understand demand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371600" y="5977890"/>
            <a:ext cx="3154680" cy="2388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FFF6EA"/>
                </a:solidFill>
                <a:latin typeface="Calibri (MS)"/>
                <a:ea typeface="Calibri (MS)"/>
                <a:cs typeface="Calibri (MS)"/>
                <a:sym typeface="Calibri (MS)"/>
              </a:rPr>
              <a:t>Measure total, average and peak rentals across hours, days and weeks.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568696" y="4712970"/>
            <a:ext cx="3154680" cy="1253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Segment customers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568696" y="5977890"/>
            <a:ext cx="3154680" cy="2388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FFF6EA"/>
                </a:solidFill>
                <a:latin typeface="Calibri (MS)"/>
                <a:ea typeface="Calibri (MS)"/>
                <a:cs typeface="Calibri (MS)"/>
                <a:sym typeface="Calibri (MS)"/>
              </a:rPr>
              <a:t>Compare casual and registered riders and how their behaviour differs.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765792" y="4712970"/>
            <a:ext cx="3154680" cy="1253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Explain the drivers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765792" y="5977890"/>
            <a:ext cx="3154680" cy="2388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FFF6EA"/>
                </a:solidFill>
                <a:latin typeface="Calibri (MS)"/>
                <a:ea typeface="Calibri (MS)"/>
                <a:cs typeface="Calibri (MS)"/>
                <a:sym typeface="Calibri (MS)"/>
              </a:rPr>
              <a:t>Test the effect of weather, holidays and time of day on rentals.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3962888" y="4712970"/>
            <a:ext cx="3154680" cy="1253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Detect and predict</a:t>
            </a:r>
          </a:p>
        </p:txBody>
      </p:sp>
      <p:sp>
        <p:nvSpPr>
          <p:cNvPr id="48" name="Freeform 48"/>
          <p:cNvSpPr/>
          <p:nvPr/>
        </p:nvSpPr>
        <p:spPr>
          <a:xfrm>
            <a:off x="12456124" y="113833"/>
            <a:ext cx="1095284" cy="1067902"/>
          </a:xfrm>
          <a:custGeom>
            <a:avLst/>
            <a:gdLst/>
            <a:ahLst/>
            <a:cxnLst/>
            <a:rect l="l" t="t" r="r" b="b"/>
            <a:pathLst>
              <a:path w="1095284" h="1067902">
                <a:moveTo>
                  <a:pt x="0" y="0"/>
                </a:moveTo>
                <a:lnTo>
                  <a:pt x="1095284" y="0"/>
                </a:lnTo>
                <a:lnTo>
                  <a:pt x="1095284" y="1067901"/>
                </a:lnTo>
                <a:lnTo>
                  <a:pt x="0" y="10679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9" name="TextBox 49"/>
          <p:cNvSpPr txBox="1"/>
          <p:nvPr/>
        </p:nvSpPr>
        <p:spPr>
          <a:xfrm>
            <a:off x="13962888" y="5977890"/>
            <a:ext cx="3154680" cy="2388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FFF6EA"/>
                </a:solidFill>
                <a:latin typeface="Calibri (MS)"/>
                <a:ea typeface="Calibri (MS)"/>
                <a:cs typeface="Calibri (MS)"/>
                <a:sym typeface="Calibri (MS)"/>
              </a:rPr>
              <a:t>Flag unusual hours and forecast demand through 31 March 2011.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6550640" y="9581388"/>
            <a:ext cx="681228" cy="358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FFF6EA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6703040" y="9733788"/>
            <a:ext cx="681228" cy="266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b="1">
                <a:solidFill>
                  <a:srgbClr val="5E5E5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59173" y="9619488"/>
            <a:ext cx="12344400" cy="678122"/>
            <a:chOff x="0" y="0"/>
            <a:chExt cx="16459200" cy="904163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6459200" cy="904163"/>
            </a:xfrm>
            <a:custGeom>
              <a:avLst/>
              <a:gdLst/>
              <a:ahLst/>
              <a:cxnLst/>
              <a:rect l="l" t="t" r="r" b="b"/>
              <a:pathLst>
                <a:path w="16459200" h="904163">
                  <a:moveTo>
                    <a:pt x="0" y="0"/>
                  </a:moveTo>
                  <a:lnTo>
                    <a:pt x="16459200" y="0"/>
                  </a:lnTo>
                  <a:lnTo>
                    <a:pt x="16459200" y="904163"/>
                  </a:lnTo>
                  <a:lnTo>
                    <a:pt x="0" y="90416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24362" b="-285041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-28575"/>
              <a:ext cx="16459200" cy="9327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449">
                  <a:solidFill>
                    <a:srgbClr val="C455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OBJECTIVES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436281" y="1312134"/>
            <a:ext cx="9148292" cy="8873843"/>
          </a:xfrm>
          <a:custGeom>
            <a:avLst/>
            <a:gdLst/>
            <a:ahLst/>
            <a:cxnLst/>
            <a:rect l="l" t="t" r="r" b="b"/>
            <a:pathLst>
              <a:path w="9148292" h="8873843">
                <a:moveTo>
                  <a:pt x="0" y="0"/>
                </a:moveTo>
                <a:lnTo>
                  <a:pt x="9148292" y="0"/>
                </a:lnTo>
                <a:lnTo>
                  <a:pt x="9148292" y="8873843"/>
                </a:lnTo>
                <a:lnTo>
                  <a:pt x="0" y="88738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60120" y="9573768"/>
            <a:ext cx="8229600" cy="411480"/>
            <a:chOff x="0" y="0"/>
            <a:chExt cx="10972800" cy="5486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972800" cy="548640"/>
            </a:xfrm>
            <a:custGeom>
              <a:avLst/>
              <a:gdLst/>
              <a:ahLst/>
              <a:cxnLst/>
              <a:rect l="l" t="t" r="r" b="b"/>
              <a:pathLst>
                <a:path w="10972800" h="54864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FF6E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Bike Rentals Analysis  |  Jan–Feb 2011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9173" y="-62729"/>
            <a:ext cx="18287001" cy="1244847"/>
            <a:chOff x="0" y="0"/>
            <a:chExt cx="31357471" cy="213459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1357472" cy="2134591"/>
            </a:xfrm>
            <a:custGeom>
              <a:avLst/>
              <a:gdLst/>
              <a:ahLst/>
              <a:cxnLst/>
              <a:rect l="l" t="t" r="r" b="b"/>
              <a:pathLst>
                <a:path w="31357472" h="2134591">
                  <a:moveTo>
                    <a:pt x="0" y="81318"/>
                  </a:moveTo>
                  <a:cubicBezTo>
                    <a:pt x="0" y="36424"/>
                    <a:pt x="299638" y="0"/>
                    <a:pt x="668959" y="0"/>
                  </a:cubicBezTo>
                  <a:lnTo>
                    <a:pt x="30688511" y="0"/>
                  </a:lnTo>
                  <a:cubicBezTo>
                    <a:pt x="31057834" y="0"/>
                    <a:pt x="31357472" y="36424"/>
                    <a:pt x="31357472" y="81318"/>
                  </a:cubicBezTo>
                  <a:lnTo>
                    <a:pt x="31357472" y="2053273"/>
                  </a:lnTo>
                  <a:cubicBezTo>
                    <a:pt x="31357472" y="2098167"/>
                    <a:pt x="31057834" y="2134591"/>
                    <a:pt x="30688511" y="2134591"/>
                  </a:cubicBezTo>
                  <a:lnTo>
                    <a:pt x="668959" y="2134591"/>
                  </a:lnTo>
                  <a:cubicBezTo>
                    <a:pt x="299638" y="2134591"/>
                    <a:pt x="0" y="2098167"/>
                    <a:pt x="0" y="2053273"/>
                  </a:cubicBezTo>
                  <a:close/>
                </a:path>
              </a:pathLst>
            </a:custGeom>
            <a:solidFill>
              <a:srgbClr val="C2B19C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59173" y="9619488"/>
            <a:ext cx="12344400" cy="678122"/>
            <a:chOff x="0" y="0"/>
            <a:chExt cx="16459200" cy="90416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459200" cy="904163"/>
            </a:xfrm>
            <a:custGeom>
              <a:avLst/>
              <a:gdLst/>
              <a:ahLst/>
              <a:cxnLst/>
              <a:rect l="l" t="t" r="r" b="b"/>
              <a:pathLst>
                <a:path w="16459200" h="904163">
                  <a:moveTo>
                    <a:pt x="0" y="0"/>
                  </a:moveTo>
                  <a:lnTo>
                    <a:pt x="16459200" y="0"/>
                  </a:lnTo>
                  <a:lnTo>
                    <a:pt x="16459200" y="904163"/>
                  </a:lnTo>
                  <a:lnTo>
                    <a:pt x="0" y="90416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24362" b="-285041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6459200" cy="9327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449">
                  <a:solidFill>
                    <a:srgbClr val="C455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APPROACH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60120" y="2674620"/>
            <a:ext cx="5143500" cy="2880360"/>
            <a:chOff x="0" y="0"/>
            <a:chExt cx="6858000" cy="38404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858000" cy="3840480"/>
            </a:xfrm>
            <a:custGeom>
              <a:avLst/>
              <a:gdLst/>
              <a:ahLst/>
              <a:cxnLst/>
              <a:rect l="l" t="t" r="r" b="b"/>
              <a:pathLst>
                <a:path w="6858000" h="3840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711696" y="0"/>
                  </a:lnTo>
                  <a:cubicBezTo>
                    <a:pt x="6792468" y="0"/>
                    <a:pt x="6858000" y="65532"/>
                    <a:pt x="6858000" y="146304"/>
                  </a:cubicBezTo>
                  <a:lnTo>
                    <a:pt x="6858000" y="3694176"/>
                  </a:lnTo>
                  <a:cubicBezTo>
                    <a:pt x="6858000" y="3774948"/>
                    <a:pt x="6792468" y="3840480"/>
                    <a:pt x="6711696" y="3840480"/>
                  </a:cubicBezTo>
                  <a:lnTo>
                    <a:pt x="146304" y="3840480"/>
                  </a:lnTo>
                  <a:cubicBezTo>
                    <a:pt x="65532" y="3840480"/>
                    <a:pt x="0" y="3774948"/>
                    <a:pt x="0" y="3694176"/>
                  </a:cubicBezTo>
                  <a:close/>
                </a:path>
              </a:pathLst>
            </a:custGeom>
            <a:solidFill>
              <a:srgbClr val="473C38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371600" y="2948940"/>
            <a:ext cx="1371600" cy="685800"/>
            <a:chOff x="0" y="0"/>
            <a:chExt cx="1828800" cy="914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828800" cy="914400"/>
            </a:xfrm>
            <a:custGeom>
              <a:avLst/>
              <a:gdLst/>
              <a:ahLst/>
              <a:cxnLst/>
              <a:rect l="l" t="t" r="r" b="b"/>
              <a:pathLst>
                <a:path w="1828800" h="914400">
                  <a:moveTo>
                    <a:pt x="0" y="0"/>
                  </a:moveTo>
                  <a:lnTo>
                    <a:pt x="1828800" y="0"/>
                  </a:lnTo>
                  <a:lnTo>
                    <a:pt x="18288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F6F3EE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182880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680"/>
                </a:lnSpc>
              </a:pPr>
              <a:r>
                <a:rPr lang="en-US" sz="3900" b="1">
                  <a:solidFill>
                    <a:srgbClr val="C4553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71600" y="3703320"/>
            <a:ext cx="4389120" cy="480060"/>
            <a:chOff x="0" y="0"/>
            <a:chExt cx="5852160" cy="64008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852160" cy="640080"/>
            </a:xfrm>
            <a:custGeom>
              <a:avLst/>
              <a:gdLst/>
              <a:ahLst/>
              <a:cxnLst/>
              <a:rect l="l" t="t" r="r" b="b"/>
              <a:pathLst>
                <a:path w="5852160" h="640080">
                  <a:moveTo>
                    <a:pt x="0" y="0"/>
                  </a:moveTo>
                  <a:lnTo>
                    <a:pt x="5852160" y="0"/>
                  </a:lnTo>
                  <a:lnTo>
                    <a:pt x="58521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28148" b="-128148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5852160" cy="687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preparation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569964" y="2674620"/>
            <a:ext cx="5143500" cy="2880360"/>
            <a:chOff x="0" y="0"/>
            <a:chExt cx="6858000" cy="384048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858000" cy="3840480"/>
            </a:xfrm>
            <a:custGeom>
              <a:avLst/>
              <a:gdLst/>
              <a:ahLst/>
              <a:cxnLst/>
              <a:rect l="l" t="t" r="r" b="b"/>
              <a:pathLst>
                <a:path w="6858000" h="3840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711696" y="0"/>
                  </a:lnTo>
                  <a:cubicBezTo>
                    <a:pt x="6792468" y="0"/>
                    <a:pt x="6858000" y="65532"/>
                    <a:pt x="6858000" y="146304"/>
                  </a:cubicBezTo>
                  <a:lnTo>
                    <a:pt x="6858000" y="3694176"/>
                  </a:lnTo>
                  <a:cubicBezTo>
                    <a:pt x="6858000" y="3774948"/>
                    <a:pt x="6792468" y="3840480"/>
                    <a:pt x="6711696" y="3840480"/>
                  </a:cubicBezTo>
                  <a:lnTo>
                    <a:pt x="146304" y="3840480"/>
                  </a:lnTo>
                  <a:cubicBezTo>
                    <a:pt x="65532" y="3840480"/>
                    <a:pt x="0" y="3774948"/>
                    <a:pt x="0" y="3694176"/>
                  </a:cubicBezTo>
                  <a:close/>
                </a:path>
              </a:pathLst>
            </a:custGeom>
            <a:solidFill>
              <a:srgbClr val="473C38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6981444" y="2948940"/>
            <a:ext cx="1371600" cy="685800"/>
            <a:chOff x="0" y="0"/>
            <a:chExt cx="1828800" cy="9144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828800" cy="914400"/>
            </a:xfrm>
            <a:custGeom>
              <a:avLst/>
              <a:gdLst/>
              <a:ahLst/>
              <a:cxnLst/>
              <a:rect l="l" t="t" r="r" b="b"/>
              <a:pathLst>
                <a:path w="1828800" h="914400">
                  <a:moveTo>
                    <a:pt x="0" y="0"/>
                  </a:moveTo>
                  <a:lnTo>
                    <a:pt x="1828800" y="0"/>
                  </a:lnTo>
                  <a:lnTo>
                    <a:pt x="18288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F6F3EE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182880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680"/>
                </a:lnSpc>
              </a:pPr>
              <a:r>
                <a:rPr lang="en-US" sz="3900" b="1">
                  <a:solidFill>
                    <a:srgbClr val="C4553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02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981444" y="3703320"/>
            <a:ext cx="4389120" cy="480060"/>
            <a:chOff x="0" y="0"/>
            <a:chExt cx="5852160" cy="64008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852160" cy="640080"/>
            </a:xfrm>
            <a:custGeom>
              <a:avLst/>
              <a:gdLst/>
              <a:ahLst/>
              <a:cxnLst/>
              <a:rect l="l" t="t" r="r" b="b"/>
              <a:pathLst>
                <a:path w="5852160" h="640080">
                  <a:moveTo>
                    <a:pt x="0" y="0"/>
                  </a:moveTo>
                  <a:lnTo>
                    <a:pt x="5852160" y="0"/>
                  </a:lnTo>
                  <a:lnTo>
                    <a:pt x="58521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28148" b="-128148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5852160" cy="687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Excel functions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179808" y="2674620"/>
            <a:ext cx="5143500" cy="2880360"/>
            <a:chOff x="0" y="0"/>
            <a:chExt cx="6858000" cy="384048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858000" cy="3840480"/>
            </a:xfrm>
            <a:custGeom>
              <a:avLst/>
              <a:gdLst/>
              <a:ahLst/>
              <a:cxnLst/>
              <a:rect l="l" t="t" r="r" b="b"/>
              <a:pathLst>
                <a:path w="6858000" h="3840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711696" y="0"/>
                  </a:lnTo>
                  <a:cubicBezTo>
                    <a:pt x="6792468" y="0"/>
                    <a:pt x="6858000" y="65532"/>
                    <a:pt x="6858000" y="146304"/>
                  </a:cubicBezTo>
                  <a:lnTo>
                    <a:pt x="6858000" y="3694176"/>
                  </a:lnTo>
                  <a:cubicBezTo>
                    <a:pt x="6858000" y="3774948"/>
                    <a:pt x="6792468" y="3840480"/>
                    <a:pt x="6711696" y="3840480"/>
                  </a:cubicBezTo>
                  <a:lnTo>
                    <a:pt x="146304" y="3840480"/>
                  </a:lnTo>
                  <a:cubicBezTo>
                    <a:pt x="65532" y="3840480"/>
                    <a:pt x="0" y="3774948"/>
                    <a:pt x="0" y="3694176"/>
                  </a:cubicBezTo>
                  <a:close/>
                </a:path>
              </a:pathLst>
            </a:custGeom>
            <a:solidFill>
              <a:srgbClr val="473C38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12591288" y="2948940"/>
            <a:ext cx="1371600" cy="685800"/>
            <a:chOff x="0" y="0"/>
            <a:chExt cx="1828800" cy="9144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828800" cy="914400"/>
            </a:xfrm>
            <a:custGeom>
              <a:avLst/>
              <a:gdLst/>
              <a:ahLst/>
              <a:cxnLst/>
              <a:rect l="l" t="t" r="r" b="b"/>
              <a:pathLst>
                <a:path w="1828800" h="914400">
                  <a:moveTo>
                    <a:pt x="0" y="0"/>
                  </a:moveTo>
                  <a:lnTo>
                    <a:pt x="1828800" y="0"/>
                  </a:lnTo>
                  <a:lnTo>
                    <a:pt x="18288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F6F3EE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0"/>
              <a:ext cx="182880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680"/>
                </a:lnSpc>
              </a:pPr>
              <a:r>
                <a:rPr lang="en-US" sz="3900" b="1">
                  <a:solidFill>
                    <a:srgbClr val="C4553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03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591288" y="3703320"/>
            <a:ext cx="4389120" cy="480060"/>
            <a:chOff x="0" y="0"/>
            <a:chExt cx="5852160" cy="64008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852160" cy="640080"/>
            </a:xfrm>
            <a:custGeom>
              <a:avLst/>
              <a:gdLst/>
              <a:ahLst/>
              <a:cxnLst/>
              <a:rect l="l" t="t" r="r" b="b"/>
              <a:pathLst>
                <a:path w="5852160" h="640080">
                  <a:moveTo>
                    <a:pt x="0" y="0"/>
                  </a:moveTo>
                  <a:lnTo>
                    <a:pt x="5852160" y="0"/>
                  </a:lnTo>
                  <a:lnTo>
                    <a:pt x="58521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28148" b="-128148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47625"/>
              <a:ext cx="5852160" cy="687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Pivot tables and charts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60120" y="5966460"/>
            <a:ext cx="5143500" cy="2880360"/>
            <a:chOff x="0" y="0"/>
            <a:chExt cx="6858000" cy="384048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858000" cy="3840480"/>
            </a:xfrm>
            <a:custGeom>
              <a:avLst/>
              <a:gdLst/>
              <a:ahLst/>
              <a:cxnLst/>
              <a:rect l="l" t="t" r="r" b="b"/>
              <a:pathLst>
                <a:path w="6858000" h="3840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711696" y="0"/>
                  </a:lnTo>
                  <a:cubicBezTo>
                    <a:pt x="6792468" y="0"/>
                    <a:pt x="6858000" y="65532"/>
                    <a:pt x="6858000" y="146304"/>
                  </a:cubicBezTo>
                  <a:lnTo>
                    <a:pt x="6858000" y="3694176"/>
                  </a:lnTo>
                  <a:cubicBezTo>
                    <a:pt x="6858000" y="3774948"/>
                    <a:pt x="6792468" y="3840480"/>
                    <a:pt x="6711696" y="3840480"/>
                  </a:cubicBezTo>
                  <a:lnTo>
                    <a:pt x="146304" y="3840480"/>
                  </a:lnTo>
                  <a:cubicBezTo>
                    <a:pt x="65532" y="3840480"/>
                    <a:pt x="0" y="3774948"/>
                    <a:pt x="0" y="3694176"/>
                  </a:cubicBezTo>
                  <a:close/>
                </a:path>
              </a:pathLst>
            </a:custGeom>
            <a:solidFill>
              <a:srgbClr val="473C38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1371600" y="6240780"/>
            <a:ext cx="1371600" cy="685800"/>
            <a:chOff x="0" y="0"/>
            <a:chExt cx="1828800" cy="9144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828800" cy="914400"/>
            </a:xfrm>
            <a:custGeom>
              <a:avLst/>
              <a:gdLst/>
              <a:ahLst/>
              <a:cxnLst/>
              <a:rect l="l" t="t" r="r" b="b"/>
              <a:pathLst>
                <a:path w="1828800" h="914400">
                  <a:moveTo>
                    <a:pt x="0" y="0"/>
                  </a:moveTo>
                  <a:lnTo>
                    <a:pt x="1828800" y="0"/>
                  </a:lnTo>
                  <a:lnTo>
                    <a:pt x="18288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F6F3EE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0"/>
              <a:ext cx="182880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680"/>
                </a:lnSpc>
              </a:pPr>
              <a:r>
                <a:rPr lang="en-US" sz="3900" b="1">
                  <a:solidFill>
                    <a:srgbClr val="C4553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04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371600" y="6995160"/>
            <a:ext cx="4389120" cy="480060"/>
            <a:chOff x="0" y="0"/>
            <a:chExt cx="5852160" cy="64008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5852160" cy="640080"/>
            </a:xfrm>
            <a:custGeom>
              <a:avLst/>
              <a:gdLst/>
              <a:ahLst/>
              <a:cxnLst/>
              <a:rect l="l" t="t" r="r" b="b"/>
              <a:pathLst>
                <a:path w="5852160" h="640080">
                  <a:moveTo>
                    <a:pt x="0" y="0"/>
                  </a:moveTo>
                  <a:lnTo>
                    <a:pt x="5852160" y="0"/>
                  </a:lnTo>
                  <a:lnTo>
                    <a:pt x="58521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28148" b="-128148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47625"/>
              <a:ext cx="5852160" cy="687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Advanced visuals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569964" y="5966460"/>
            <a:ext cx="5143500" cy="2880360"/>
            <a:chOff x="0" y="0"/>
            <a:chExt cx="6858000" cy="384048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6858000" cy="3840480"/>
            </a:xfrm>
            <a:custGeom>
              <a:avLst/>
              <a:gdLst/>
              <a:ahLst/>
              <a:cxnLst/>
              <a:rect l="l" t="t" r="r" b="b"/>
              <a:pathLst>
                <a:path w="6858000" h="3840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711696" y="0"/>
                  </a:lnTo>
                  <a:cubicBezTo>
                    <a:pt x="6792468" y="0"/>
                    <a:pt x="6858000" y="65532"/>
                    <a:pt x="6858000" y="146304"/>
                  </a:cubicBezTo>
                  <a:lnTo>
                    <a:pt x="6858000" y="3694176"/>
                  </a:lnTo>
                  <a:cubicBezTo>
                    <a:pt x="6858000" y="3774948"/>
                    <a:pt x="6792468" y="3840480"/>
                    <a:pt x="6711696" y="3840480"/>
                  </a:cubicBezTo>
                  <a:lnTo>
                    <a:pt x="146304" y="3840480"/>
                  </a:lnTo>
                  <a:cubicBezTo>
                    <a:pt x="65532" y="3840480"/>
                    <a:pt x="0" y="3774948"/>
                    <a:pt x="0" y="3694176"/>
                  </a:cubicBezTo>
                  <a:close/>
                </a:path>
              </a:pathLst>
            </a:custGeom>
            <a:solidFill>
              <a:srgbClr val="473C38"/>
            </a:solidFill>
          </p:spPr>
        </p:sp>
      </p:grpSp>
      <p:grpSp>
        <p:nvGrpSpPr>
          <p:cNvPr id="45" name="Group 45"/>
          <p:cNvGrpSpPr/>
          <p:nvPr/>
        </p:nvGrpSpPr>
        <p:grpSpPr>
          <a:xfrm>
            <a:off x="6981444" y="6240780"/>
            <a:ext cx="1371600" cy="685800"/>
            <a:chOff x="0" y="0"/>
            <a:chExt cx="1828800" cy="9144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828800" cy="914400"/>
            </a:xfrm>
            <a:custGeom>
              <a:avLst/>
              <a:gdLst/>
              <a:ahLst/>
              <a:cxnLst/>
              <a:rect l="l" t="t" r="r" b="b"/>
              <a:pathLst>
                <a:path w="1828800" h="914400">
                  <a:moveTo>
                    <a:pt x="0" y="0"/>
                  </a:moveTo>
                  <a:lnTo>
                    <a:pt x="1828800" y="0"/>
                  </a:lnTo>
                  <a:lnTo>
                    <a:pt x="18288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F6F3EE"/>
            </a:solidFill>
          </p:spPr>
        </p:sp>
        <p:sp>
          <p:nvSpPr>
            <p:cNvPr id="47" name="TextBox 47"/>
            <p:cNvSpPr txBox="1"/>
            <p:nvPr/>
          </p:nvSpPr>
          <p:spPr>
            <a:xfrm>
              <a:off x="0" y="0"/>
              <a:ext cx="182880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680"/>
                </a:lnSpc>
              </a:pPr>
              <a:r>
                <a:rPr lang="en-US" sz="3900" b="1">
                  <a:solidFill>
                    <a:srgbClr val="C4553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05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981444" y="6995160"/>
            <a:ext cx="4389120" cy="480060"/>
            <a:chOff x="0" y="0"/>
            <a:chExt cx="5852160" cy="64008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5852160" cy="640080"/>
            </a:xfrm>
            <a:custGeom>
              <a:avLst/>
              <a:gdLst/>
              <a:ahLst/>
              <a:cxnLst/>
              <a:rect l="l" t="t" r="r" b="b"/>
              <a:pathLst>
                <a:path w="5852160" h="640080">
                  <a:moveTo>
                    <a:pt x="0" y="0"/>
                  </a:moveTo>
                  <a:lnTo>
                    <a:pt x="5852160" y="0"/>
                  </a:lnTo>
                  <a:lnTo>
                    <a:pt x="58521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28148" b="-128148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47625"/>
              <a:ext cx="5852160" cy="687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Anomaly detection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2179808" y="5966460"/>
            <a:ext cx="5143500" cy="2880360"/>
            <a:chOff x="0" y="0"/>
            <a:chExt cx="6858000" cy="384048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6858000" cy="3840480"/>
            </a:xfrm>
            <a:custGeom>
              <a:avLst/>
              <a:gdLst/>
              <a:ahLst/>
              <a:cxnLst/>
              <a:rect l="l" t="t" r="r" b="b"/>
              <a:pathLst>
                <a:path w="6858000" h="3840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711696" y="0"/>
                  </a:lnTo>
                  <a:cubicBezTo>
                    <a:pt x="6792468" y="0"/>
                    <a:pt x="6858000" y="65532"/>
                    <a:pt x="6858000" y="146304"/>
                  </a:cubicBezTo>
                  <a:lnTo>
                    <a:pt x="6858000" y="3694176"/>
                  </a:lnTo>
                  <a:cubicBezTo>
                    <a:pt x="6858000" y="3774948"/>
                    <a:pt x="6792468" y="3840480"/>
                    <a:pt x="6711696" y="3840480"/>
                  </a:cubicBezTo>
                  <a:lnTo>
                    <a:pt x="146304" y="3840480"/>
                  </a:lnTo>
                  <a:cubicBezTo>
                    <a:pt x="65532" y="3840480"/>
                    <a:pt x="0" y="3774948"/>
                    <a:pt x="0" y="3694176"/>
                  </a:cubicBezTo>
                  <a:close/>
                </a:path>
              </a:pathLst>
            </a:custGeom>
            <a:solidFill>
              <a:srgbClr val="473C38"/>
            </a:solidFill>
          </p:spPr>
        </p:sp>
      </p:grpSp>
      <p:grpSp>
        <p:nvGrpSpPr>
          <p:cNvPr id="53" name="Group 53"/>
          <p:cNvGrpSpPr/>
          <p:nvPr/>
        </p:nvGrpSpPr>
        <p:grpSpPr>
          <a:xfrm>
            <a:off x="12591288" y="6240780"/>
            <a:ext cx="1371600" cy="685800"/>
            <a:chOff x="0" y="0"/>
            <a:chExt cx="1828800" cy="9144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828800" cy="914400"/>
            </a:xfrm>
            <a:custGeom>
              <a:avLst/>
              <a:gdLst/>
              <a:ahLst/>
              <a:cxnLst/>
              <a:rect l="l" t="t" r="r" b="b"/>
              <a:pathLst>
                <a:path w="1828800" h="914400">
                  <a:moveTo>
                    <a:pt x="0" y="0"/>
                  </a:moveTo>
                  <a:lnTo>
                    <a:pt x="1828800" y="0"/>
                  </a:lnTo>
                  <a:lnTo>
                    <a:pt x="18288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F6F3EE"/>
            </a:solidFill>
          </p:spPr>
        </p:sp>
        <p:sp>
          <p:nvSpPr>
            <p:cNvPr id="55" name="TextBox 55"/>
            <p:cNvSpPr txBox="1"/>
            <p:nvPr/>
          </p:nvSpPr>
          <p:spPr>
            <a:xfrm>
              <a:off x="0" y="0"/>
              <a:ext cx="182880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680"/>
                </a:lnSpc>
              </a:pPr>
              <a:r>
                <a:rPr lang="en-US" sz="3900" b="1">
                  <a:solidFill>
                    <a:srgbClr val="C4553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06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2591288" y="6995160"/>
            <a:ext cx="4389120" cy="480060"/>
            <a:chOff x="0" y="0"/>
            <a:chExt cx="5852160" cy="64008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5852160" cy="640080"/>
            </a:xfrm>
            <a:custGeom>
              <a:avLst/>
              <a:gdLst/>
              <a:ahLst/>
              <a:cxnLst/>
              <a:rect l="l" t="t" r="r" b="b"/>
              <a:pathLst>
                <a:path w="5852160" h="640080">
                  <a:moveTo>
                    <a:pt x="0" y="0"/>
                  </a:moveTo>
                  <a:lnTo>
                    <a:pt x="5852160" y="0"/>
                  </a:lnTo>
                  <a:lnTo>
                    <a:pt x="58521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28148" b="-128148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47625"/>
              <a:ext cx="5852160" cy="687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Forecasting</a:t>
              </a:r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1028700" y="276261"/>
            <a:ext cx="16363188" cy="752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99"/>
              </a:lnSpc>
            </a:pPr>
            <a:r>
              <a:rPr lang="en-US" sz="4999" b="1">
                <a:solidFill>
                  <a:srgbClr val="262626"/>
                </a:solidFill>
                <a:latin typeface="Cambria Bold"/>
                <a:ea typeface="Cambria Bold"/>
                <a:cs typeface="Cambria Bold"/>
                <a:sym typeface="Cambria Bold"/>
              </a:rPr>
              <a:t>Excel techniques that helped in building the dashboard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371600" y="4163187"/>
            <a:ext cx="4389120" cy="121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6EA"/>
                </a:solidFill>
                <a:latin typeface="Calibri (MS)"/>
                <a:ea typeface="Calibri (MS)"/>
                <a:cs typeface="Calibri (MS)"/>
                <a:sym typeface="Calibri (MS)"/>
              </a:rPr>
              <a:t>1,000 hourly records with date, weekday, weather and customer fields.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981444" y="4163187"/>
            <a:ext cx="4389120" cy="121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6EA"/>
                </a:solidFill>
                <a:latin typeface="Calibri (MS)"/>
                <a:ea typeface="Calibri (MS)"/>
                <a:cs typeface="Calibri (MS)"/>
                <a:sym typeface="Calibri (MS)"/>
              </a:rPr>
              <a:t>SUM, AVERAGE, MIN, MAX, COUNT, VLOOKUP and HLOOKUP for core KPIs.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2591288" y="4163187"/>
            <a:ext cx="4389120" cy="121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6EA"/>
                </a:solidFill>
                <a:latin typeface="Calibri (MS)"/>
                <a:ea typeface="Calibri (MS)"/>
                <a:cs typeface="Calibri (MS)"/>
                <a:sym typeface="Calibri (MS)"/>
              </a:rPr>
              <a:t>Trend, hourly and weather views with slicers and a timeline.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371600" y="7455027"/>
            <a:ext cx="4389120" cy="121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6EA"/>
                </a:solidFill>
                <a:latin typeface="Calibri (MS)"/>
                <a:ea typeface="Calibri (MS)"/>
                <a:cs typeface="Calibri (MS)"/>
                <a:sym typeface="Calibri (MS)"/>
              </a:rPr>
              <a:t>Heatmap, funnel, waterfall and scatter plots for deeper patterns.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6981444" y="7455027"/>
            <a:ext cx="4389120" cy="121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6EA"/>
                </a:solidFill>
                <a:latin typeface="Calibri (MS)"/>
                <a:ea typeface="Calibri (MS)"/>
                <a:cs typeface="Calibri (MS)"/>
                <a:sym typeface="Calibri (MS)"/>
              </a:rPr>
              <a:t>IQR and standard-deviation limits to flag extreme hours.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2591288" y="7455027"/>
            <a:ext cx="4389120" cy="121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6EA"/>
                </a:solidFill>
                <a:latin typeface="Calibri (MS)"/>
                <a:ea typeface="Calibri (MS)"/>
                <a:cs typeface="Calibri (MS)"/>
                <a:sym typeface="Calibri (MS)"/>
              </a:rPr>
              <a:t>Excel forecast sheet with lower and upper confidence bounds.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6550640" y="9581388"/>
            <a:ext cx="681228" cy="266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b="1">
                <a:solidFill>
                  <a:srgbClr val="FFF6E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6703040" y="9733788"/>
            <a:ext cx="681228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b="1" dirty="0">
                <a:solidFill>
                  <a:srgbClr val="5E5E5C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59362" y="1377785"/>
            <a:ext cx="8715491" cy="8671914"/>
          </a:xfrm>
          <a:custGeom>
            <a:avLst/>
            <a:gdLst/>
            <a:ahLst/>
            <a:cxnLst/>
            <a:rect l="l" t="t" r="r" b="b"/>
            <a:pathLst>
              <a:path w="8715491" h="8671914">
                <a:moveTo>
                  <a:pt x="0" y="0"/>
                </a:moveTo>
                <a:lnTo>
                  <a:pt x="8715491" y="0"/>
                </a:lnTo>
                <a:lnTo>
                  <a:pt x="8715491" y="8671914"/>
                </a:lnTo>
                <a:lnTo>
                  <a:pt x="0" y="86719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25360"/>
            <a:ext cx="18287001" cy="1244847"/>
            <a:chOff x="0" y="0"/>
            <a:chExt cx="31357471" cy="213459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1357472" cy="2134591"/>
            </a:xfrm>
            <a:custGeom>
              <a:avLst/>
              <a:gdLst/>
              <a:ahLst/>
              <a:cxnLst/>
              <a:rect l="l" t="t" r="r" b="b"/>
              <a:pathLst>
                <a:path w="31357472" h="2134591">
                  <a:moveTo>
                    <a:pt x="0" y="81318"/>
                  </a:moveTo>
                  <a:cubicBezTo>
                    <a:pt x="0" y="36424"/>
                    <a:pt x="299638" y="0"/>
                    <a:pt x="668959" y="0"/>
                  </a:cubicBezTo>
                  <a:lnTo>
                    <a:pt x="30688511" y="0"/>
                  </a:lnTo>
                  <a:cubicBezTo>
                    <a:pt x="31057834" y="0"/>
                    <a:pt x="31357472" y="36424"/>
                    <a:pt x="31357472" y="81318"/>
                  </a:cubicBezTo>
                  <a:lnTo>
                    <a:pt x="31357472" y="2053273"/>
                  </a:lnTo>
                  <a:cubicBezTo>
                    <a:pt x="31357472" y="2098167"/>
                    <a:pt x="31057834" y="2134591"/>
                    <a:pt x="30688511" y="2134591"/>
                  </a:cubicBezTo>
                  <a:lnTo>
                    <a:pt x="668959" y="2134591"/>
                  </a:lnTo>
                  <a:cubicBezTo>
                    <a:pt x="299638" y="2134591"/>
                    <a:pt x="0" y="2098167"/>
                    <a:pt x="0" y="2053273"/>
                  </a:cubicBezTo>
                  <a:close/>
                </a:path>
              </a:pathLst>
            </a:custGeom>
            <a:solidFill>
              <a:srgbClr val="C2B19C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868680" y="271564"/>
            <a:ext cx="16363188" cy="752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99"/>
              </a:lnSpc>
            </a:pPr>
            <a:r>
              <a:rPr lang="en-US" sz="4999" b="1">
                <a:solidFill>
                  <a:srgbClr val="262626"/>
                </a:solidFill>
                <a:latin typeface="Cambria Bold"/>
                <a:ea typeface="Cambria Bold"/>
                <a:cs typeface="Cambria Bold"/>
                <a:sym typeface="Cambria Bold"/>
              </a:rPr>
              <a:t>DataSet Overview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9258300" y="2674620"/>
            <a:ext cx="3909060" cy="2674620"/>
            <a:chOff x="0" y="0"/>
            <a:chExt cx="5212080" cy="356616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212080" cy="3566160"/>
            </a:xfrm>
            <a:custGeom>
              <a:avLst/>
              <a:gdLst/>
              <a:ahLst/>
              <a:cxnLst/>
              <a:rect l="l" t="t" r="r" b="b"/>
              <a:pathLst>
                <a:path w="5212080" h="35661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065776" y="0"/>
                  </a:lnTo>
                  <a:cubicBezTo>
                    <a:pt x="5146548" y="0"/>
                    <a:pt x="5212080" y="65532"/>
                    <a:pt x="5212080" y="146304"/>
                  </a:cubicBezTo>
                  <a:lnTo>
                    <a:pt x="5212080" y="3419856"/>
                  </a:lnTo>
                  <a:cubicBezTo>
                    <a:pt x="5212080" y="3500628"/>
                    <a:pt x="5146548" y="3566160"/>
                    <a:pt x="5065776" y="3566160"/>
                  </a:cubicBezTo>
                  <a:lnTo>
                    <a:pt x="146304" y="3566160"/>
                  </a:lnTo>
                  <a:cubicBezTo>
                    <a:pt x="65532" y="3566160"/>
                    <a:pt x="0" y="3500628"/>
                    <a:pt x="0" y="3419856"/>
                  </a:cubicBezTo>
                  <a:close/>
                </a:path>
              </a:pathLst>
            </a:custGeom>
            <a:solidFill>
              <a:srgbClr val="544541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0132181" y="-503780"/>
            <a:ext cx="2102462" cy="4924016"/>
            <a:chOff x="-116969" y="-2261435"/>
            <a:chExt cx="2803282" cy="6565355"/>
          </a:xfrm>
        </p:grpSpPr>
        <p:sp>
          <p:nvSpPr>
            <p:cNvPr id="9" name="Freeform 9"/>
            <p:cNvSpPr/>
            <p:nvPr/>
          </p:nvSpPr>
          <p:spPr>
            <a:xfrm>
              <a:off x="38520" y="-1569184"/>
              <a:ext cx="2647793" cy="5873104"/>
            </a:xfrm>
            <a:custGeom>
              <a:avLst/>
              <a:gdLst/>
              <a:ahLst/>
              <a:cxnLst/>
              <a:rect l="l" t="t" r="r" b="b"/>
              <a:pathLst>
                <a:path w="2647793" h="5873104">
                  <a:moveTo>
                    <a:pt x="0" y="0"/>
                  </a:moveTo>
                  <a:lnTo>
                    <a:pt x="2647793" y="0"/>
                  </a:lnTo>
                  <a:lnTo>
                    <a:pt x="2647793" y="5873104"/>
                  </a:lnTo>
                  <a:lnTo>
                    <a:pt x="0" y="5873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884" r="-65765" b="73761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-116969" y="-2261435"/>
              <a:ext cx="2647793" cy="5882629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7200"/>
                </a:lnSpc>
              </a:pPr>
              <a:r>
                <a:rPr lang="en-US" sz="6000" b="1" dirty="0">
                  <a:solidFill>
                    <a:srgbClr val="C4553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1,000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273449" y="4087187"/>
            <a:ext cx="1794762" cy="361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Rental Records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3482828" y="2674620"/>
            <a:ext cx="3909060" cy="2674620"/>
            <a:chOff x="0" y="0"/>
            <a:chExt cx="5212080" cy="35661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212080" cy="3566160"/>
            </a:xfrm>
            <a:custGeom>
              <a:avLst/>
              <a:gdLst/>
              <a:ahLst/>
              <a:cxnLst/>
              <a:rect l="l" t="t" r="r" b="b"/>
              <a:pathLst>
                <a:path w="5212080" h="35661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065776" y="0"/>
                  </a:lnTo>
                  <a:cubicBezTo>
                    <a:pt x="5146548" y="0"/>
                    <a:pt x="5212080" y="65532"/>
                    <a:pt x="5212080" y="146304"/>
                  </a:cubicBezTo>
                  <a:lnTo>
                    <a:pt x="5212080" y="3419856"/>
                  </a:lnTo>
                  <a:cubicBezTo>
                    <a:pt x="5212080" y="3500628"/>
                    <a:pt x="5146548" y="3566160"/>
                    <a:pt x="5065776" y="3566160"/>
                  </a:cubicBezTo>
                  <a:lnTo>
                    <a:pt x="146304" y="3566160"/>
                  </a:lnTo>
                  <a:cubicBezTo>
                    <a:pt x="65532" y="3566160"/>
                    <a:pt x="0" y="3500628"/>
                    <a:pt x="0" y="3419856"/>
                  </a:cubicBezTo>
                  <a:close/>
                </a:path>
              </a:pathLst>
            </a:custGeom>
            <a:solidFill>
              <a:srgbClr val="544541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4769895" y="-562724"/>
            <a:ext cx="3426665" cy="6159848"/>
            <a:chOff x="-179767" y="-2340027"/>
            <a:chExt cx="4568887" cy="821313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389120" cy="5873104"/>
            </a:xfrm>
            <a:custGeom>
              <a:avLst/>
              <a:gdLst/>
              <a:ahLst/>
              <a:cxnLst/>
              <a:rect l="l" t="t" r="r" b="b"/>
              <a:pathLst>
                <a:path w="4389120" h="5873104">
                  <a:moveTo>
                    <a:pt x="0" y="0"/>
                  </a:moveTo>
                  <a:lnTo>
                    <a:pt x="4389120" y="0"/>
                  </a:lnTo>
                  <a:lnTo>
                    <a:pt x="4389120" y="5873104"/>
                  </a:lnTo>
                  <a:lnTo>
                    <a:pt x="0" y="5873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884" b="73761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-179767" y="-2340027"/>
              <a:ext cx="4389120" cy="5882629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7200"/>
                </a:lnSpc>
              </a:pPr>
              <a:r>
                <a:rPr lang="en-US" sz="6000" b="1" dirty="0">
                  <a:solidFill>
                    <a:srgbClr val="C4553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45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3940028" y="3964305"/>
            <a:ext cx="3291840" cy="676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Days covered, 1 Jan – 14 Feb 2011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9143501" y="5692140"/>
            <a:ext cx="3909060" cy="2674620"/>
            <a:chOff x="0" y="0"/>
            <a:chExt cx="5212080" cy="356616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212080" cy="3566160"/>
            </a:xfrm>
            <a:custGeom>
              <a:avLst/>
              <a:gdLst/>
              <a:ahLst/>
              <a:cxnLst/>
              <a:rect l="l" t="t" r="r" b="b"/>
              <a:pathLst>
                <a:path w="5212080" h="35661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065776" y="0"/>
                  </a:lnTo>
                  <a:cubicBezTo>
                    <a:pt x="5146548" y="0"/>
                    <a:pt x="5212080" y="65532"/>
                    <a:pt x="5212080" y="146304"/>
                  </a:cubicBezTo>
                  <a:lnTo>
                    <a:pt x="5212080" y="3419856"/>
                  </a:lnTo>
                  <a:cubicBezTo>
                    <a:pt x="5212080" y="3500628"/>
                    <a:pt x="5146548" y="3566160"/>
                    <a:pt x="5065776" y="3566160"/>
                  </a:cubicBezTo>
                  <a:lnTo>
                    <a:pt x="146304" y="3566160"/>
                  </a:lnTo>
                  <a:cubicBezTo>
                    <a:pt x="65532" y="3566160"/>
                    <a:pt x="0" y="3500628"/>
                    <a:pt x="0" y="3419856"/>
                  </a:cubicBezTo>
                  <a:close/>
                </a:path>
              </a:pathLst>
            </a:custGeom>
            <a:solidFill>
              <a:srgbClr val="544541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8300534" y="2501353"/>
            <a:ext cx="4597544" cy="4429077"/>
            <a:chOff x="-3067390" y="-32332"/>
            <a:chExt cx="6130060" cy="5905436"/>
          </a:xfrm>
        </p:grpSpPr>
        <p:sp>
          <p:nvSpPr>
            <p:cNvPr id="21" name="Freeform 21"/>
            <p:cNvSpPr/>
            <p:nvPr/>
          </p:nvSpPr>
          <p:spPr>
            <a:xfrm>
              <a:off x="-3067390" y="-32332"/>
              <a:ext cx="3062670" cy="5873104"/>
            </a:xfrm>
            <a:custGeom>
              <a:avLst/>
              <a:gdLst/>
              <a:ahLst/>
              <a:cxnLst/>
              <a:rect l="l" t="t" r="r" b="b"/>
              <a:pathLst>
                <a:path w="3062670" h="5873104">
                  <a:moveTo>
                    <a:pt x="0" y="0"/>
                  </a:moveTo>
                  <a:lnTo>
                    <a:pt x="3062670" y="0"/>
                  </a:lnTo>
                  <a:lnTo>
                    <a:pt x="3062670" y="5873104"/>
                  </a:lnTo>
                  <a:lnTo>
                    <a:pt x="0" y="5873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884" r="-43310" b="73761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3062670" cy="5882629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C4553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13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3482828" y="5692140"/>
            <a:ext cx="3909060" cy="2674620"/>
            <a:chOff x="0" y="0"/>
            <a:chExt cx="5212080" cy="356616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212080" cy="3566160"/>
            </a:xfrm>
            <a:custGeom>
              <a:avLst/>
              <a:gdLst/>
              <a:ahLst/>
              <a:cxnLst/>
              <a:rect l="l" t="t" r="r" b="b"/>
              <a:pathLst>
                <a:path w="5212080" h="35661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065776" y="0"/>
                  </a:lnTo>
                  <a:cubicBezTo>
                    <a:pt x="5146548" y="0"/>
                    <a:pt x="5212080" y="65532"/>
                    <a:pt x="5212080" y="146304"/>
                  </a:cubicBezTo>
                  <a:lnTo>
                    <a:pt x="5212080" y="3419856"/>
                  </a:lnTo>
                  <a:cubicBezTo>
                    <a:pt x="5212080" y="3500628"/>
                    <a:pt x="5146548" y="3566160"/>
                    <a:pt x="5065776" y="3566160"/>
                  </a:cubicBezTo>
                  <a:lnTo>
                    <a:pt x="146304" y="3566160"/>
                  </a:lnTo>
                  <a:cubicBezTo>
                    <a:pt x="65532" y="3566160"/>
                    <a:pt x="0" y="3500628"/>
                    <a:pt x="0" y="3419856"/>
                  </a:cubicBezTo>
                  <a:close/>
                </a:path>
              </a:pathLst>
            </a:custGeom>
            <a:solidFill>
              <a:srgbClr val="544541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15118462" y="2459167"/>
            <a:ext cx="762000" cy="4404828"/>
            <a:chOff x="0" y="0"/>
            <a:chExt cx="1016000" cy="587310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16000" cy="5873104"/>
            </a:xfrm>
            <a:custGeom>
              <a:avLst/>
              <a:gdLst/>
              <a:ahLst/>
              <a:cxnLst/>
              <a:rect l="l" t="t" r="r" b="b"/>
              <a:pathLst>
                <a:path w="1016000" h="5873104">
                  <a:moveTo>
                    <a:pt x="0" y="0"/>
                  </a:moveTo>
                  <a:lnTo>
                    <a:pt x="1016000" y="0"/>
                  </a:lnTo>
                  <a:lnTo>
                    <a:pt x="1016000" y="5873104"/>
                  </a:lnTo>
                  <a:lnTo>
                    <a:pt x="0" y="5873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884" r="-331999" b="73761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9525"/>
              <a:ext cx="1016000" cy="5882629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C4553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482088" y="3528002"/>
            <a:ext cx="8180182" cy="4340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5906" lvl="1" indent="-317953" algn="l">
              <a:lnSpc>
                <a:spcPts val="4216"/>
              </a:lnSpc>
              <a:buFont typeface="Arial"/>
              <a:buChar char="•"/>
            </a:pPr>
            <a:r>
              <a:rPr lang="en-US" sz="3513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There are a total of 1000 records of Bike Rentals in the Final Dataset</a:t>
            </a:r>
          </a:p>
          <a:p>
            <a:pPr marL="635906" lvl="1" indent="-317953" algn="l">
              <a:lnSpc>
                <a:spcPts val="4216"/>
              </a:lnSpc>
              <a:buFont typeface="Arial"/>
              <a:buChar char="•"/>
            </a:pPr>
            <a:r>
              <a:rPr lang="en-US" sz="3513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Each record holds the hour, weekday, holiday flag, weather alert, temperature, humidity, wind, and customer counts.</a:t>
            </a:r>
          </a:p>
          <a:p>
            <a:pPr marL="635906" lvl="1" indent="-317953" algn="l">
              <a:lnSpc>
                <a:spcPts val="4216"/>
              </a:lnSpc>
              <a:buFont typeface="Arial"/>
              <a:buChar char="•"/>
            </a:pPr>
            <a:r>
              <a:rPr lang="en-US" sz="3513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An Excel dashboard summarises everything with KPIs, pivot charts, slicers, and a timeline.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601200" y="6947535"/>
            <a:ext cx="3566160" cy="361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Variables captured per record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825728" y="6947535"/>
            <a:ext cx="3291840" cy="361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Weather alert levels tracked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6550640" y="9581388"/>
            <a:ext cx="681228" cy="266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b="1">
                <a:solidFill>
                  <a:srgbClr val="5E5E5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967638" y="1859704"/>
            <a:ext cx="8072984" cy="8072984"/>
          </a:xfrm>
          <a:custGeom>
            <a:avLst/>
            <a:gdLst/>
            <a:ahLst/>
            <a:cxnLst/>
            <a:rect l="l" t="t" r="r" b="b"/>
            <a:pathLst>
              <a:path w="8072984" h="8072984">
                <a:moveTo>
                  <a:pt x="0" y="0"/>
                </a:moveTo>
                <a:lnTo>
                  <a:pt x="8072984" y="0"/>
                </a:lnTo>
                <a:lnTo>
                  <a:pt x="8072984" y="8072985"/>
                </a:lnTo>
                <a:lnTo>
                  <a:pt x="0" y="80729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60120" y="2674620"/>
            <a:ext cx="5143500" cy="2880360"/>
            <a:chOff x="0" y="0"/>
            <a:chExt cx="6858000" cy="384048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858000" cy="3840480"/>
            </a:xfrm>
            <a:custGeom>
              <a:avLst/>
              <a:gdLst/>
              <a:ahLst/>
              <a:cxnLst/>
              <a:rect l="l" t="t" r="r" b="b"/>
              <a:pathLst>
                <a:path w="6858000" h="3840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711696" y="0"/>
                  </a:lnTo>
                  <a:cubicBezTo>
                    <a:pt x="6792468" y="0"/>
                    <a:pt x="6858000" y="65532"/>
                    <a:pt x="6858000" y="146304"/>
                  </a:cubicBezTo>
                  <a:lnTo>
                    <a:pt x="6858000" y="3694176"/>
                  </a:lnTo>
                  <a:cubicBezTo>
                    <a:pt x="6858000" y="3774948"/>
                    <a:pt x="6792468" y="3840480"/>
                    <a:pt x="6711696" y="3840480"/>
                  </a:cubicBezTo>
                  <a:lnTo>
                    <a:pt x="146304" y="3840480"/>
                  </a:lnTo>
                  <a:cubicBezTo>
                    <a:pt x="65532" y="3840480"/>
                    <a:pt x="0" y="3774948"/>
                    <a:pt x="0" y="3694176"/>
                  </a:cubicBezTo>
                  <a:close/>
                </a:path>
              </a:pathLst>
            </a:custGeom>
            <a:gradFill rotWithShape="1">
              <a:gsLst>
                <a:gs pos="0">
                  <a:srgbClr val="431043">
                    <a:alpha val="100000"/>
                  </a:srgbClr>
                </a:gs>
                <a:gs pos="100000">
                  <a:srgbClr val="D34681">
                    <a:alpha val="100000"/>
                  </a:srgbClr>
                </a:gs>
              </a:gsLst>
              <a:lin ang="18900000"/>
            </a:gradFill>
          </p:spPr>
        </p:sp>
      </p:grpSp>
      <p:grpSp>
        <p:nvGrpSpPr>
          <p:cNvPr id="5" name="Group 5"/>
          <p:cNvGrpSpPr/>
          <p:nvPr/>
        </p:nvGrpSpPr>
        <p:grpSpPr>
          <a:xfrm>
            <a:off x="1371600" y="2948940"/>
            <a:ext cx="4389120" cy="1303020"/>
            <a:chOff x="0" y="0"/>
            <a:chExt cx="5852160" cy="17373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852160" cy="1737360"/>
            </a:xfrm>
            <a:custGeom>
              <a:avLst/>
              <a:gdLst/>
              <a:ahLst/>
              <a:cxnLst/>
              <a:rect l="l" t="t" r="r" b="b"/>
              <a:pathLst>
                <a:path w="5852160" h="1737360">
                  <a:moveTo>
                    <a:pt x="0" y="0"/>
                  </a:moveTo>
                  <a:lnTo>
                    <a:pt x="5852160" y="0"/>
                  </a:lnTo>
                  <a:lnTo>
                    <a:pt x="585216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633" b="-15633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5852160" cy="17564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640"/>
                </a:lnSpc>
              </a:pPr>
              <a:r>
                <a:rPr lang="en-US" sz="72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58,304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569964" y="2674620"/>
            <a:ext cx="5143500" cy="2880360"/>
            <a:chOff x="0" y="0"/>
            <a:chExt cx="6858000" cy="38404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858000" cy="3840480"/>
            </a:xfrm>
            <a:custGeom>
              <a:avLst/>
              <a:gdLst/>
              <a:ahLst/>
              <a:cxnLst/>
              <a:rect l="l" t="t" r="r" b="b"/>
              <a:pathLst>
                <a:path w="6858000" h="3840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711696" y="0"/>
                  </a:lnTo>
                  <a:cubicBezTo>
                    <a:pt x="6792468" y="0"/>
                    <a:pt x="6858000" y="65532"/>
                    <a:pt x="6858000" y="146304"/>
                  </a:cubicBezTo>
                  <a:lnTo>
                    <a:pt x="6858000" y="3694176"/>
                  </a:lnTo>
                  <a:cubicBezTo>
                    <a:pt x="6858000" y="3774948"/>
                    <a:pt x="6792468" y="3840480"/>
                    <a:pt x="6711696" y="3840480"/>
                  </a:cubicBezTo>
                  <a:lnTo>
                    <a:pt x="146304" y="3840480"/>
                  </a:lnTo>
                  <a:cubicBezTo>
                    <a:pt x="65532" y="3840480"/>
                    <a:pt x="0" y="3774948"/>
                    <a:pt x="0" y="3694176"/>
                  </a:cubicBezTo>
                  <a:close/>
                </a:path>
              </a:pathLst>
            </a:custGeom>
            <a:solidFill>
              <a:srgbClr val="544541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6981444" y="2948940"/>
            <a:ext cx="4389120" cy="1303020"/>
            <a:chOff x="0" y="0"/>
            <a:chExt cx="5852160" cy="173736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852160" cy="1737360"/>
            </a:xfrm>
            <a:custGeom>
              <a:avLst/>
              <a:gdLst/>
              <a:ahLst/>
              <a:cxnLst/>
              <a:rect l="l" t="t" r="r" b="b"/>
              <a:pathLst>
                <a:path w="5852160" h="1737360">
                  <a:moveTo>
                    <a:pt x="0" y="0"/>
                  </a:moveTo>
                  <a:lnTo>
                    <a:pt x="5852160" y="0"/>
                  </a:lnTo>
                  <a:lnTo>
                    <a:pt x="585216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633" b="-15633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5852160" cy="17564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640"/>
                </a:lnSpc>
              </a:pPr>
              <a:r>
                <a:rPr lang="en-US" sz="72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58.3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179808" y="2674620"/>
            <a:ext cx="5143500" cy="2880360"/>
            <a:chOff x="0" y="0"/>
            <a:chExt cx="6858000" cy="384048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858000" cy="3840480"/>
            </a:xfrm>
            <a:custGeom>
              <a:avLst/>
              <a:gdLst/>
              <a:ahLst/>
              <a:cxnLst/>
              <a:rect l="l" t="t" r="r" b="b"/>
              <a:pathLst>
                <a:path w="6858000" h="3840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711696" y="0"/>
                  </a:lnTo>
                  <a:cubicBezTo>
                    <a:pt x="6792468" y="0"/>
                    <a:pt x="6858000" y="65532"/>
                    <a:pt x="6858000" y="146304"/>
                  </a:cubicBezTo>
                  <a:lnTo>
                    <a:pt x="6858000" y="3694176"/>
                  </a:lnTo>
                  <a:cubicBezTo>
                    <a:pt x="6858000" y="3774948"/>
                    <a:pt x="6792468" y="3840480"/>
                    <a:pt x="6711696" y="3840480"/>
                  </a:cubicBezTo>
                  <a:lnTo>
                    <a:pt x="146304" y="3840480"/>
                  </a:lnTo>
                  <a:cubicBezTo>
                    <a:pt x="65532" y="3840480"/>
                    <a:pt x="0" y="3774948"/>
                    <a:pt x="0" y="3694176"/>
                  </a:cubicBezTo>
                  <a:close/>
                </a:path>
              </a:pathLst>
            </a:custGeom>
            <a:solidFill>
              <a:srgbClr val="544541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2591288" y="2948940"/>
            <a:ext cx="4389120" cy="1303020"/>
            <a:chOff x="0" y="0"/>
            <a:chExt cx="5852160" cy="173736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852160" cy="1737360"/>
            </a:xfrm>
            <a:custGeom>
              <a:avLst/>
              <a:gdLst/>
              <a:ahLst/>
              <a:cxnLst/>
              <a:rect l="l" t="t" r="r" b="b"/>
              <a:pathLst>
                <a:path w="5852160" h="1737360">
                  <a:moveTo>
                    <a:pt x="0" y="0"/>
                  </a:moveTo>
                  <a:lnTo>
                    <a:pt x="5852160" y="0"/>
                  </a:lnTo>
                  <a:lnTo>
                    <a:pt x="585216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633" b="-15633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5852160" cy="17564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640"/>
                </a:lnSpc>
              </a:pPr>
              <a:r>
                <a:rPr lang="en-US" sz="72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249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60120" y="5966460"/>
            <a:ext cx="5143500" cy="2880360"/>
            <a:chOff x="0" y="0"/>
            <a:chExt cx="6858000" cy="384048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858000" cy="3840480"/>
            </a:xfrm>
            <a:custGeom>
              <a:avLst/>
              <a:gdLst/>
              <a:ahLst/>
              <a:cxnLst/>
              <a:rect l="l" t="t" r="r" b="b"/>
              <a:pathLst>
                <a:path w="6858000" h="3840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711696" y="0"/>
                  </a:lnTo>
                  <a:cubicBezTo>
                    <a:pt x="6792468" y="0"/>
                    <a:pt x="6858000" y="65532"/>
                    <a:pt x="6858000" y="146304"/>
                  </a:cubicBezTo>
                  <a:lnTo>
                    <a:pt x="6858000" y="3694176"/>
                  </a:lnTo>
                  <a:cubicBezTo>
                    <a:pt x="6858000" y="3774948"/>
                    <a:pt x="6792468" y="3840480"/>
                    <a:pt x="6711696" y="3840480"/>
                  </a:cubicBezTo>
                  <a:lnTo>
                    <a:pt x="146304" y="3840480"/>
                  </a:lnTo>
                  <a:cubicBezTo>
                    <a:pt x="65532" y="3840480"/>
                    <a:pt x="0" y="3774948"/>
                    <a:pt x="0" y="3694176"/>
                  </a:cubicBezTo>
                  <a:close/>
                </a:path>
              </a:pathLst>
            </a:custGeom>
            <a:solidFill>
              <a:srgbClr val="544541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1371600" y="6240780"/>
            <a:ext cx="4389120" cy="1303020"/>
            <a:chOff x="0" y="0"/>
            <a:chExt cx="5852160" cy="173736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852160" cy="1737360"/>
            </a:xfrm>
            <a:custGeom>
              <a:avLst/>
              <a:gdLst/>
              <a:ahLst/>
              <a:cxnLst/>
              <a:rect l="l" t="t" r="r" b="b"/>
              <a:pathLst>
                <a:path w="5852160" h="1737360">
                  <a:moveTo>
                    <a:pt x="0" y="0"/>
                  </a:moveTo>
                  <a:lnTo>
                    <a:pt x="5852160" y="0"/>
                  </a:lnTo>
                  <a:lnTo>
                    <a:pt x="585216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633" b="-15633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5852160" cy="17564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640"/>
                </a:lnSpc>
              </a:pPr>
              <a:r>
                <a:rPr lang="en-US" sz="72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53,383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569964" y="5966460"/>
            <a:ext cx="5143500" cy="2880360"/>
            <a:chOff x="0" y="0"/>
            <a:chExt cx="6858000" cy="384048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858000" cy="3840480"/>
            </a:xfrm>
            <a:custGeom>
              <a:avLst/>
              <a:gdLst/>
              <a:ahLst/>
              <a:cxnLst/>
              <a:rect l="l" t="t" r="r" b="b"/>
              <a:pathLst>
                <a:path w="6858000" h="3840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711696" y="0"/>
                  </a:lnTo>
                  <a:cubicBezTo>
                    <a:pt x="6792468" y="0"/>
                    <a:pt x="6858000" y="65532"/>
                    <a:pt x="6858000" y="146304"/>
                  </a:cubicBezTo>
                  <a:lnTo>
                    <a:pt x="6858000" y="3694176"/>
                  </a:lnTo>
                  <a:cubicBezTo>
                    <a:pt x="6858000" y="3774948"/>
                    <a:pt x="6792468" y="3840480"/>
                    <a:pt x="6711696" y="3840480"/>
                  </a:cubicBezTo>
                  <a:lnTo>
                    <a:pt x="146304" y="3840480"/>
                  </a:lnTo>
                  <a:cubicBezTo>
                    <a:pt x="65532" y="3840480"/>
                    <a:pt x="0" y="3774948"/>
                    <a:pt x="0" y="3694176"/>
                  </a:cubicBezTo>
                  <a:close/>
                </a:path>
              </a:pathLst>
            </a:custGeom>
            <a:solidFill>
              <a:srgbClr val="544541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6981444" y="6240780"/>
            <a:ext cx="4389120" cy="1303020"/>
            <a:chOff x="0" y="0"/>
            <a:chExt cx="5852160" cy="173736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852160" cy="1737360"/>
            </a:xfrm>
            <a:custGeom>
              <a:avLst/>
              <a:gdLst/>
              <a:ahLst/>
              <a:cxnLst/>
              <a:rect l="l" t="t" r="r" b="b"/>
              <a:pathLst>
                <a:path w="5852160" h="1737360">
                  <a:moveTo>
                    <a:pt x="0" y="0"/>
                  </a:moveTo>
                  <a:lnTo>
                    <a:pt x="5852160" y="0"/>
                  </a:lnTo>
                  <a:lnTo>
                    <a:pt x="585216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633" b="-15633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5852160" cy="17564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640"/>
                </a:lnSpc>
              </a:pPr>
              <a:r>
                <a:rPr lang="en-US" sz="72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4,921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179808" y="5966460"/>
            <a:ext cx="5143500" cy="2880360"/>
            <a:chOff x="0" y="0"/>
            <a:chExt cx="6858000" cy="384048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858000" cy="3840480"/>
            </a:xfrm>
            <a:custGeom>
              <a:avLst/>
              <a:gdLst/>
              <a:ahLst/>
              <a:cxnLst/>
              <a:rect l="l" t="t" r="r" b="b"/>
              <a:pathLst>
                <a:path w="6858000" h="3840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711696" y="0"/>
                  </a:lnTo>
                  <a:cubicBezTo>
                    <a:pt x="6792468" y="0"/>
                    <a:pt x="6858000" y="65532"/>
                    <a:pt x="6858000" y="146304"/>
                  </a:cubicBezTo>
                  <a:lnTo>
                    <a:pt x="6858000" y="3694176"/>
                  </a:lnTo>
                  <a:cubicBezTo>
                    <a:pt x="6858000" y="3774948"/>
                    <a:pt x="6792468" y="3840480"/>
                    <a:pt x="6711696" y="3840480"/>
                  </a:cubicBezTo>
                  <a:lnTo>
                    <a:pt x="146304" y="3840480"/>
                  </a:lnTo>
                  <a:cubicBezTo>
                    <a:pt x="65532" y="3840480"/>
                    <a:pt x="0" y="3774948"/>
                    <a:pt x="0" y="3694176"/>
                  </a:cubicBezTo>
                  <a:close/>
                </a:path>
              </a:pathLst>
            </a:custGeom>
            <a:solidFill>
              <a:srgbClr val="544541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12591288" y="6240780"/>
            <a:ext cx="4389120" cy="1303020"/>
            <a:chOff x="0" y="0"/>
            <a:chExt cx="5852160" cy="173736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852160" cy="1737360"/>
            </a:xfrm>
            <a:custGeom>
              <a:avLst/>
              <a:gdLst/>
              <a:ahLst/>
              <a:cxnLst/>
              <a:rect l="l" t="t" r="r" b="b"/>
              <a:pathLst>
                <a:path w="5852160" h="1737360">
                  <a:moveTo>
                    <a:pt x="0" y="0"/>
                  </a:moveTo>
                  <a:lnTo>
                    <a:pt x="5852160" y="0"/>
                  </a:lnTo>
                  <a:lnTo>
                    <a:pt x="585216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633" b="-15633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19050"/>
              <a:ext cx="5852160" cy="17564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640"/>
                </a:lnSpc>
              </a:pPr>
              <a:r>
                <a:rPr lang="en-US" sz="72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62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0" y="25360"/>
            <a:ext cx="18287001" cy="1244847"/>
            <a:chOff x="0" y="0"/>
            <a:chExt cx="31357471" cy="2134591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31357472" cy="2134591"/>
            </a:xfrm>
            <a:custGeom>
              <a:avLst/>
              <a:gdLst/>
              <a:ahLst/>
              <a:cxnLst/>
              <a:rect l="l" t="t" r="r" b="b"/>
              <a:pathLst>
                <a:path w="31357472" h="2134591">
                  <a:moveTo>
                    <a:pt x="0" y="81318"/>
                  </a:moveTo>
                  <a:cubicBezTo>
                    <a:pt x="0" y="36424"/>
                    <a:pt x="299638" y="0"/>
                    <a:pt x="668959" y="0"/>
                  </a:cubicBezTo>
                  <a:lnTo>
                    <a:pt x="30688511" y="0"/>
                  </a:lnTo>
                  <a:cubicBezTo>
                    <a:pt x="31057834" y="0"/>
                    <a:pt x="31357472" y="36424"/>
                    <a:pt x="31357472" y="81318"/>
                  </a:cubicBezTo>
                  <a:lnTo>
                    <a:pt x="31357472" y="2053273"/>
                  </a:lnTo>
                  <a:cubicBezTo>
                    <a:pt x="31357472" y="2098167"/>
                    <a:pt x="31057834" y="2134591"/>
                    <a:pt x="30688511" y="2134591"/>
                  </a:cubicBezTo>
                  <a:lnTo>
                    <a:pt x="668959" y="2134591"/>
                  </a:lnTo>
                  <a:cubicBezTo>
                    <a:pt x="299638" y="2134591"/>
                    <a:pt x="0" y="2098167"/>
                    <a:pt x="0" y="2053273"/>
                  </a:cubicBezTo>
                  <a:close/>
                </a:path>
              </a:pathLst>
            </a:custGeom>
            <a:solidFill>
              <a:srgbClr val="C2B19C"/>
            </a:solidFill>
          </p:spPr>
        </p:sp>
      </p:grpSp>
      <p:sp>
        <p:nvSpPr>
          <p:cNvPr id="35" name="TextBox 35"/>
          <p:cNvSpPr txBox="1"/>
          <p:nvPr/>
        </p:nvSpPr>
        <p:spPr>
          <a:xfrm>
            <a:off x="1028700" y="271564"/>
            <a:ext cx="16363188" cy="752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99"/>
              </a:lnSpc>
            </a:pPr>
            <a:r>
              <a:rPr lang="en-US" sz="4999" b="1">
                <a:solidFill>
                  <a:srgbClr val="262626"/>
                </a:solidFill>
                <a:latin typeface="Cambria Bold"/>
                <a:ea typeface="Cambria Bold"/>
                <a:cs typeface="Cambria Bold"/>
                <a:sym typeface="Cambria Bold"/>
              </a:rPr>
              <a:t>Dashboard Key Performance Indicators(KPI’s)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71600" y="4272915"/>
            <a:ext cx="4389120" cy="100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6EA"/>
                </a:solidFill>
                <a:latin typeface="Calibri (MS)"/>
                <a:ea typeface="Calibri (MS)"/>
                <a:cs typeface="Calibri (MS)"/>
                <a:sym typeface="Calibri (MS)"/>
              </a:rPr>
              <a:t>Total rentals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981444" y="4272915"/>
            <a:ext cx="4389120" cy="100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6EA"/>
                </a:solidFill>
                <a:latin typeface="Calibri (MS)"/>
                <a:ea typeface="Calibri (MS)"/>
                <a:cs typeface="Calibri (MS)"/>
                <a:sym typeface="Calibri (MS)"/>
              </a:rPr>
              <a:t>Average rentals per hour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591288" y="4272915"/>
            <a:ext cx="4389120" cy="100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6EA"/>
                </a:solidFill>
                <a:latin typeface="Calibri (MS)"/>
                <a:ea typeface="Calibri (MS)"/>
                <a:cs typeface="Calibri (MS)"/>
                <a:sym typeface="Calibri (MS)"/>
              </a:rPr>
              <a:t>Peak rentals in a single hour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371600" y="7564755"/>
            <a:ext cx="4389120" cy="100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6EA"/>
                </a:solidFill>
                <a:latin typeface="Calibri (MS)"/>
                <a:ea typeface="Calibri (MS)"/>
                <a:cs typeface="Calibri (MS)"/>
                <a:sym typeface="Calibri (MS)"/>
              </a:rPr>
              <a:t>Registered rentals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981444" y="7564755"/>
            <a:ext cx="4389120" cy="100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6EA"/>
                </a:solidFill>
                <a:latin typeface="Calibri (MS)"/>
                <a:ea typeface="Calibri (MS)"/>
                <a:cs typeface="Calibri (MS)"/>
                <a:sym typeface="Calibri (MS)"/>
              </a:rPr>
              <a:t>Casual rentals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591288" y="7564755"/>
            <a:ext cx="4389120" cy="100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6EA"/>
                </a:solidFill>
                <a:latin typeface="Calibri (MS)"/>
                <a:ea typeface="Calibri (MS)"/>
                <a:cs typeface="Calibri (MS)"/>
                <a:sym typeface="Calibri (MS)"/>
              </a:rPr>
              <a:t>Peak casual rentals in one hour (registered: 247)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6550640" y="9581388"/>
            <a:ext cx="681228" cy="358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FFF6EA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6550640" y="9581388"/>
            <a:ext cx="681228" cy="266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b="1">
                <a:solidFill>
                  <a:srgbClr val="5E5E5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59173" y="9619488"/>
            <a:ext cx="12344400" cy="678122"/>
            <a:chOff x="0" y="0"/>
            <a:chExt cx="16459200" cy="904163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6459200" cy="904163"/>
            </a:xfrm>
            <a:custGeom>
              <a:avLst/>
              <a:gdLst/>
              <a:ahLst/>
              <a:cxnLst/>
              <a:rect l="l" t="t" r="r" b="b"/>
              <a:pathLst>
                <a:path w="16459200" h="904163">
                  <a:moveTo>
                    <a:pt x="0" y="0"/>
                  </a:moveTo>
                  <a:lnTo>
                    <a:pt x="16459200" y="0"/>
                  </a:lnTo>
                  <a:lnTo>
                    <a:pt x="16459200" y="904163"/>
                  </a:lnTo>
                  <a:lnTo>
                    <a:pt x="0" y="90416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24362" b="-285041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28575"/>
              <a:ext cx="16459200" cy="9327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449">
                  <a:solidFill>
                    <a:srgbClr val="C455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KPI’s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5360"/>
            <a:ext cx="18287001" cy="1244847"/>
            <a:chOff x="0" y="0"/>
            <a:chExt cx="31357471" cy="21345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357472" cy="2134591"/>
            </a:xfrm>
            <a:custGeom>
              <a:avLst/>
              <a:gdLst/>
              <a:ahLst/>
              <a:cxnLst/>
              <a:rect l="l" t="t" r="r" b="b"/>
              <a:pathLst>
                <a:path w="31357472" h="2134591">
                  <a:moveTo>
                    <a:pt x="0" y="81318"/>
                  </a:moveTo>
                  <a:cubicBezTo>
                    <a:pt x="0" y="36424"/>
                    <a:pt x="299638" y="0"/>
                    <a:pt x="668959" y="0"/>
                  </a:cubicBezTo>
                  <a:lnTo>
                    <a:pt x="30688511" y="0"/>
                  </a:lnTo>
                  <a:cubicBezTo>
                    <a:pt x="31057834" y="0"/>
                    <a:pt x="31357472" y="36424"/>
                    <a:pt x="31357472" y="81318"/>
                  </a:cubicBezTo>
                  <a:lnTo>
                    <a:pt x="31357472" y="2053273"/>
                  </a:lnTo>
                  <a:cubicBezTo>
                    <a:pt x="31357472" y="2098167"/>
                    <a:pt x="31057834" y="2134591"/>
                    <a:pt x="30688511" y="2134591"/>
                  </a:cubicBezTo>
                  <a:lnTo>
                    <a:pt x="668959" y="2134591"/>
                  </a:lnTo>
                  <a:cubicBezTo>
                    <a:pt x="299638" y="2134591"/>
                    <a:pt x="0" y="2098167"/>
                    <a:pt x="0" y="2053273"/>
                  </a:cubicBezTo>
                  <a:close/>
                </a:path>
              </a:pathLst>
            </a:custGeom>
            <a:solidFill>
              <a:srgbClr val="C2B19C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1028700" y="276261"/>
            <a:ext cx="16363188" cy="752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99"/>
              </a:lnSpc>
            </a:pPr>
            <a:r>
              <a:rPr lang="en-US" sz="4999" b="1">
                <a:solidFill>
                  <a:srgbClr val="262626"/>
                </a:solidFill>
                <a:latin typeface="Cambria Bold"/>
                <a:ea typeface="Cambria Bold"/>
                <a:cs typeface="Cambria Bold"/>
                <a:sym typeface="Cambria Bold"/>
              </a:rPr>
              <a:t>Customer Breakdown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191189" y="1808209"/>
            <a:ext cx="6775080" cy="7705132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6550640" y="9581388"/>
            <a:ext cx="681228" cy="266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b="1">
                <a:solidFill>
                  <a:srgbClr val="26262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6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087879" y="2301247"/>
            <a:ext cx="3999438" cy="2239685"/>
            <a:chOff x="0" y="0"/>
            <a:chExt cx="6858000" cy="384048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858000" cy="3840480"/>
            </a:xfrm>
            <a:custGeom>
              <a:avLst/>
              <a:gdLst/>
              <a:ahLst/>
              <a:cxnLst/>
              <a:rect l="l" t="t" r="r" b="b"/>
              <a:pathLst>
                <a:path w="6858000" h="3840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711696" y="0"/>
                  </a:lnTo>
                  <a:cubicBezTo>
                    <a:pt x="6792468" y="0"/>
                    <a:pt x="6858000" y="65532"/>
                    <a:pt x="6858000" y="146304"/>
                  </a:cubicBezTo>
                  <a:lnTo>
                    <a:pt x="6858000" y="3694176"/>
                  </a:lnTo>
                  <a:cubicBezTo>
                    <a:pt x="6858000" y="3774948"/>
                    <a:pt x="6792468" y="3840480"/>
                    <a:pt x="6711696" y="3840480"/>
                  </a:cubicBezTo>
                  <a:lnTo>
                    <a:pt x="146304" y="3840480"/>
                  </a:lnTo>
                  <a:cubicBezTo>
                    <a:pt x="65532" y="3840480"/>
                    <a:pt x="0" y="3774948"/>
                    <a:pt x="0" y="3694176"/>
                  </a:cubicBezTo>
                  <a:close/>
                </a:path>
              </a:pathLst>
            </a:custGeom>
            <a:solidFill>
              <a:srgbClr val="473C38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0087879" y="4840525"/>
            <a:ext cx="3999438" cy="2239685"/>
            <a:chOff x="0" y="0"/>
            <a:chExt cx="6858000" cy="384048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858000" cy="3840480"/>
            </a:xfrm>
            <a:custGeom>
              <a:avLst/>
              <a:gdLst/>
              <a:ahLst/>
              <a:cxnLst/>
              <a:rect l="l" t="t" r="r" b="b"/>
              <a:pathLst>
                <a:path w="6858000" h="3840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711696" y="0"/>
                  </a:lnTo>
                  <a:cubicBezTo>
                    <a:pt x="6792468" y="0"/>
                    <a:pt x="6858000" y="65532"/>
                    <a:pt x="6858000" y="146304"/>
                  </a:cubicBezTo>
                  <a:lnTo>
                    <a:pt x="6858000" y="3694176"/>
                  </a:lnTo>
                  <a:cubicBezTo>
                    <a:pt x="6858000" y="3774948"/>
                    <a:pt x="6792468" y="3840480"/>
                    <a:pt x="6711696" y="3840480"/>
                  </a:cubicBezTo>
                  <a:lnTo>
                    <a:pt x="146304" y="3840480"/>
                  </a:lnTo>
                  <a:cubicBezTo>
                    <a:pt x="65532" y="3840480"/>
                    <a:pt x="0" y="3774948"/>
                    <a:pt x="0" y="3694176"/>
                  </a:cubicBezTo>
                  <a:close/>
                </a:path>
              </a:pathLst>
            </a:custGeom>
            <a:solidFill>
              <a:srgbClr val="473C38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0087879" y="7379803"/>
            <a:ext cx="3999438" cy="2239685"/>
            <a:chOff x="0" y="0"/>
            <a:chExt cx="6858000" cy="38404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858000" cy="3840480"/>
            </a:xfrm>
            <a:custGeom>
              <a:avLst/>
              <a:gdLst/>
              <a:ahLst/>
              <a:cxnLst/>
              <a:rect l="l" t="t" r="r" b="b"/>
              <a:pathLst>
                <a:path w="6858000" h="3840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711696" y="0"/>
                  </a:lnTo>
                  <a:cubicBezTo>
                    <a:pt x="6792468" y="0"/>
                    <a:pt x="6858000" y="65532"/>
                    <a:pt x="6858000" y="146304"/>
                  </a:cubicBezTo>
                  <a:lnTo>
                    <a:pt x="6858000" y="3694176"/>
                  </a:lnTo>
                  <a:cubicBezTo>
                    <a:pt x="6858000" y="3774948"/>
                    <a:pt x="6792468" y="3840480"/>
                    <a:pt x="6711696" y="3840480"/>
                  </a:cubicBezTo>
                  <a:lnTo>
                    <a:pt x="146304" y="3840480"/>
                  </a:lnTo>
                  <a:cubicBezTo>
                    <a:pt x="65532" y="3840480"/>
                    <a:pt x="0" y="3774948"/>
                    <a:pt x="0" y="3694176"/>
                  </a:cubicBezTo>
                  <a:close/>
                </a:path>
              </a:pathLst>
            </a:custGeom>
            <a:solidFill>
              <a:srgbClr val="473C38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10087879" y="2345528"/>
            <a:ext cx="3999438" cy="830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 b="1">
                <a:solidFill>
                  <a:srgbClr val="C4553A"/>
                </a:solidFill>
                <a:latin typeface="Cambria Bold"/>
                <a:ea typeface="Cambria Bold"/>
                <a:cs typeface="Cambria Bold"/>
                <a:sym typeface="Cambria Bold"/>
              </a:rPr>
              <a:t>91.6%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087879" y="4810278"/>
            <a:ext cx="3999438" cy="830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 b="1">
                <a:solidFill>
                  <a:srgbClr val="C4553A"/>
                </a:solidFill>
                <a:latin typeface="Cambria Bold"/>
                <a:ea typeface="Cambria Bold"/>
                <a:cs typeface="Cambria Bold"/>
                <a:sym typeface="Cambria Bold"/>
              </a:rPr>
              <a:t>8.4%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087879" y="7346910"/>
            <a:ext cx="3999438" cy="830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 b="1">
                <a:solidFill>
                  <a:srgbClr val="C4553A"/>
                </a:solidFill>
                <a:latin typeface="Cambria Bold"/>
                <a:ea typeface="Cambria Bold"/>
                <a:cs typeface="Cambria Bold"/>
                <a:sym typeface="Cambria Bold"/>
              </a:rPr>
              <a:t>10.8x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087879" y="3288549"/>
            <a:ext cx="3999438" cy="915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1">
                <a:solidFill>
                  <a:srgbClr val="FFF6EA"/>
                </a:solidFill>
                <a:latin typeface="Cambria Bold"/>
                <a:ea typeface="Cambria Bold"/>
                <a:cs typeface="Cambria Bold"/>
                <a:sym typeface="Cambria Bold"/>
              </a:rPr>
              <a:t>Registered Customers- 53,383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087879" y="5755122"/>
            <a:ext cx="3999438" cy="915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1">
                <a:solidFill>
                  <a:srgbClr val="FFF6EA"/>
                </a:solidFill>
                <a:latin typeface="Cambria Bold"/>
                <a:ea typeface="Cambria Bold"/>
                <a:cs typeface="Cambria Bold"/>
                <a:sym typeface="Cambria Bold"/>
              </a:rPr>
              <a:t>Casual Customers- </a:t>
            </a:r>
          </a:p>
          <a:p>
            <a:pPr algn="ctr">
              <a:lnSpc>
                <a:spcPts val="3640"/>
              </a:lnSpc>
            </a:pPr>
            <a:r>
              <a:rPr lang="en-US" sz="2600" b="1">
                <a:solidFill>
                  <a:srgbClr val="FFF6EA"/>
                </a:solidFill>
                <a:latin typeface="Cambria Bold"/>
                <a:ea typeface="Cambria Bold"/>
                <a:cs typeface="Cambria Bold"/>
                <a:sym typeface="Cambria Bold"/>
              </a:rPr>
              <a:t>4921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087879" y="8291754"/>
            <a:ext cx="3999438" cy="1372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1">
                <a:solidFill>
                  <a:srgbClr val="FFF6EA"/>
                </a:solidFill>
                <a:latin typeface="Cambria Bold"/>
                <a:ea typeface="Cambria Bold"/>
                <a:cs typeface="Cambria Bold"/>
                <a:sym typeface="Cambria Bold"/>
              </a:rPr>
              <a:t>Registered-to-casual ratio (53.4 vs. 4.9 per hour)</a:t>
            </a:r>
          </a:p>
          <a:p>
            <a:pPr algn="ctr">
              <a:lnSpc>
                <a:spcPts val="3640"/>
              </a:lnSpc>
            </a:pPr>
            <a:endParaRPr lang="en-US" sz="2600" b="1">
              <a:solidFill>
                <a:srgbClr val="FFF6EA"/>
              </a:solidFill>
              <a:latin typeface="Cambria Bold"/>
              <a:ea typeface="Cambria Bold"/>
              <a:cs typeface="Cambria Bold"/>
              <a:sym typeface="Cambria Bold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59173" y="9619488"/>
            <a:ext cx="12344400" cy="678122"/>
            <a:chOff x="0" y="0"/>
            <a:chExt cx="16459200" cy="90416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6459200" cy="904163"/>
            </a:xfrm>
            <a:custGeom>
              <a:avLst/>
              <a:gdLst/>
              <a:ahLst/>
              <a:cxnLst/>
              <a:rect l="l" t="t" r="r" b="b"/>
              <a:pathLst>
                <a:path w="16459200" h="904163">
                  <a:moveTo>
                    <a:pt x="0" y="0"/>
                  </a:moveTo>
                  <a:lnTo>
                    <a:pt x="16459200" y="0"/>
                  </a:lnTo>
                  <a:lnTo>
                    <a:pt x="16459200" y="904163"/>
                  </a:lnTo>
                  <a:lnTo>
                    <a:pt x="0" y="90416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24362" b="-285041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28575"/>
              <a:ext cx="16459200" cy="9327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449">
                  <a:solidFill>
                    <a:srgbClr val="C455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CUSTOMER COMPOSITION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80" y="9642616"/>
            <a:ext cx="12344400" cy="411480"/>
            <a:chOff x="0" y="0"/>
            <a:chExt cx="16459200" cy="5486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459200" cy="548640"/>
            </a:xfrm>
            <a:custGeom>
              <a:avLst/>
              <a:gdLst/>
              <a:ahLst/>
              <a:cxnLst/>
              <a:rect l="l" t="t" r="r" b="b"/>
              <a:pathLst>
                <a:path w="16459200" h="54864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4551" b="-534551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449">
                  <a:solidFill>
                    <a:srgbClr val="C455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TREND OVER TIME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25360"/>
            <a:ext cx="18287001" cy="1244847"/>
            <a:chOff x="0" y="0"/>
            <a:chExt cx="31357471" cy="213459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1357472" cy="2134591"/>
            </a:xfrm>
            <a:custGeom>
              <a:avLst/>
              <a:gdLst/>
              <a:ahLst/>
              <a:cxnLst/>
              <a:rect l="l" t="t" r="r" b="b"/>
              <a:pathLst>
                <a:path w="31357472" h="2134591">
                  <a:moveTo>
                    <a:pt x="0" y="81318"/>
                  </a:moveTo>
                  <a:cubicBezTo>
                    <a:pt x="0" y="36424"/>
                    <a:pt x="299638" y="0"/>
                    <a:pt x="668959" y="0"/>
                  </a:cubicBezTo>
                  <a:lnTo>
                    <a:pt x="30688511" y="0"/>
                  </a:lnTo>
                  <a:cubicBezTo>
                    <a:pt x="31057834" y="0"/>
                    <a:pt x="31357472" y="36424"/>
                    <a:pt x="31357472" y="81318"/>
                  </a:cubicBezTo>
                  <a:lnTo>
                    <a:pt x="31357472" y="2053273"/>
                  </a:lnTo>
                  <a:cubicBezTo>
                    <a:pt x="31357472" y="2098167"/>
                    <a:pt x="31057834" y="2134591"/>
                    <a:pt x="30688511" y="2134591"/>
                  </a:cubicBezTo>
                  <a:lnTo>
                    <a:pt x="668959" y="2134591"/>
                  </a:lnTo>
                  <a:cubicBezTo>
                    <a:pt x="299638" y="2134591"/>
                    <a:pt x="0" y="2098167"/>
                    <a:pt x="0" y="2053273"/>
                  </a:cubicBezTo>
                  <a:close/>
                </a:path>
              </a:pathLst>
            </a:custGeom>
            <a:solidFill>
              <a:srgbClr val="C2B19C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1310976" y="276290"/>
            <a:ext cx="16363188" cy="733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1">
                <a:solidFill>
                  <a:srgbClr val="262626"/>
                </a:solidFill>
                <a:latin typeface="Cambria Bold"/>
                <a:ea typeface="Cambria Bold"/>
                <a:cs typeface="Cambria Bold"/>
                <a:sym typeface="Cambria Bold"/>
              </a:rPr>
              <a:t>Daily rentals grew from January into February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54380" y="2062621"/>
            <a:ext cx="11658600" cy="6789420"/>
            <a:chOff x="0" y="0"/>
            <a:chExt cx="15544800" cy="90525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544800" cy="9052561"/>
            </a:xfrm>
            <a:custGeom>
              <a:avLst/>
              <a:gdLst/>
              <a:ahLst/>
              <a:cxnLst/>
              <a:rect l="l" t="t" r="r" b="b"/>
              <a:pathLst>
                <a:path w="15544800" h="905256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5398496" y="0"/>
                  </a:lnTo>
                  <a:cubicBezTo>
                    <a:pt x="15479268" y="0"/>
                    <a:pt x="15544800" y="65532"/>
                    <a:pt x="15544800" y="146304"/>
                  </a:cubicBezTo>
                  <a:lnTo>
                    <a:pt x="15544800" y="8906256"/>
                  </a:lnTo>
                  <a:cubicBezTo>
                    <a:pt x="15544800" y="8987028"/>
                    <a:pt x="15479268" y="9052561"/>
                    <a:pt x="15398496" y="9052561"/>
                  </a:cubicBezTo>
                  <a:lnTo>
                    <a:pt x="146304" y="9052561"/>
                  </a:lnTo>
                  <a:cubicBezTo>
                    <a:pt x="65532" y="9052560"/>
                    <a:pt x="0" y="8987028"/>
                    <a:pt x="0" y="890625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69853" y="1464957"/>
            <a:ext cx="13910935" cy="8546328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6550640" y="9581388"/>
            <a:ext cx="681228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b="1" dirty="0">
                <a:solidFill>
                  <a:srgbClr val="5E5E5C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2637770" y="1897778"/>
            <a:ext cx="3999438" cy="2239685"/>
            <a:chOff x="0" y="0"/>
            <a:chExt cx="6858000" cy="384048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858000" cy="3840480"/>
            </a:xfrm>
            <a:custGeom>
              <a:avLst/>
              <a:gdLst/>
              <a:ahLst/>
              <a:cxnLst/>
              <a:rect l="l" t="t" r="r" b="b"/>
              <a:pathLst>
                <a:path w="6858000" h="3840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711696" y="0"/>
                  </a:lnTo>
                  <a:cubicBezTo>
                    <a:pt x="6792468" y="0"/>
                    <a:pt x="6858000" y="65532"/>
                    <a:pt x="6858000" y="146304"/>
                  </a:cubicBezTo>
                  <a:lnTo>
                    <a:pt x="6858000" y="3694176"/>
                  </a:lnTo>
                  <a:cubicBezTo>
                    <a:pt x="6858000" y="3774948"/>
                    <a:pt x="6792468" y="3840480"/>
                    <a:pt x="6711696" y="3840480"/>
                  </a:cubicBezTo>
                  <a:lnTo>
                    <a:pt x="146304" y="3840480"/>
                  </a:lnTo>
                  <a:cubicBezTo>
                    <a:pt x="65532" y="3840480"/>
                    <a:pt x="0" y="3774948"/>
                    <a:pt x="0" y="3694176"/>
                  </a:cubicBezTo>
                  <a:close/>
                </a:path>
              </a:pathLst>
            </a:custGeom>
            <a:solidFill>
              <a:srgbClr val="473C38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2637770" y="4337488"/>
            <a:ext cx="3999438" cy="2239685"/>
            <a:chOff x="0" y="0"/>
            <a:chExt cx="6858000" cy="384048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858000" cy="3840480"/>
            </a:xfrm>
            <a:custGeom>
              <a:avLst/>
              <a:gdLst/>
              <a:ahLst/>
              <a:cxnLst/>
              <a:rect l="l" t="t" r="r" b="b"/>
              <a:pathLst>
                <a:path w="6858000" h="3840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711696" y="0"/>
                  </a:lnTo>
                  <a:cubicBezTo>
                    <a:pt x="6792468" y="0"/>
                    <a:pt x="6858000" y="65532"/>
                    <a:pt x="6858000" y="146304"/>
                  </a:cubicBezTo>
                  <a:lnTo>
                    <a:pt x="6858000" y="3694176"/>
                  </a:lnTo>
                  <a:cubicBezTo>
                    <a:pt x="6858000" y="3774948"/>
                    <a:pt x="6792468" y="3840480"/>
                    <a:pt x="6711696" y="3840480"/>
                  </a:cubicBezTo>
                  <a:lnTo>
                    <a:pt x="146304" y="3840480"/>
                  </a:lnTo>
                  <a:cubicBezTo>
                    <a:pt x="65532" y="3840480"/>
                    <a:pt x="0" y="3774948"/>
                    <a:pt x="0" y="3694176"/>
                  </a:cubicBezTo>
                  <a:close/>
                </a:path>
              </a:pathLst>
            </a:custGeom>
            <a:solidFill>
              <a:srgbClr val="473C38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2637770" y="6774025"/>
            <a:ext cx="3999438" cy="2239685"/>
            <a:chOff x="0" y="0"/>
            <a:chExt cx="6858000" cy="384048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858000" cy="3840480"/>
            </a:xfrm>
            <a:custGeom>
              <a:avLst/>
              <a:gdLst/>
              <a:ahLst/>
              <a:cxnLst/>
              <a:rect l="l" t="t" r="r" b="b"/>
              <a:pathLst>
                <a:path w="6858000" h="3840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711696" y="0"/>
                  </a:lnTo>
                  <a:cubicBezTo>
                    <a:pt x="6792468" y="0"/>
                    <a:pt x="6858000" y="65532"/>
                    <a:pt x="6858000" y="146304"/>
                  </a:cubicBezTo>
                  <a:lnTo>
                    <a:pt x="6858000" y="3694176"/>
                  </a:lnTo>
                  <a:cubicBezTo>
                    <a:pt x="6858000" y="3774948"/>
                    <a:pt x="6792468" y="3840480"/>
                    <a:pt x="6711696" y="3840480"/>
                  </a:cubicBezTo>
                  <a:lnTo>
                    <a:pt x="146304" y="3840480"/>
                  </a:lnTo>
                  <a:cubicBezTo>
                    <a:pt x="65532" y="3840480"/>
                    <a:pt x="0" y="3774948"/>
                    <a:pt x="0" y="3694176"/>
                  </a:cubicBezTo>
                  <a:close/>
                </a:path>
              </a:pathLst>
            </a:custGeom>
            <a:solidFill>
              <a:srgbClr val="473C38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12637770" y="2156542"/>
            <a:ext cx="3999438" cy="830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 b="1">
                <a:solidFill>
                  <a:srgbClr val="C4553A"/>
                </a:solidFill>
                <a:latin typeface="Cambria Bold"/>
                <a:ea typeface="Cambria Bold"/>
                <a:cs typeface="Cambria Bold"/>
                <a:sym typeface="Cambria Bold"/>
              </a:rPr>
              <a:t>1,985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637770" y="4626787"/>
            <a:ext cx="3999438" cy="830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 b="1">
                <a:solidFill>
                  <a:srgbClr val="C4553A"/>
                </a:solidFill>
                <a:latin typeface="Cambria Bold"/>
                <a:ea typeface="Cambria Bold"/>
                <a:cs typeface="Cambria Bold"/>
                <a:sym typeface="Cambria Bold"/>
              </a:rPr>
              <a:t>151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637770" y="6669250"/>
            <a:ext cx="3999438" cy="830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 b="1">
                <a:solidFill>
                  <a:srgbClr val="C4553A"/>
                </a:solidFill>
                <a:latin typeface="Cambria Bold"/>
                <a:ea typeface="Cambria Bold"/>
                <a:cs typeface="Cambria Bold"/>
                <a:sym typeface="Cambria Bold"/>
              </a:rPr>
              <a:t>+17%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637770" y="3185878"/>
            <a:ext cx="3999438" cy="398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1">
                <a:solidFill>
                  <a:srgbClr val="FFF6EA"/>
                </a:solidFill>
                <a:latin typeface="Cambria Bold"/>
                <a:ea typeface="Cambria Bold"/>
                <a:cs typeface="Cambria Bold"/>
                <a:sym typeface="Cambria Bold"/>
              </a:rPr>
              <a:t>Peak Day- 25th January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637770" y="7642669"/>
            <a:ext cx="3999438" cy="1598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1">
                <a:solidFill>
                  <a:srgbClr val="FFF6EA"/>
                </a:solidFill>
                <a:latin typeface="Cambria Bold"/>
                <a:ea typeface="Cambria Bold"/>
                <a:cs typeface="Cambria Bold"/>
                <a:sym typeface="Cambria Bold"/>
              </a:rPr>
              <a:t>Average daily rentals, 1–14 Feb vs. January (1,437 vs 1,232)</a:t>
            </a:r>
          </a:p>
          <a:p>
            <a:pPr algn="ctr">
              <a:lnSpc>
                <a:spcPts val="3220"/>
              </a:lnSpc>
            </a:pPr>
            <a:endParaRPr lang="en-US" sz="2300" b="1">
              <a:solidFill>
                <a:srgbClr val="FFF6EA"/>
              </a:solidFill>
              <a:latin typeface="Cambria Bold"/>
              <a:ea typeface="Cambria Bold"/>
              <a:cs typeface="Cambria Bold"/>
              <a:sym typeface="Cambria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2637770" y="5500311"/>
            <a:ext cx="3999438" cy="798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1">
                <a:solidFill>
                  <a:srgbClr val="FFF6EA"/>
                </a:solidFill>
                <a:latin typeface="Cambria Bold"/>
                <a:ea typeface="Cambria Bold"/>
                <a:cs typeface="Cambria Bold"/>
                <a:sym typeface="Cambria Bold"/>
              </a:rPr>
              <a:t>Lowest Day- 14th February(Last Day in Data)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8308" y="9779508"/>
            <a:ext cx="12344400" cy="411480"/>
            <a:chOff x="0" y="0"/>
            <a:chExt cx="16459200" cy="5486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459200" cy="548640"/>
            </a:xfrm>
            <a:custGeom>
              <a:avLst/>
              <a:gdLst/>
              <a:ahLst/>
              <a:cxnLst/>
              <a:rect l="l" t="t" r="r" b="b"/>
              <a:pathLst>
                <a:path w="16459200" h="54864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4551" b="-534551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449">
                  <a:solidFill>
                    <a:srgbClr val="C455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HOUR OF DAY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25360"/>
            <a:ext cx="18287001" cy="1244847"/>
            <a:chOff x="0" y="0"/>
            <a:chExt cx="31357471" cy="213459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1357472" cy="2134591"/>
            </a:xfrm>
            <a:custGeom>
              <a:avLst/>
              <a:gdLst/>
              <a:ahLst/>
              <a:cxnLst/>
              <a:rect l="l" t="t" r="r" b="b"/>
              <a:pathLst>
                <a:path w="31357472" h="2134591">
                  <a:moveTo>
                    <a:pt x="0" y="81318"/>
                  </a:moveTo>
                  <a:cubicBezTo>
                    <a:pt x="0" y="36424"/>
                    <a:pt x="299638" y="0"/>
                    <a:pt x="668959" y="0"/>
                  </a:cubicBezTo>
                  <a:lnTo>
                    <a:pt x="30688511" y="0"/>
                  </a:lnTo>
                  <a:cubicBezTo>
                    <a:pt x="31057834" y="0"/>
                    <a:pt x="31357472" y="36424"/>
                    <a:pt x="31357472" y="81318"/>
                  </a:cubicBezTo>
                  <a:lnTo>
                    <a:pt x="31357472" y="2053273"/>
                  </a:lnTo>
                  <a:cubicBezTo>
                    <a:pt x="31357472" y="2098167"/>
                    <a:pt x="31057834" y="2134591"/>
                    <a:pt x="30688511" y="2134591"/>
                  </a:cubicBezTo>
                  <a:lnTo>
                    <a:pt x="668959" y="2134591"/>
                  </a:lnTo>
                  <a:cubicBezTo>
                    <a:pt x="299638" y="2134591"/>
                    <a:pt x="0" y="2098167"/>
                    <a:pt x="0" y="2053273"/>
                  </a:cubicBezTo>
                  <a:close/>
                </a:path>
              </a:pathLst>
            </a:custGeom>
            <a:solidFill>
              <a:srgbClr val="C2B19C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960120" y="7269480"/>
            <a:ext cx="5143500" cy="1988820"/>
            <a:chOff x="0" y="0"/>
            <a:chExt cx="6858000" cy="26517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858000" cy="2651760"/>
            </a:xfrm>
            <a:custGeom>
              <a:avLst/>
              <a:gdLst/>
              <a:ahLst/>
              <a:cxnLst/>
              <a:rect l="l" t="t" r="r" b="b"/>
              <a:pathLst>
                <a:path w="6858000" h="26517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711696" y="0"/>
                  </a:lnTo>
                  <a:cubicBezTo>
                    <a:pt x="6792468" y="0"/>
                    <a:pt x="6858000" y="65532"/>
                    <a:pt x="6858000" y="146304"/>
                  </a:cubicBezTo>
                  <a:lnTo>
                    <a:pt x="6858000" y="2505456"/>
                  </a:lnTo>
                  <a:cubicBezTo>
                    <a:pt x="6858000" y="2586228"/>
                    <a:pt x="6792468" y="2651760"/>
                    <a:pt x="6711696" y="2651760"/>
                  </a:cubicBezTo>
                  <a:lnTo>
                    <a:pt x="146304" y="2651760"/>
                  </a:lnTo>
                  <a:cubicBezTo>
                    <a:pt x="65532" y="2651760"/>
                    <a:pt x="0" y="2586228"/>
                    <a:pt x="0" y="2505456"/>
                  </a:cubicBezTo>
                  <a:close/>
                </a:path>
              </a:pathLst>
            </a:custGeom>
            <a:solidFill>
              <a:srgbClr val="544541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303020" y="7379208"/>
            <a:ext cx="2057400" cy="822960"/>
            <a:chOff x="0" y="0"/>
            <a:chExt cx="2743200" cy="109728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43200" cy="1097280"/>
            </a:xfrm>
            <a:custGeom>
              <a:avLst/>
              <a:gdLst/>
              <a:ahLst/>
              <a:cxnLst/>
              <a:rect l="l" t="t" r="r" b="b"/>
              <a:pathLst>
                <a:path w="2743200" h="1097280">
                  <a:moveTo>
                    <a:pt x="0" y="0"/>
                  </a:moveTo>
                  <a:lnTo>
                    <a:pt x="2743200" y="0"/>
                  </a:lnTo>
                  <a:lnTo>
                    <a:pt x="2743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1" r="-1321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2743200" cy="11068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C4553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17:00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569964" y="7269480"/>
            <a:ext cx="5143500" cy="1988820"/>
            <a:chOff x="0" y="0"/>
            <a:chExt cx="6858000" cy="26517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858000" cy="2651760"/>
            </a:xfrm>
            <a:custGeom>
              <a:avLst/>
              <a:gdLst/>
              <a:ahLst/>
              <a:cxnLst/>
              <a:rect l="l" t="t" r="r" b="b"/>
              <a:pathLst>
                <a:path w="6858000" h="26517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711696" y="0"/>
                  </a:lnTo>
                  <a:cubicBezTo>
                    <a:pt x="6792468" y="0"/>
                    <a:pt x="6858000" y="65532"/>
                    <a:pt x="6858000" y="146304"/>
                  </a:cubicBezTo>
                  <a:lnTo>
                    <a:pt x="6858000" y="2505456"/>
                  </a:lnTo>
                  <a:cubicBezTo>
                    <a:pt x="6858000" y="2586228"/>
                    <a:pt x="6792468" y="2651760"/>
                    <a:pt x="6711696" y="2651760"/>
                  </a:cubicBezTo>
                  <a:lnTo>
                    <a:pt x="146304" y="2651760"/>
                  </a:lnTo>
                  <a:cubicBezTo>
                    <a:pt x="65532" y="2651760"/>
                    <a:pt x="0" y="2586228"/>
                    <a:pt x="0" y="2505456"/>
                  </a:cubicBezTo>
                  <a:close/>
                </a:path>
              </a:pathLst>
            </a:custGeom>
            <a:solidFill>
              <a:srgbClr val="544541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6912864" y="7379208"/>
            <a:ext cx="2057400" cy="822960"/>
            <a:chOff x="0" y="0"/>
            <a:chExt cx="2743200" cy="109728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743200" cy="1097280"/>
            </a:xfrm>
            <a:custGeom>
              <a:avLst/>
              <a:gdLst/>
              <a:ahLst/>
              <a:cxnLst/>
              <a:rect l="l" t="t" r="r" b="b"/>
              <a:pathLst>
                <a:path w="2743200" h="1097280">
                  <a:moveTo>
                    <a:pt x="0" y="0"/>
                  </a:moveTo>
                  <a:lnTo>
                    <a:pt x="2743200" y="0"/>
                  </a:lnTo>
                  <a:lnTo>
                    <a:pt x="2743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1" r="-1321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2743200" cy="11068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C4553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08:00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179808" y="7269480"/>
            <a:ext cx="5143500" cy="1988820"/>
            <a:chOff x="0" y="0"/>
            <a:chExt cx="6858000" cy="265176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858000" cy="2651760"/>
            </a:xfrm>
            <a:custGeom>
              <a:avLst/>
              <a:gdLst/>
              <a:ahLst/>
              <a:cxnLst/>
              <a:rect l="l" t="t" r="r" b="b"/>
              <a:pathLst>
                <a:path w="6858000" h="26517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711696" y="0"/>
                  </a:lnTo>
                  <a:cubicBezTo>
                    <a:pt x="6792468" y="0"/>
                    <a:pt x="6858000" y="65532"/>
                    <a:pt x="6858000" y="146304"/>
                  </a:cubicBezTo>
                  <a:lnTo>
                    <a:pt x="6858000" y="2505456"/>
                  </a:lnTo>
                  <a:cubicBezTo>
                    <a:pt x="6858000" y="2586228"/>
                    <a:pt x="6792468" y="2651760"/>
                    <a:pt x="6711696" y="2651760"/>
                  </a:cubicBezTo>
                  <a:lnTo>
                    <a:pt x="146304" y="2651760"/>
                  </a:lnTo>
                  <a:cubicBezTo>
                    <a:pt x="65532" y="2651760"/>
                    <a:pt x="0" y="2586228"/>
                    <a:pt x="0" y="2505456"/>
                  </a:cubicBezTo>
                  <a:close/>
                </a:path>
              </a:pathLst>
            </a:custGeom>
            <a:solidFill>
              <a:srgbClr val="544541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12522708" y="7379208"/>
            <a:ext cx="2057400" cy="822960"/>
            <a:chOff x="0" y="0"/>
            <a:chExt cx="2743200" cy="109728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743200" cy="1097280"/>
            </a:xfrm>
            <a:custGeom>
              <a:avLst/>
              <a:gdLst/>
              <a:ahLst/>
              <a:cxnLst/>
              <a:rect l="l" t="t" r="r" b="b"/>
              <a:pathLst>
                <a:path w="2743200" h="1097280">
                  <a:moveTo>
                    <a:pt x="0" y="0"/>
                  </a:moveTo>
                  <a:lnTo>
                    <a:pt x="2743200" y="0"/>
                  </a:lnTo>
                  <a:lnTo>
                    <a:pt x="2743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1" r="-1321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9525"/>
              <a:ext cx="2743200" cy="11068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C4553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28.9%</a:t>
              </a:r>
            </a:p>
          </p:txBody>
        </p:sp>
      </p:grpSp>
      <p:sp>
        <p:nvSpPr>
          <p:cNvPr id="22" name="Freeform 22"/>
          <p:cNvSpPr/>
          <p:nvPr/>
        </p:nvSpPr>
        <p:spPr>
          <a:xfrm>
            <a:off x="960120" y="2334068"/>
            <a:ext cx="16271748" cy="4698467"/>
          </a:xfrm>
          <a:custGeom>
            <a:avLst/>
            <a:gdLst/>
            <a:ahLst/>
            <a:cxnLst/>
            <a:rect l="l" t="t" r="r" b="b"/>
            <a:pathLst>
              <a:path w="16271748" h="4698467">
                <a:moveTo>
                  <a:pt x="0" y="0"/>
                </a:moveTo>
                <a:lnTo>
                  <a:pt x="16271748" y="0"/>
                </a:lnTo>
                <a:lnTo>
                  <a:pt x="16271748" y="4698468"/>
                </a:lnTo>
                <a:lnTo>
                  <a:pt x="0" y="46984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374184" y="276261"/>
            <a:ext cx="17443621" cy="752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99"/>
              </a:lnSpc>
            </a:pPr>
            <a:r>
              <a:rPr lang="en-US" sz="4999" b="1">
                <a:solidFill>
                  <a:srgbClr val="262626"/>
                </a:solidFill>
                <a:latin typeface="Cambria Bold"/>
                <a:ea typeface="Cambria Bold"/>
                <a:cs typeface="Cambria Bold"/>
                <a:sym typeface="Cambria Bold"/>
              </a:rPr>
              <a:t>Demand follows the commute, with peaks at 8:00 and 17:00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03020" y="8154543"/>
            <a:ext cx="4526280" cy="100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Busiest hour: 140 rentals on average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912864" y="8154543"/>
            <a:ext cx="4526280" cy="100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Morning peak: 128 rentals on average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522708" y="8154543"/>
            <a:ext cx="4709160" cy="676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Of all rentals fall in just three hours: 8:00, 17:00 and 18:00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6550640" y="9581388"/>
            <a:ext cx="681228" cy="266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b="1">
                <a:solidFill>
                  <a:srgbClr val="5E5E5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0501" y="9619488"/>
            <a:ext cx="12344400" cy="411480"/>
            <a:chOff x="0" y="0"/>
            <a:chExt cx="16459200" cy="5486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459200" cy="548640"/>
            </a:xfrm>
            <a:custGeom>
              <a:avLst/>
              <a:gdLst/>
              <a:ahLst/>
              <a:cxnLst/>
              <a:rect l="l" t="t" r="r" b="b"/>
              <a:pathLst>
                <a:path w="16459200" h="54864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4551" b="-534551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449">
                  <a:solidFill>
                    <a:srgbClr val="C455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DAY OF WEEK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25360"/>
            <a:ext cx="18287001" cy="1244847"/>
            <a:chOff x="0" y="0"/>
            <a:chExt cx="31357471" cy="213459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1357472" cy="2134591"/>
            </a:xfrm>
            <a:custGeom>
              <a:avLst/>
              <a:gdLst/>
              <a:ahLst/>
              <a:cxnLst/>
              <a:rect l="l" t="t" r="r" b="b"/>
              <a:pathLst>
                <a:path w="31357472" h="2134591">
                  <a:moveTo>
                    <a:pt x="0" y="81318"/>
                  </a:moveTo>
                  <a:cubicBezTo>
                    <a:pt x="0" y="36424"/>
                    <a:pt x="299638" y="0"/>
                    <a:pt x="668959" y="0"/>
                  </a:cubicBezTo>
                  <a:lnTo>
                    <a:pt x="30688511" y="0"/>
                  </a:lnTo>
                  <a:cubicBezTo>
                    <a:pt x="31057834" y="0"/>
                    <a:pt x="31357472" y="36424"/>
                    <a:pt x="31357472" y="81318"/>
                  </a:cubicBezTo>
                  <a:lnTo>
                    <a:pt x="31357472" y="2053273"/>
                  </a:lnTo>
                  <a:cubicBezTo>
                    <a:pt x="31357472" y="2098167"/>
                    <a:pt x="31057834" y="2134591"/>
                    <a:pt x="30688511" y="2134591"/>
                  </a:cubicBezTo>
                  <a:lnTo>
                    <a:pt x="668959" y="2134591"/>
                  </a:lnTo>
                  <a:cubicBezTo>
                    <a:pt x="299638" y="2134591"/>
                    <a:pt x="0" y="2098167"/>
                    <a:pt x="0" y="2053273"/>
                  </a:cubicBezTo>
                  <a:close/>
                </a:path>
              </a:pathLst>
            </a:custGeom>
            <a:solidFill>
              <a:srgbClr val="C2B19C"/>
            </a:solidFill>
          </p:spPr>
        </p:sp>
      </p:grpSp>
      <p:sp>
        <p:nvSpPr>
          <p:cNvPr id="7" name="Freeform 7"/>
          <p:cNvSpPr/>
          <p:nvPr/>
        </p:nvSpPr>
        <p:spPr>
          <a:xfrm>
            <a:off x="1008126" y="2282252"/>
            <a:ext cx="9859009" cy="6769026"/>
          </a:xfrm>
          <a:custGeom>
            <a:avLst/>
            <a:gdLst/>
            <a:ahLst/>
            <a:cxnLst/>
            <a:rect l="l" t="t" r="r" b="b"/>
            <a:pathLst>
              <a:path w="9859009" h="6769026">
                <a:moveTo>
                  <a:pt x="0" y="0"/>
                </a:moveTo>
                <a:lnTo>
                  <a:pt x="9859009" y="0"/>
                </a:lnTo>
                <a:lnTo>
                  <a:pt x="9859009" y="6769026"/>
                </a:lnTo>
                <a:lnTo>
                  <a:pt x="0" y="67690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08126" y="271564"/>
            <a:ext cx="16363188" cy="752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99"/>
              </a:lnSpc>
            </a:pPr>
            <a:r>
              <a:rPr lang="en-US" sz="4999" b="1">
                <a:solidFill>
                  <a:srgbClr val="262626"/>
                </a:solidFill>
                <a:latin typeface="Cambria Bold"/>
                <a:ea typeface="Cambria Bold"/>
                <a:cs typeface="Cambria Bold"/>
                <a:sym typeface="Cambria Bold"/>
              </a:rPr>
              <a:t>Weekdays outperform weekends by 24%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550640" y="9581388"/>
            <a:ext cx="681228" cy="266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b="1">
                <a:solidFill>
                  <a:srgbClr val="5E5E5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9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2165965" y="2820198"/>
            <a:ext cx="4471243" cy="2503896"/>
            <a:chOff x="0" y="0"/>
            <a:chExt cx="6858000" cy="38404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858000" cy="3840480"/>
            </a:xfrm>
            <a:custGeom>
              <a:avLst/>
              <a:gdLst/>
              <a:ahLst/>
              <a:cxnLst/>
              <a:rect l="l" t="t" r="r" b="b"/>
              <a:pathLst>
                <a:path w="6858000" h="3840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711696" y="0"/>
                  </a:lnTo>
                  <a:cubicBezTo>
                    <a:pt x="6792468" y="0"/>
                    <a:pt x="6858000" y="65532"/>
                    <a:pt x="6858000" y="146304"/>
                  </a:cubicBezTo>
                  <a:lnTo>
                    <a:pt x="6858000" y="3694176"/>
                  </a:lnTo>
                  <a:cubicBezTo>
                    <a:pt x="6858000" y="3774948"/>
                    <a:pt x="6792468" y="3840480"/>
                    <a:pt x="6711696" y="3840480"/>
                  </a:cubicBezTo>
                  <a:lnTo>
                    <a:pt x="146304" y="3840480"/>
                  </a:lnTo>
                  <a:cubicBezTo>
                    <a:pt x="65532" y="3840480"/>
                    <a:pt x="0" y="3774948"/>
                    <a:pt x="0" y="3694176"/>
                  </a:cubicBezTo>
                  <a:close/>
                </a:path>
              </a:pathLst>
            </a:custGeom>
            <a:solidFill>
              <a:srgbClr val="473C38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2165965" y="5862040"/>
            <a:ext cx="4471243" cy="2503896"/>
            <a:chOff x="0" y="0"/>
            <a:chExt cx="6858000" cy="384048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858000" cy="3840480"/>
            </a:xfrm>
            <a:custGeom>
              <a:avLst/>
              <a:gdLst/>
              <a:ahLst/>
              <a:cxnLst/>
              <a:rect l="l" t="t" r="r" b="b"/>
              <a:pathLst>
                <a:path w="6858000" h="3840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711696" y="0"/>
                  </a:lnTo>
                  <a:cubicBezTo>
                    <a:pt x="6792468" y="0"/>
                    <a:pt x="6858000" y="65532"/>
                    <a:pt x="6858000" y="146304"/>
                  </a:cubicBezTo>
                  <a:lnTo>
                    <a:pt x="6858000" y="3694176"/>
                  </a:lnTo>
                  <a:cubicBezTo>
                    <a:pt x="6858000" y="3774948"/>
                    <a:pt x="6792468" y="3840480"/>
                    <a:pt x="6711696" y="3840480"/>
                  </a:cubicBezTo>
                  <a:lnTo>
                    <a:pt x="146304" y="3840480"/>
                  </a:lnTo>
                  <a:cubicBezTo>
                    <a:pt x="65532" y="3840480"/>
                    <a:pt x="0" y="3774948"/>
                    <a:pt x="0" y="3694176"/>
                  </a:cubicBezTo>
                  <a:close/>
                </a:path>
              </a:pathLst>
            </a:custGeom>
            <a:solidFill>
              <a:srgbClr val="473C38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12401868" y="2977711"/>
            <a:ext cx="3999438" cy="830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 b="1">
                <a:solidFill>
                  <a:srgbClr val="C4553A"/>
                </a:solidFill>
                <a:latin typeface="Cambria Bold"/>
                <a:ea typeface="Cambria Bold"/>
                <a:cs typeface="Cambria Bold"/>
                <a:sym typeface="Cambria Bold"/>
              </a:rPr>
              <a:t>63.3 vs. 48.1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401868" y="5949625"/>
            <a:ext cx="3999438" cy="830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 b="1">
                <a:solidFill>
                  <a:srgbClr val="C4553A"/>
                </a:solidFill>
                <a:latin typeface="Cambria Bold"/>
                <a:ea typeface="Cambria Bold"/>
                <a:cs typeface="Cambria Bold"/>
                <a:sym typeface="Cambria Bold"/>
              </a:rPr>
              <a:t>18%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401868" y="4014996"/>
            <a:ext cx="3999438" cy="1198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1">
                <a:solidFill>
                  <a:srgbClr val="FFF6EA"/>
                </a:solidFill>
                <a:latin typeface="Cambria Bold"/>
                <a:ea typeface="Cambria Bold"/>
                <a:cs typeface="Cambria Bold"/>
                <a:sym typeface="Cambria Bold"/>
              </a:rPr>
              <a:t>Rentals per hour, weekday vs weekend</a:t>
            </a:r>
          </a:p>
          <a:p>
            <a:pPr algn="ctr">
              <a:lnSpc>
                <a:spcPts val="3220"/>
              </a:lnSpc>
            </a:pPr>
            <a:endParaRPr lang="en-US" sz="2300" b="1">
              <a:solidFill>
                <a:srgbClr val="FFF6EA"/>
              </a:solidFill>
              <a:latin typeface="Cambria Bold"/>
              <a:ea typeface="Cambria Bold"/>
              <a:cs typeface="Cambria Bold"/>
              <a:sym typeface="Cambria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2534901" y="6989719"/>
            <a:ext cx="3999438" cy="1598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1">
                <a:solidFill>
                  <a:srgbClr val="FFF6EA"/>
                </a:solidFill>
                <a:latin typeface="Cambria Bold"/>
                <a:ea typeface="Cambria Bold"/>
                <a:cs typeface="Cambria Bold"/>
                <a:sym typeface="Cambria Bold"/>
              </a:rPr>
              <a:t>Casual share on Sundays (Saturday 16%), against 4–6% midweek</a:t>
            </a:r>
          </a:p>
          <a:p>
            <a:pPr algn="ctr">
              <a:lnSpc>
                <a:spcPts val="3220"/>
              </a:lnSpc>
            </a:pPr>
            <a:endParaRPr lang="en-US" sz="2300" b="1">
              <a:solidFill>
                <a:srgbClr val="FFF6EA"/>
              </a:solidFill>
              <a:latin typeface="Cambria Bold"/>
              <a:ea typeface="Cambria Bold"/>
              <a:cs typeface="Cambria Bold"/>
              <a:sym typeface="Cambria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9283" y="9619488"/>
            <a:ext cx="12344400" cy="411480"/>
            <a:chOff x="0" y="0"/>
            <a:chExt cx="16459200" cy="5486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459200" cy="548640"/>
            </a:xfrm>
            <a:custGeom>
              <a:avLst/>
              <a:gdLst/>
              <a:ahLst/>
              <a:cxnLst/>
              <a:rect l="l" t="t" r="r" b="b"/>
              <a:pathLst>
                <a:path w="16459200" h="54864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4551" b="-534551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449">
                  <a:solidFill>
                    <a:srgbClr val="C455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RIDERSHIP HEATMAP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25360"/>
            <a:ext cx="18287001" cy="1244847"/>
            <a:chOff x="0" y="0"/>
            <a:chExt cx="31357471" cy="213459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1357472" cy="2134591"/>
            </a:xfrm>
            <a:custGeom>
              <a:avLst/>
              <a:gdLst/>
              <a:ahLst/>
              <a:cxnLst/>
              <a:rect l="l" t="t" r="r" b="b"/>
              <a:pathLst>
                <a:path w="31357472" h="2134591">
                  <a:moveTo>
                    <a:pt x="0" y="81318"/>
                  </a:moveTo>
                  <a:cubicBezTo>
                    <a:pt x="0" y="36424"/>
                    <a:pt x="299638" y="0"/>
                    <a:pt x="668959" y="0"/>
                  </a:cubicBezTo>
                  <a:lnTo>
                    <a:pt x="30688511" y="0"/>
                  </a:lnTo>
                  <a:cubicBezTo>
                    <a:pt x="31057834" y="0"/>
                    <a:pt x="31357472" y="36424"/>
                    <a:pt x="31357472" y="81318"/>
                  </a:cubicBezTo>
                  <a:lnTo>
                    <a:pt x="31357472" y="2053273"/>
                  </a:lnTo>
                  <a:cubicBezTo>
                    <a:pt x="31357472" y="2098167"/>
                    <a:pt x="31057834" y="2134591"/>
                    <a:pt x="30688511" y="2134591"/>
                  </a:cubicBezTo>
                  <a:lnTo>
                    <a:pt x="668959" y="2134591"/>
                  </a:lnTo>
                  <a:cubicBezTo>
                    <a:pt x="299638" y="2134591"/>
                    <a:pt x="0" y="2098167"/>
                    <a:pt x="0" y="2053273"/>
                  </a:cubicBezTo>
                  <a:close/>
                </a:path>
              </a:pathLst>
            </a:custGeom>
            <a:solidFill>
              <a:srgbClr val="C2B19C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11904641" y="2195360"/>
            <a:ext cx="5487247" cy="2228728"/>
            <a:chOff x="0" y="0"/>
            <a:chExt cx="8416350" cy="341842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416350" cy="3418427"/>
            </a:xfrm>
            <a:custGeom>
              <a:avLst/>
              <a:gdLst/>
              <a:ahLst/>
              <a:cxnLst/>
              <a:rect l="l" t="t" r="r" b="b"/>
              <a:pathLst>
                <a:path w="8416350" h="3418427">
                  <a:moveTo>
                    <a:pt x="0" y="130226"/>
                  </a:moveTo>
                  <a:cubicBezTo>
                    <a:pt x="0" y="58330"/>
                    <a:pt x="80423" y="0"/>
                    <a:pt x="179549" y="0"/>
                  </a:cubicBezTo>
                  <a:lnTo>
                    <a:pt x="8236800" y="0"/>
                  </a:lnTo>
                  <a:cubicBezTo>
                    <a:pt x="8335927" y="0"/>
                    <a:pt x="8416350" y="58330"/>
                    <a:pt x="8416350" y="130226"/>
                  </a:cubicBezTo>
                  <a:lnTo>
                    <a:pt x="8416350" y="3288201"/>
                  </a:lnTo>
                  <a:cubicBezTo>
                    <a:pt x="8416350" y="3360097"/>
                    <a:pt x="8335927" y="3418427"/>
                    <a:pt x="8236800" y="3418427"/>
                  </a:cubicBezTo>
                  <a:lnTo>
                    <a:pt x="179549" y="3418427"/>
                  </a:lnTo>
                  <a:cubicBezTo>
                    <a:pt x="80423" y="3418427"/>
                    <a:pt x="0" y="3360096"/>
                    <a:pt x="0" y="3288201"/>
                  </a:cubicBezTo>
                  <a:close/>
                </a:path>
              </a:pathLst>
            </a:custGeom>
            <a:solidFill>
              <a:srgbClr val="473C38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1028700" y="285815"/>
            <a:ext cx="16363188" cy="752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99"/>
              </a:lnSpc>
            </a:pPr>
            <a:r>
              <a:rPr lang="en-US" sz="4999" b="1">
                <a:solidFill>
                  <a:srgbClr val="262626"/>
                </a:solidFill>
                <a:latin typeface="Cambria Bold"/>
                <a:ea typeface="Cambria Bold"/>
                <a:cs typeface="Cambria Bold"/>
                <a:sym typeface="Cambria Bold"/>
              </a:rPr>
              <a:t>Weekdays peak at the rush hours, weekends at midday</a:t>
            </a:r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960120" y="2674620"/>
          <a:ext cx="10534652" cy="5029200"/>
        </p:xfrm>
        <a:graphic>
          <a:graphicData uri="http://schemas.openxmlformats.org/drawingml/2006/table">
            <a:tbl>
              <a:tblPr/>
              <a:tblGrid>
                <a:gridCol w="2594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25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25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25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25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25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3251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544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Time block</a:t>
                      </a:r>
                      <a:endParaRPr lang="en-US" sz="1100"/>
                    </a:p>
                  </a:txBody>
                  <a:tcPr marT="91440" marB="91440" anchor="ctr">
                    <a:lnL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Mon</a:t>
                      </a:r>
                      <a:endParaRPr lang="en-US" sz="1100"/>
                    </a:p>
                  </a:txBody>
                  <a:tcPr marT="91440" marB="91440" anchor="ctr">
                    <a:lnL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Tue</a:t>
                      </a:r>
                      <a:endParaRPr lang="en-US" sz="1100"/>
                    </a:p>
                  </a:txBody>
                  <a:tcPr marT="91440" marB="91440" anchor="ctr">
                    <a:lnL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Wed</a:t>
                      </a:r>
                      <a:endParaRPr lang="en-US" sz="1100"/>
                    </a:p>
                  </a:txBody>
                  <a:tcPr marT="91440" marB="91440" anchor="ctr">
                    <a:lnL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Thu</a:t>
                      </a:r>
                      <a:endParaRPr lang="en-US" sz="1100"/>
                    </a:p>
                  </a:txBody>
                  <a:tcPr marT="91440" marB="91440" anchor="ctr">
                    <a:lnL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Fri</a:t>
                      </a:r>
                      <a:endParaRPr lang="en-US" sz="1100"/>
                    </a:p>
                  </a:txBody>
                  <a:tcPr marT="91440" marB="91440" anchor="ctr">
                    <a:lnL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Sat</a:t>
                      </a:r>
                      <a:endParaRPr lang="en-US" sz="1100"/>
                    </a:p>
                  </a:txBody>
                  <a:tcPr marT="91440" marB="91440" anchor="ctr">
                    <a:lnL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Sun</a:t>
                      </a:r>
                      <a:endParaRPr lang="en-US" sz="1100"/>
                    </a:p>
                  </a:txBody>
                  <a:tcPr marT="91440" marB="91440" anchor="ctr">
                    <a:lnL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26262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Night (0-5)</a:t>
                      </a:r>
                      <a:endParaRPr lang="en-US" sz="1100"/>
                    </a:p>
                  </a:txBody>
                  <a:tcPr marT="91440" marB="91440" anchor="ctr">
                    <a:lnL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626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</a:t>
                      </a:r>
                      <a:endParaRPr lang="en-US" sz="1100"/>
                    </a:p>
                  </a:txBody>
                  <a:tcPr marT="91440" marB="91440" anchor="ctr">
                    <a:lnL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626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</a:t>
                      </a:r>
                      <a:endParaRPr lang="en-US" sz="1100"/>
                    </a:p>
                  </a:txBody>
                  <a:tcPr marT="91440" marB="91440" anchor="ctr">
                    <a:lnL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626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</a:t>
                      </a:r>
                      <a:endParaRPr lang="en-US" sz="1100"/>
                    </a:p>
                  </a:txBody>
                  <a:tcPr marT="91440" marB="91440" anchor="ctr">
                    <a:lnL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626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</a:t>
                      </a:r>
                      <a:endParaRPr lang="en-US" sz="1100"/>
                    </a:p>
                  </a:txBody>
                  <a:tcPr marT="91440" marB="91440" anchor="ctr">
                    <a:lnL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626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</a:t>
                      </a:r>
                      <a:endParaRPr lang="en-US" sz="1100"/>
                    </a:p>
                  </a:txBody>
                  <a:tcPr marT="91440" marB="91440" anchor="ctr">
                    <a:lnL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626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14</a:t>
                      </a:r>
                      <a:endParaRPr lang="en-US" sz="1100"/>
                    </a:p>
                  </a:txBody>
                  <a:tcPr marT="91440" marB="91440" anchor="ctr">
                    <a:lnL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2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626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14</a:t>
                      </a:r>
                      <a:endParaRPr lang="en-US" sz="1100"/>
                    </a:p>
                  </a:txBody>
                  <a:tcPr marT="91440" marB="91440" anchor="ctr">
                    <a:lnL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2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26262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Morning (6-9)</a:t>
                      </a:r>
                      <a:endParaRPr lang="en-US" sz="1100"/>
                    </a:p>
                  </a:txBody>
                  <a:tcPr marT="91440" marB="91440" anchor="ctr">
                    <a:lnL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85</a:t>
                      </a:r>
                      <a:endParaRPr lang="en-US" sz="1100"/>
                    </a:p>
                  </a:txBody>
                  <a:tcPr marT="91440" marB="91440" anchor="ctr">
                    <a:lnL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C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112</a:t>
                      </a:r>
                      <a:endParaRPr lang="en-US" sz="1100"/>
                    </a:p>
                  </a:txBody>
                  <a:tcPr marT="91440" marB="91440" anchor="ctr">
                    <a:lnL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6B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88</a:t>
                      </a:r>
                      <a:endParaRPr lang="en-US" sz="1100"/>
                    </a:p>
                  </a:txBody>
                  <a:tcPr marT="91440" marB="91440" anchor="ctr">
                    <a:lnL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88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116</a:t>
                      </a:r>
                      <a:endParaRPr lang="en-US" sz="1100"/>
                    </a:p>
                  </a:txBody>
                  <a:tcPr marT="91440" marB="91440" anchor="ctr">
                    <a:lnL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66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106</a:t>
                      </a:r>
                      <a:endParaRPr lang="en-US" sz="1100"/>
                    </a:p>
                  </a:txBody>
                  <a:tcPr marT="91440" marB="91440" anchor="ctr">
                    <a:lnL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72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626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15</a:t>
                      </a:r>
                      <a:endParaRPr lang="en-US" sz="1100"/>
                    </a:p>
                  </a:txBody>
                  <a:tcPr marT="91440" marB="91440" anchor="ctr">
                    <a:lnL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1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626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14</a:t>
                      </a:r>
                      <a:endParaRPr lang="en-US" sz="1100"/>
                    </a:p>
                  </a:txBody>
                  <a:tcPr marT="91440" marB="91440" anchor="ctr">
                    <a:lnL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2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26262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Midday (10-15)</a:t>
                      </a:r>
                      <a:endParaRPr lang="en-US" sz="1100"/>
                    </a:p>
                  </a:txBody>
                  <a:tcPr marT="91440" marB="91440" anchor="ctr">
                    <a:lnL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626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59</a:t>
                      </a:r>
                      <a:endParaRPr lang="en-US" sz="1100"/>
                    </a:p>
                  </a:txBody>
                  <a:tcPr marT="91440" marB="91440" anchor="ctr">
                    <a:lnL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AB9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626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56</a:t>
                      </a:r>
                      <a:endParaRPr lang="en-US" sz="1100"/>
                    </a:p>
                  </a:txBody>
                  <a:tcPr marT="91440" marB="91440" anchor="ctr">
                    <a:lnL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AF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626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57</a:t>
                      </a:r>
                      <a:endParaRPr lang="en-US" sz="1100"/>
                    </a:p>
                  </a:txBody>
                  <a:tcPr marT="91440" marB="91440" anchor="ctr">
                    <a:lnL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AE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626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60</a:t>
                      </a:r>
                      <a:endParaRPr lang="en-US" sz="1100"/>
                    </a:p>
                  </a:txBody>
                  <a:tcPr marT="91440" marB="91440" anchor="ctr">
                    <a:lnL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AA9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626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63</a:t>
                      </a:r>
                      <a:endParaRPr lang="en-US" sz="1100"/>
                    </a:p>
                  </a:txBody>
                  <a:tcPr marT="91440" marB="91440" anchor="ctr">
                    <a:lnL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A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626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84</a:t>
                      </a:r>
                      <a:endParaRPr lang="en-US" sz="1100"/>
                    </a:p>
                  </a:txBody>
                  <a:tcPr marT="91440" marB="91440" anchor="ctr">
                    <a:lnL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8D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102</a:t>
                      </a:r>
                      <a:endParaRPr lang="en-US" sz="1100"/>
                    </a:p>
                  </a:txBody>
                  <a:tcPr marT="91440" marB="91440" anchor="ctr">
                    <a:lnL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77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26262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Evening (16-19)</a:t>
                      </a:r>
                      <a:endParaRPr lang="en-US" sz="1100"/>
                    </a:p>
                  </a:txBody>
                  <a:tcPr marT="91440" marB="91440" anchor="ctr">
                    <a:lnL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124</a:t>
                      </a:r>
                      <a:endParaRPr lang="en-US" sz="1100"/>
                    </a:p>
                  </a:txBody>
                  <a:tcPr marT="91440" marB="91440" anchor="ctr">
                    <a:lnL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5C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129</a:t>
                      </a:r>
                      <a:endParaRPr lang="en-US" sz="1100"/>
                    </a:p>
                  </a:txBody>
                  <a:tcPr marT="91440" marB="91440" anchor="ctr">
                    <a:lnL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56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123</a:t>
                      </a:r>
                      <a:endParaRPr lang="en-US" sz="1100"/>
                    </a:p>
                  </a:txBody>
                  <a:tcPr marT="91440" marB="91440" anchor="ctr">
                    <a:lnL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5E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123</a:t>
                      </a:r>
                      <a:endParaRPr lang="en-US" sz="1100"/>
                    </a:p>
                  </a:txBody>
                  <a:tcPr marT="91440" marB="91440" anchor="ctr">
                    <a:lnL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5E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127</a:t>
                      </a:r>
                      <a:endParaRPr lang="en-US" sz="1100"/>
                    </a:p>
                  </a:txBody>
                  <a:tcPr marT="91440" marB="91440" anchor="ctr">
                    <a:lnL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59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626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76</a:t>
                      </a:r>
                      <a:endParaRPr lang="en-US" sz="1100"/>
                    </a:p>
                  </a:txBody>
                  <a:tcPr marT="91440" marB="91440" anchor="ctr">
                    <a:lnL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97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626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76</a:t>
                      </a:r>
                      <a:endParaRPr lang="en-US" sz="1100"/>
                    </a:p>
                  </a:txBody>
                  <a:tcPr marT="91440" marB="91440" anchor="ctr">
                    <a:lnL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97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26262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Late (20-23)</a:t>
                      </a:r>
                      <a:endParaRPr lang="en-US" sz="1100"/>
                    </a:p>
                  </a:txBody>
                  <a:tcPr marT="91440" marB="91440" anchor="ctr">
                    <a:lnL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626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41</a:t>
                      </a:r>
                      <a:endParaRPr lang="en-US" sz="1100"/>
                    </a:p>
                  </a:txBody>
                  <a:tcPr marT="91440" marB="91440" anchor="ctr">
                    <a:lnL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1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626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43</a:t>
                      </a:r>
                      <a:endParaRPr lang="en-US" sz="1100"/>
                    </a:p>
                  </a:txBody>
                  <a:tcPr marT="91440" marB="91440" anchor="ctr">
                    <a:lnL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BF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626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52</a:t>
                      </a:r>
                      <a:endParaRPr lang="en-US" sz="1100"/>
                    </a:p>
                  </a:txBody>
                  <a:tcPr marT="91440" marB="91440" anchor="ctr">
                    <a:lnL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B4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626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52</a:t>
                      </a:r>
                      <a:endParaRPr lang="en-US" sz="1100"/>
                    </a:p>
                  </a:txBody>
                  <a:tcPr marT="91440" marB="91440" anchor="ctr">
                    <a:lnL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B4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626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44</a:t>
                      </a:r>
                      <a:endParaRPr lang="en-US" sz="1100"/>
                    </a:p>
                  </a:txBody>
                  <a:tcPr marT="91440" marB="91440" anchor="ctr">
                    <a:lnL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BE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626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40</a:t>
                      </a:r>
                      <a:endParaRPr lang="en-US" sz="1100"/>
                    </a:p>
                  </a:txBody>
                  <a:tcPr marT="91440" marB="91440" anchor="ctr">
                    <a:lnL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C2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626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28</a:t>
                      </a:r>
                      <a:endParaRPr lang="en-US" sz="1100"/>
                    </a:p>
                  </a:txBody>
                  <a:tcPr marT="91440" marB="91440" anchor="ctr">
                    <a:lnL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1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1" name="Group 11"/>
          <p:cNvGrpSpPr/>
          <p:nvPr/>
        </p:nvGrpSpPr>
        <p:grpSpPr>
          <a:xfrm>
            <a:off x="960120" y="8229600"/>
            <a:ext cx="10561320" cy="411480"/>
            <a:chOff x="0" y="0"/>
            <a:chExt cx="14081760" cy="5486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081761" cy="548640"/>
            </a:xfrm>
            <a:custGeom>
              <a:avLst/>
              <a:gdLst/>
              <a:ahLst/>
              <a:cxnLst/>
              <a:rect l="l" t="t" r="r" b="b"/>
              <a:pathLst>
                <a:path w="14081761" h="548640">
                  <a:moveTo>
                    <a:pt x="0" y="0"/>
                  </a:moveTo>
                  <a:lnTo>
                    <a:pt x="14081761" y="0"/>
                  </a:lnTo>
                  <a:lnTo>
                    <a:pt x="14081761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0115" b="-450115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408176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79"/>
                </a:lnSpc>
              </a:pPr>
              <a:r>
                <a:rPr lang="en-US" sz="1899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Average rentals per hour. Darker cells = busier.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207240" y="2533650"/>
            <a:ext cx="5074920" cy="480060"/>
            <a:chOff x="0" y="0"/>
            <a:chExt cx="6766560" cy="64008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766560" cy="640080"/>
            </a:xfrm>
            <a:custGeom>
              <a:avLst/>
              <a:gdLst/>
              <a:ahLst/>
              <a:cxnLst/>
              <a:rect l="l" t="t" r="r" b="b"/>
              <a:pathLst>
                <a:path w="6766560" h="640080">
                  <a:moveTo>
                    <a:pt x="0" y="0"/>
                  </a:moveTo>
                  <a:lnTo>
                    <a:pt x="6766560" y="0"/>
                  </a:lnTo>
                  <a:lnTo>
                    <a:pt x="67665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5984" b="-155984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6766560" cy="687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C455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Commuter pattern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904641" y="4594860"/>
            <a:ext cx="5487247" cy="1805393"/>
            <a:chOff x="0" y="0"/>
            <a:chExt cx="8416350" cy="276911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416350" cy="2769115"/>
            </a:xfrm>
            <a:custGeom>
              <a:avLst/>
              <a:gdLst/>
              <a:ahLst/>
              <a:cxnLst/>
              <a:rect l="l" t="t" r="r" b="b"/>
              <a:pathLst>
                <a:path w="8416350" h="2769115">
                  <a:moveTo>
                    <a:pt x="0" y="105490"/>
                  </a:moveTo>
                  <a:cubicBezTo>
                    <a:pt x="0" y="47251"/>
                    <a:pt x="80423" y="0"/>
                    <a:pt x="179549" y="0"/>
                  </a:cubicBezTo>
                  <a:lnTo>
                    <a:pt x="8236800" y="0"/>
                  </a:lnTo>
                  <a:cubicBezTo>
                    <a:pt x="8335927" y="0"/>
                    <a:pt x="8416350" y="47251"/>
                    <a:pt x="8416350" y="105490"/>
                  </a:cubicBezTo>
                  <a:lnTo>
                    <a:pt x="8416350" y="2663625"/>
                  </a:lnTo>
                  <a:cubicBezTo>
                    <a:pt x="8416350" y="2721864"/>
                    <a:pt x="8335927" y="2769115"/>
                    <a:pt x="8236800" y="2769115"/>
                  </a:cubicBezTo>
                  <a:lnTo>
                    <a:pt x="179549" y="2769115"/>
                  </a:lnTo>
                  <a:cubicBezTo>
                    <a:pt x="80423" y="2769115"/>
                    <a:pt x="0" y="2721864"/>
                    <a:pt x="0" y="2663625"/>
                  </a:cubicBezTo>
                  <a:close/>
                </a:path>
              </a:pathLst>
            </a:custGeom>
            <a:solidFill>
              <a:srgbClr val="473C38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12207240" y="3175635"/>
            <a:ext cx="5074920" cy="1419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6EA"/>
                </a:solidFill>
                <a:latin typeface="Calibri (MS)"/>
                <a:ea typeface="Calibri (MS)"/>
                <a:cs typeface="Calibri (MS)"/>
                <a:sym typeface="Calibri (MS)"/>
              </a:rPr>
              <a:t>Mon–Fri mornings reach 85–116 and evenings 123–129 rentals per hour.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2207240" y="4800600"/>
            <a:ext cx="5074920" cy="480060"/>
            <a:chOff x="0" y="0"/>
            <a:chExt cx="6766560" cy="64008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766560" cy="640080"/>
            </a:xfrm>
            <a:custGeom>
              <a:avLst/>
              <a:gdLst/>
              <a:ahLst/>
              <a:cxnLst/>
              <a:rect l="l" t="t" r="r" b="b"/>
              <a:pathLst>
                <a:path w="6766560" h="640080">
                  <a:moveTo>
                    <a:pt x="0" y="0"/>
                  </a:moveTo>
                  <a:lnTo>
                    <a:pt x="6766560" y="0"/>
                  </a:lnTo>
                  <a:lnTo>
                    <a:pt x="67665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5984" b="-155984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6766560" cy="687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C455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Leisure pattern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904641" y="6629947"/>
            <a:ext cx="5487247" cy="1805393"/>
            <a:chOff x="0" y="0"/>
            <a:chExt cx="8416350" cy="276911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416350" cy="2769115"/>
            </a:xfrm>
            <a:custGeom>
              <a:avLst/>
              <a:gdLst/>
              <a:ahLst/>
              <a:cxnLst/>
              <a:rect l="l" t="t" r="r" b="b"/>
              <a:pathLst>
                <a:path w="8416350" h="2769115">
                  <a:moveTo>
                    <a:pt x="0" y="105490"/>
                  </a:moveTo>
                  <a:cubicBezTo>
                    <a:pt x="0" y="47251"/>
                    <a:pt x="80423" y="0"/>
                    <a:pt x="179549" y="0"/>
                  </a:cubicBezTo>
                  <a:lnTo>
                    <a:pt x="8236800" y="0"/>
                  </a:lnTo>
                  <a:cubicBezTo>
                    <a:pt x="8335927" y="0"/>
                    <a:pt x="8416350" y="47251"/>
                    <a:pt x="8416350" y="105490"/>
                  </a:cubicBezTo>
                  <a:lnTo>
                    <a:pt x="8416350" y="2663625"/>
                  </a:lnTo>
                  <a:cubicBezTo>
                    <a:pt x="8416350" y="2721864"/>
                    <a:pt x="8335927" y="2769115"/>
                    <a:pt x="8236800" y="2769115"/>
                  </a:cubicBezTo>
                  <a:lnTo>
                    <a:pt x="179549" y="2769115"/>
                  </a:lnTo>
                  <a:cubicBezTo>
                    <a:pt x="80423" y="2769115"/>
                    <a:pt x="0" y="2721864"/>
                    <a:pt x="0" y="2663625"/>
                  </a:cubicBezTo>
                  <a:close/>
                </a:path>
              </a:pathLst>
            </a:custGeom>
            <a:solidFill>
              <a:srgbClr val="473C38"/>
            </a:solidFill>
          </p:spPr>
        </p:sp>
      </p:grpSp>
      <p:sp>
        <p:nvSpPr>
          <p:cNvPr id="25" name="TextBox 25"/>
          <p:cNvSpPr txBox="1"/>
          <p:nvPr/>
        </p:nvSpPr>
        <p:spPr>
          <a:xfrm>
            <a:off x="12207240" y="5301615"/>
            <a:ext cx="5074920" cy="1419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6EA"/>
                </a:solidFill>
                <a:latin typeface="Calibri (MS)"/>
                <a:ea typeface="Calibri (MS)"/>
                <a:cs typeface="Calibri (MS)"/>
                <a:sym typeface="Calibri (MS)"/>
              </a:rPr>
              <a:t>Saturday and Sunday peak midday at 84 and 102.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2207240" y="6926580"/>
            <a:ext cx="5074920" cy="480060"/>
            <a:chOff x="0" y="0"/>
            <a:chExt cx="6766560" cy="64008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766560" cy="640080"/>
            </a:xfrm>
            <a:custGeom>
              <a:avLst/>
              <a:gdLst/>
              <a:ahLst/>
              <a:cxnLst/>
              <a:rect l="l" t="t" r="r" b="b"/>
              <a:pathLst>
                <a:path w="6766560" h="640080">
                  <a:moveTo>
                    <a:pt x="0" y="0"/>
                  </a:moveTo>
                  <a:lnTo>
                    <a:pt x="6766560" y="0"/>
                  </a:lnTo>
                  <a:lnTo>
                    <a:pt x="67665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5984" b="-155984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6766560" cy="687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C455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Night riders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2207240" y="7427595"/>
            <a:ext cx="5074920" cy="1419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6EA"/>
                </a:solidFill>
                <a:latin typeface="Calibri (MS)"/>
                <a:ea typeface="Calibri (MS)"/>
                <a:cs typeface="Calibri (MS)"/>
                <a:sym typeface="Calibri (MS)"/>
              </a:rPr>
              <a:t>Weekend nights see 14 rentals per hour, against 4–6 on weekdays.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6550640" y="9581388"/>
            <a:ext cx="681228" cy="266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88617" y="9528048"/>
            <a:ext cx="12344400" cy="411480"/>
            <a:chOff x="0" y="0"/>
            <a:chExt cx="16459200" cy="5486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459200" cy="548640"/>
            </a:xfrm>
            <a:custGeom>
              <a:avLst/>
              <a:gdLst/>
              <a:ahLst/>
              <a:cxnLst/>
              <a:rect l="l" t="t" r="r" b="b"/>
              <a:pathLst>
                <a:path w="16459200" h="54864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4551" b="-534551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449">
                  <a:solidFill>
                    <a:srgbClr val="C455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WEATHER SITUATION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60120" y="2468880"/>
            <a:ext cx="9464040" cy="6789420"/>
            <a:chOff x="0" y="0"/>
            <a:chExt cx="12618720" cy="90525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618720" cy="9052561"/>
            </a:xfrm>
            <a:custGeom>
              <a:avLst/>
              <a:gdLst/>
              <a:ahLst/>
              <a:cxnLst/>
              <a:rect l="l" t="t" r="r" b="b"/>
              <a:pathLst>
                <a:path w="12618720" h="905256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2472416" y="0"/>
                  </a:lnTo>
                  <a:cubicBezTo>
                    <a:pt x="12553188" y="0"/>
                    <a:pt x="12618720" y="65532"/>
                    <a:pt x="12618720" y="146304"/>
                  </a:cubicBezTo>
                  <a:lnTo>
                    <a:pt x="12618720" y="8906256"/>
                  </a:lnTo>
                  <a:cubicBezTo>
                    <a:pt x="12618720" y="8987028"/>
                    <a:pt x="12553188" y="9052561"/>
                    <a:pt x="12472416" y="9052561"/>
                  </a:cubicBezTo>
                  <a:lnTo>
                    <a:pt x="146304" y="9052561"/>
                  </a:lnTo>
                  <a:cubicBezTo>
                    <a:pt x="65532" y="9052560"/>
                    <a:pt x="0" y="8987028"/>
                    <a:pt x="0" y="8906256"/>
                  </a:cubicBezTo>
                  <a:close/>
                </a:path>
              </a:pathLst>
            </a:custGeom>
            <a:blipFill>
              <a:blip r:embed="rId4"/>
              <a:stretch>
                <a:fillRect t="-176" b="-176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0803969" y="2468880"/>
            <a:ext cx="5931749" cy="1589532"/>
            <a:chOff x="0" y="0"/>
            <a:chExt cx="9098127" cy="243802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098128" cy="2438027"/>
            </a:xfrm>
            <a:custGeom>
              <a:avLst/>
              <a:gdLst/>
              <a:ahLst/>
              <a:cxnLst/>
              <a:rect l="l" t="t" r="r" b="b"/>
              <a:pathLst>
                <a:path w="9098128" h="2438027">
                  <a:moveTo>
                    <a:pt x="0" y="92877"/>
                  </a:moveTo>
                  <a:cubicBezTo>
                    <a:pt x="0" y="41601"/>
                    <a:pt x="86938" y="0"/>
                    <a:pt x="194093" y="0"/>
                  </a:cubicBezTo>
                  <a:lnTo>
                    <a:pt x="8904034" y="0"/>
                  </a:lnTo>
                  <a:cubicBezTo>
                    <a:pt x="9011190" y="0"/>
                    <a:pt x="9098128" y="41601"/>
                    <a:pt x="9098128" y="92877"/>
                  </a:cubicBezTo>
                  <a:lnTo>
                    <a:pt x="9098128" y="2345150"/>
                  </a:lnTo>
                  <a:cubicBezTo>
                    <a:pt x="9098128" y="2396426"/>
                    <a:pt x="9011190" y="2438027"/>
                    <a:pt x="8904034" y="2438027"/>
                  </a:cubicBezTo>
                  <a:lnTo>
                    <a:pt x="194093" y="2438027"/>
                  </a:lnTo>
                  <a:cubicBezTo>
                    <a:pt x="86938" y="2438027"/>
                    <a:pt x="0" y="2396426"/>
                    <a:pt x="0" y="2345150"/>
                  </a:cubicBezTo>
                  <a:close/>
                </a:path>
              </a:pathLst>
            </a:custGeom>
            <a:solidFill>
              <a:srgbClr val="473C38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0972800" y="2576313"/>
            <a:ext cx="6309360" cy="466344"/>
            <a:chOff x="0" y="0"/>
            <a:chExt cx="8412480" cy="62179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412480" cy="621792"/>
            </a:xfrm>
            <a:custGeom>
              <a:avLst/>
              <a:gdLst/>
              <a:ahLst/>
              <a:cxnLst/>
              <a:rect l="l" t="t" r="r" b="b"/>
              <a:pathLst>
                <a:path w="8412480" h="621792">
                  <a:moveTo>
                    <a:pt x="0" y="0"/>
                  </a:moveTo>
                  <a:lnTo>
                    <a:pt x="8412480" y="0"/>
                  </a:lnTo>
                  <a:lnTo>
                    <a:pt x="841248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3621" b="-213621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8412480" cy="6598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C455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Normal weather carries the volume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803969" y="4223757"/>
            <a:ext cx="5931749" cy="1570682"/>
            <a:chOff x="0" y="0"/>
            <a:chExt cx="9098127" cy="240911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098128" cy="2409114"/>
            </a:xfrm>
            <a:custGeom>
              <a:avLst/>
              <a:gdLst/>
              <a:ahLst/>
              <a:cxnLst/>
              <a:rect l="l" t="t" r="r" b="b"/>
              <a:pathLst>
                <a:path w="9098128" h="2409114">
                  <a:moveTo>
                    <a:pt x="0" y="91776"/>
                  </a:moveTo>
                  <a:cubicBezTo>
                    <a:pt x="0" y="41108"/>
                    <a:pt x="86938" y="0"/>
                    <a:pt x="194093" y="0"/>
                  </a:cubicBezTo>
                  <a:lnTo>
                    <a:pt x="8904034" y="0"/>
                  </a:lnTo>
                  <a:cubicBezTo>
                    <a:pt x="9011190" y="0"/>
                    <a:pt x="9098128" y="41108"/>
                    <a:pt x="9098128" y="91776"/>
                  </a:cubicBezTo>
                  <a:lnTo>
                    <a:pt x="9098128" y="2317338"/>
                  </a:lnTo>
                  <a:cubicBezTo>
                    <a:pt x="9098128" y="2368006"/>
                    <a:pt x="9011190" y="2409114"/>
                    <a:pt x="8904034" y="2409114"/>
                  </a:cubicBezTo>
                  <a:lnTo>
                    <a:pt x="194093" y="2409114"/>
                  </a:lnTo>
                  <a:cubicBezTo>
                    <a:pt x="86938" y="2409114"/>
                    <a:pt x="0" y="2368006"/>
                    <a:pt x="0" y="2317338"/>
                  </a:cubicBezTo>
                  <a:close/>
                </a:path>
              </a:pathLst>
            </a:custGeom>
            <a:solidFill>
              <a:srgbClr val="473C38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0972800" y="4376157"/>
            <a:ext cx="6309360" cy="466344"/>
            <a:chOff x="0" y="0"/>
            <a:chExt cx="8412480" cy="62179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412480" cy="621792"/>
            </a:xfrm>
            <a:custGeom>
              <a:avLst/>
              <a:gdLst/>
              <a:ahLst/>
              <a:cxnLst/>
              <a:rect l="l" t="t" r="r" b="b"/>
              <a:pathLst>
                <a:path w="8412480" h="621792">
                  <a:moveTo>
                    <a:pt x="0" y="0"/>
                  </a:moveTo>
                  <a:lnTo>
                    <a:pt x="8412480" y="0"/>
                  </a:lnTo>
                  <a:lnTo>
                    <a:pt x="841248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3621" b="-213621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8412480" cy="6598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C455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Yellow alerts barely matter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803969" y="5939409"/>
            <a:ext cx="5931749" cy="1589532"/>
            <a:chOff x="0" y="0"/>
            <a:chExt cx="9098127" cy="243802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098128" cy="2438027"/>
            </a:xfrm>
            <a:custGeom>
              <a:avLst/>
              <a:gdLst/>
              <a:ahLst/>
              <a:cxnLst/>
              <a:rect l="l" t="t" r="r" b="b"/>
              <a:pathLst>
                <a:path w="9098128" h="2438027">
                  <a:moveTo>
                    <a:pt x="0" y="92877"/>
                  </a:moveTo>
                  <a:cubicBezTo>
                    <a:pt x="0" y="41601"/>
                    <a:pt x="86938" y="0"/>
                    <a:pt x="194093" y="0"/>
                  </a:cubicBezTo>
                  <a:lnTo>
                    <a:pt x="8904034" y="0"/>
                  </a:lnTo>
                  <a:cubicBezTo>
                    <a:pt x="9011190" y="0"/>
                    <a:pt x="9098128" y="41601"/>
                    <a:pt x="9098128" y="92877"/>
                  </a:cubicBezTo>
                  <a:lnTo>
                    <a:pt x="9098128" y="2345150"/>
                  </a:lnTo>
                  <a:cubicBezTo>
                    <a:pt x="9098128" y="2396426"/>
                    <a:pt x="9011190" y="2438027"/>
                    <a:pt x="8904034" y="2438027"/>
                  </a:cubicBezTo>
                  <a:lnTo>
                    <a:pt x="194093" y="2438027"/>
                  </a:lnTo>
                  <a:cubicBezTo>
                    <a:pt x="86938" y="2438027"/>
                    <a:pt x="0" y="2396426"/>
                    <a:pt x="0" y="2345150"/>
                  </a:cubicBezTo>
                  <a:close/>
                </a:path>
              </a:pathLst>
            </a:custGeom>
            <a:solidFill>
              <a:srgbClr val="473C38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10972800" y="6036564"/>
            <a:ext cx="6309360" cy="466344"/>
            <a:chOff x="0" y="0"/>
            <a:chExt cx="8412480" cy="62179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412480" cy="621792"/>
            </a:xfrm>
            <a:custGeom>
              <a:avLst/>
              <a:gdLst/>
              <a:ahLst/>
              <a:cxnLst/>
              <a:rect l="l" t="t" r="r" b="b"/>
              <a:pathLst>
                <a:path w="8412480" h="621792">
                  <a:moveTo>
                    <a:pt x="0" y="0"/>
                  </a:moveTo>
                  <a:lnTo>
                    <a:pt x="8412480" y="0"/>
                  </a:lnTo>
                  <a:lnTo>
                    <a:pt x="841248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3621" b="-213621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8412480" cy="6598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C455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Orange alerts bite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803969" y="7681341"/>
            <a:ext cx="5931749" cy="1589532"/>
            <a:chOff x="0" y="0"/>
            <a:chExt cx="9098127" cy="243802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098128" cy="2438027"/>
            </a:xfrm>
            <a:custGeom>
              <a:avLst/>
              <a:gdLst/>
              <a:ahLst/>
              <a:cxnLst/>
              <a:rect l="l" t="t" r="r" b="b"/>
              <a:pathLst>
                <a:path w="9098128" h="2438027">
                  <a:moveTo>
                    <a:pt x="0" y="92877"/>
                  </a:moveTo>
                  <a:cubicBezTo>
                    <a:pt x="0" y="41601"/>
                    <a:pt x="86938" y="0"/>
                    <a:pt x="194093" y="0"/>
                  </a:cubicBezTo>
                  <a:lnTo>
                    <a:pt x="8904034" y="0"/>
                  </a:lnTo>
                  <a:cubicBezTo>
                    <a:pt x="9011190" y="0"/>
                    <a:pt x="9098128" y="41601"/>
                    <a:pt x="9098128" y="92877"/>
                  </a:cubicBezTo>
                  <a:lnTo>
                    <a:pt x="9098128" y="2345150"/>
                  </a:lnTo>
                  <a:cubicBezTo>
                    <a:pt x="9098128" y="2396426"/>
                    <a:pt x="9011190" y="2438027"/>
                    <a:pt x="8904034" y="2438027"/>
                  </a:cubicBezTo>
                  <a:lnTo>
                    <a:pt x="194093" y="2438027"/>
                  </a:lnTo>
                  <a:cubicBezTo>
                    <a:pt x="86938" y="2438027"/>
                    <a:pt x="0" y="2396426"/>
                    <a:pt x="0" y="2345150"/>
                  </a:cubicBezTo>
                  <a:close/>
                </a:path>
              </a:pathLst>
            </a:custGeom>
            <a:solidFill>
              <a:srgbClr val="473C38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0972800" y="7833741"/>
            <a:ext cx="6309360" cy="466344"/>
            <a:chOff x="0" y="0"/>
            <a:chExt cx="8412480" cy="62179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412480" cy="621792"/>
            </a:xfrm>
            <a:custGeom>
              <a:avLst/>
              <a:gdLst/>
              <a:ahLst/>
              <a:cxnLst/>
              <a:rect l="l" t="t" r="r" b="b"/>
              <a:pathLst>
                <a:path w="8412480" h="621792">
                  <a:moveTo>
                    <a:pt x="0" y="0"/>
                  </a:moveTo>
                  <a:lnTo>
                    <a:pt x="8412480" y="0"/>
                  </a:lnTo>
                  <a:lnTo>
                    <a:pt x="841248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3621" b="-213621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8412480" cy="6598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C455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Red alert is one record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0" y="25360"/>
            <a:ext cx="18287001" cy="1244847"/>
            <a:chOff x="0" y="0"/>
            <a:chExt cx="31357471" cy="213459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1357472" cy="2134591"/>
            </a:xfrm>
            <a:custGeom>
              <a:avLst/>
              <a:gdLst/>
              <a:ahLst/>
              <a:cxnLst/>
              <a:rect l="l" t="t" r="r" b="b"/>
              <a:pathLst>
                <a:path w="31357472" h="2134591">
                  <a:moveTo>
                    <a:pt x="0" y="81318"/>
                  </a:moveTo>
                  <a:cubicBezTo>
                    <a:pt x="0" y="36424"/>
                    <a:pt x="299638" y="0"/>
                    <a:pt x="668959" y="0"/>
                  </a:cubicBezTo>
                  <a:lnTo>
                    <a:pt x="30688511" y="0"/>
                  </a:lnTo>
                  <a:cubicBezTo>
                    <a:pt x="31057834" y="0"/>
                    <a:pt x="31357472" y="36424"/>
                    <a:pt x="31357472" y="81318"/>
                  </a:cubicBezTo>
                  <a:lnTo>
                    <a:pt x="31357472" y="2053273"/>
                  </a:lnTo>
                  <a:cubicBezTo>
                    <a:pt x="31357472" y="2098167"/>
                    <a:pt x="31057834" y="2134591"/>
                    <a:pt x="30688511" y="2134591"/>
                  </a:cubicBezTo>
                  <a:lnTo>
                    <a:pt x="668959" y="2134591"/>
                  </a:lnTo>
                  <a:cubicBezTo>
                    <a:pt x="299638" y="2134591"/>
                    <a:pt x="0" y="2098167"/>
                    <a:pt x="0" y="2053273"/>
                  </a:cubicBezTo>
                  <a:close/>
                </a:path>
              </a:pathLst>
            </a:custGeom>
            <a:solidFill>
              <a:srgbClr val="C2B19C"/>
            </a:solidFill>
          </p:spPr>
        </p:sp>
      </p:grpSp>
      <p:sp>
        <p:nvSpPr>
          <p:cNvPr id="29" name="TextBox 29"/>
          <p:cNvSpPr txBox="1"/>
          <p:nvPr/>
        </p:nvSpPr>
        <p:spPr>
          <a:xfrm>
            <a:off x="1028700" y="285815"/>
            <a:ext cx="16363188" cy="752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99"/>
              </a:lnSpc>
            </a:pPr>
            <a:r>
              <a:rPr lang="en-US" sz="4999" b="1">
                <a:solidFill>
                  <a:srgbClr val="262626"/>
                </a:solidFill>
                <a:latin typeface="Cambria Bold"/>
                <a:ea typeface="Cambria Bold"/>
                <a:cs typeface="Cambria Bold"/>
                <a:sym typeface="Cambria Bold"/>
              </a:rPr>
              <a:t>Orange alerts cut average demand by 46%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972800" y="3147432"/>
            <a:ext cx="5762918" cy="676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6EA"/>
                </a:solidFill>
                <a:latin typeface="Calibri (MS)"/>
                <a:ea typeface="Calibri (MS)"/>
                <a:cs typeface="Calibri (MS)"/>
                <a:sym typeface="Calibri (MS)"/>
              </a:rPr>
              <a:t>606 of 1,000 hours and 64% of all rentals happen in normal conditions.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972800" y="4938703"/>
            <a:ext cx="5399189" cy="361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6EA"/>
                </a:solidFill>
                <a:latin typeface="Calibri (MS)"/>
                <a:ea typeface="Calibri (MS)"/>
                <a:cs typeface="Calibri (MS)"/>
                <a:sym typeface="Calibri (MS)"/>
              </a:rPr>
              <a:t>58.6 rentals per hour, only 5% below normal.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972800" y="6455283"/>
            <a:ext cx="5628132" cy="676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6EA"/>
                </a:solidFill>
                <a:latin typeface="Calibri (MS)"/>
                <a:ea typeface="Calibri (MS)"/>
                <a:cs typeface="Calibri (MS)"/>
                <a:sym typeface="Calibri (MS)"/>
              </a:rPr>
              <a:t>33.2 per hour, with humidity near 0.87 versus 0.52 in normal weather.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972800" y="8366760"/>
            <a:ext cx="4806520" cy="361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6EA"/>
                </a:solidFill>
                <a:latin typeface="Calibri (MS)"/>
                <a:ea typeface="Calibri (MS)"/>
                <a:cs typeface="Calibri (MS)"/>
                <a:sym typeface="Calibri (MS)"/>
              </a:rPr>
              <a:t>Treated as an anecdote, not a trend.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6550640" y="9581388"/>
            <a:ext cx="681228" cy="266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6950" y="9532620"/>
            <a:ext cx="12344400" cy="411480"/>
            <a:chOff x="0" y="0"/>
            <a:chExt cx="16459200" cy="5486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459200" cy="548640"/>
            </a:xfrm>
            <a:custGeom>
              <a:avLst/>
              <a:gdLst/>
              <a:ahLst/>
              <a:cxnLst/>
              <a:rect l="l" t="t" r="r" b="b"/>
              <a:pathLst>
                <a:path w="16459200" h="54864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4551" b="-534551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449">
                  <a:solidFill>
                    <a:srgbClr val="C455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WEATHER VARIABLES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618891" y="2439543"/>
            <a:ext cx="6457529" cy="1589532"/>
            <a:chOff x="0" y="0"/>
            <a:chExt cx="9904570" cy="243802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904570" cy="2438027"/>
            </a:xfrm>
            <a:custGeom>
              <a:avLst/>
              <a:gdLst/>
              <a:ahLst/>
              <a:cxnLst/>
              <a:rect l="l" t="t" r="r" b="b"/>
              <a:pathLst>
                <a:path w="9904570" h="2438027">
                  <a:moveTo>
                    <a:pt x="0" y="92877"/>
                  </a:moveTo>
                  <a:cubicBezTo>
                    <a:pt x="0" y="41601"/>
                    <a:pt x="94644" y="0"/>
                    <a:pt x="211297" y="0"/>
                  </a:cubicBezTo>
                  <a:lnTo>
                    <a:pt x="9693272" y="0"/>
                  </a:lnTo>
                  <a:cubicBezTo>
                    <a:pt x="9809927" y="0"/>
                    <a:pt x="9904570" y="41601"/>
                    <a:pt x="9904570" y="92877"/>
                  </a:cubicBezTo>
                  <a:lnTo>
                    <a:pt x="9904570" y="2345150"/>
                  </a:lnTo>
                  <a:cubicBezTo>
                    <a:pt x="9904570" y="2396426"/>
                    <a:pt x="9809927" y="2438027"/>
                    <a:pt x="9693272" y="2438027"/>
                  </a:cubicBezTo>
                  <a:lnTo>
                    <a:pt x="211297" y="2438027"/>
                  </a:lnTo>
                  <a:cubicBezTo>
                    <a:pt x="94644" y="2438027"/>
                    <a:pt x="0" y="2396426"/>
                    <a:pt x="0" y="2345150"/>
                  </a:cubicBezTo>
                  <a:close/>
                </a:path>
              </a:pathLst>
            </a:custGeom>
            <a:solidFill>
              <a:srgbClr val="473C38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10835640" y="2674620"/>
            <a:ext cx="6446520" cy="480060"/>
            <a:chOff x="0" y="0"/>
            <a:chExt cx="8595360" cy="64008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595360" cy="640080"/>
            </a:xfrm>
            <a:custGeom>
              <a:avLst/>
              <a:gdLst/>
              <a:ahLst/>
              <a:cxnLst/>
              <a:rect l="l" t="t" r="r" b="b"/>
              <a:pathLst>
                <a:path w="8595360" h="640080">
                  <a:moveTo>
                    <a:pt x="0" y="0"/>
                  </a:moveTo>
                  <a:lnTo>
                    <a:pt x="8595360" y="0"/>
                  </a:lnTo>
                  <a:lnTo>
                    <a:pt x="85953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1656" b="-211656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8595360" cy="687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C455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Humidity, r = −0.25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618891" y="4183380"/>
            <a:ext cx="6457529" cy="1589532"/>
            <a:chOff x="0" y="0"/>
            <a:chExt cx="9904570" cy="243802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904570" cy="2438027"/>
            </a:xfrm>
            <a:custGeom>
              <a:avLst/>
              <a:gdLst/>
              <a:ahLst/>
              <a:cxnLst/>
              <a:rect l="l" t="t" r="r" b="b"/>
              <a:pathLst>
                <a:path w="9904570" h="2438027">
                  <a:moveTo>
                    <a:pt x="0" y="92877"/>
                  </a:moveTo>
                  <a:cubicBezTo>
                    <a:pt x="0" y="41601"/>
                    <a:pt x="94644" y="0"/>
                    <a:pt x="211297" y="0"/>
                  </a:cubicBezTo>
                  <a:lnTo>
                    <a:pt x="9693272" y="0"/>
                  </a:lnTo>
                  <a:cubicBezTo>
                    <a:pt x="9809927" y="0"/>
                    <a:pt x="9904570" y="41601"/>
                    <a:pt x="9904570" y="92877"/>
                  </a:cubicBezTo>
                  <a:lnTo>
                    <a:pt x="9904570" y="2345150"/>
                  </a:lnTo>
                  <a:cubicBezTo>
                    <a:pt x="9904570" y="2396426"/>
                    <a:pt x="9809927" y="2438027"/>
                    <a:pt x="9693272" y="2438027"/>
                  </a:cubicBezTo>
                  <a:lnTo>
                    <a:pt x="211297" y="2438027"/>
                  </a:lnTo>
                  <a:cubicBezTo>
                    <a:pt x="94644" y="2438027"/>
                    <a:pt x="0" y="2396426"/>
                    <a:pt x="0" y="2345150"/>
                  </a:cubicBezTo>
                  <a:close/>
                </a:path>
              </a:pathLst>
            </a:custGeom>
            <a:solidFill>
              <a:srgbClr val="473C38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0835640" y="4457700"/>
            <a:ext cx="6446520" cy="480060"/>
            <a:chOff x="0" y="0"/>
            <a:chExt cx="8595360" cy="64008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595360" cy="640080"/>
            </a:xfrm>
            <a:custGeom>
              <a:avLst/>
              <a:gdLst/>
              <a:ahLst/>
              <a:cxnLst/>
              <a:rect l="l" t="t" r="r" b="b"/>
              <a:pathLst>
                <a:path w="8595360" h="640080">
                  <a:moveTo>
                    <a:pt x="0" y="0"/>
                  </a:moveTo>
                  <a:lnTo>
                    <a:pt x="8595360" y="0"/>
                  </a:lnTo>
                  <a:lnTo>
                    <a:pt x="85953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1656" b="-211656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8595360" cy="687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C455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Temperature, r = +0.23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618891" y="5966460"/>
            <a:ext cx="6457529" cy="1589532"/>
            <a:chOff x="0" y="0"/>
            <a:chExt cx="9904570" cy="243802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904570" cy="2438027"/>
            </a:xfrm>
            <a:custGeom>
              <a:avLst/>
              <a:gdLst/>
              <a:ahLst/>
              <a:cxnLst/>
              <a:rect l="l" t="t" r="r" b="b"/>
              <a:pathLst>
                <a:path w="9904570" h="2438027">
                  <a:moveTo>
                    <a:pt x="0" y="92877"/>
                  </a:moveTo>
                  <a:cubicBezTo>
                    <a:pt x="0" y="41601"/>
                    <a:pt x="94644" y="0"/>
                    <a:pt x="211297" y="0"/>
                  </a:cubicBezTo>
                  <a:lnTo>
                    <a:pt x="9693272" y="0"/>
                  </a:lnTo>
                  <a:cubicBezTo>
                    <a:pt x="9809927" y="0"/>
                    <a:pt x="9904570" y="41601"/>
                    <a:pt x="9904570" y="92877"/>
                  </a:cubicBezTo>
                  <a:lnTo>
                    <a:pt x="9904570" y="2345150"/>
                  </a:lnTo>
                  <a:cubicBezTo>
                    <a:pt x="9904570" y="2396426"/>
                    <a:pt x="9809927" y="2438027"/>
                    <a:pt x="9693272" y="2438027"/>
                  </a:cubicBezTo>
                  <a:lnTo>
                    <a:pt x="211297" y="2438027"/>
                  </a:lnTo>
                  <a:cubicBezTo>
                    <a:pt x="94644" y="2438027"/>
                    <a:pt x="0" y="2396426"/>
                    <a:pt x="0" y="2345150"/>
                  </a:cubicBezTo>
                  <a:close/>
                </a:path>
              </a:pathLst>
            </a:custGeom>
            <a:solidFill>
              <a:srgbClr val="473C38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10835640" y="6240780"/>
            <a:ext cx="6446520" cy="480060"/>
            <a:chOff x="0" y="0"/>
            <a:chExt cx="8595360" cy="64008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595360" cy="640080"/>
            </a:xfrm>
            <a:custGeom>
              <a:avLst/>
              <a:gdLst/>
              <a:ahLst/>
              <a:cxnLst/>
              <a:rect l="l" t="t" r="r" b="b"/>
              <a:pathLst>
                <a:path w="8595360" h="640080">
                  <a:moveTo>
                    <a:pt x="0" y="0"/>
                  </a:moveTo>
                  <a:lnTo>
                    <a:pt x="8595360" y="0"/>
                  </a:lnTo>
                  <a:lnTo>
                    <a:pt x="85953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1656" b="-211656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8595360" cy="687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C455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Wind speed, r = +0.10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835640" y="8023860"/>
            <a:ext cx="6487668" cy="1165860"/>
            <a:chOff x="0" y="0"/>
            <a:chExt cx="8650224" cy="155448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650224" cy="1554480"/>
            </a:xfrm>
            <a:custGeom>
              <a:avLst/>
              <a:gdLst/>
              <a:ahLst/>
              <a:cxnLst/>
              <a:rect l="l" t="t" r="r" b="b"/>
              <a:pathLst>
                <a:path w="8650224" h="1554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8503920" y="0"/>
                  </a:lnTo>
                  <a:cubicBezTo>
                    <a:pt x="8584692" y="0"/>
                    <a:pt x="8650224" y="65532"/>
                    <a:pt x="8650224" y="146304"/>
                  </a:cubicBezTo>
                  <a:lnTo>
                    <a:pt x="8650224" y="1408176"/>
                  </a:lnTo>
                  <a:cubicBezTo>
                    <a:pt x="8650224" y="1488948"/>
                    <a:pt x="8584692" y="1554480"/>
                    <a:pt x="8503920" y="1554480"/>
                  </a:cubicBezTo>
                  <a:lnTo>
                    <a:pt x="146304" y="1554480"/>
                  </a:lnTo>
                  <a:cubicBezTo>
                    <a:pt x="65532" y="1554480"/>
                    <a:pt x="0" y="1488948"/>
                    <a:pt x="0" y="1408176"/>
                  </a:cubicBezTo>
                  <a:close/>
                </a:path>
              </a:pathLst>
            </a:custGeom>
            <a:solidFill>
              <a:srgbClr val="FDFBF7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10618891" y="7749540"/>
            <a:ext cx="6457529" cy="1028700"/>
            <a:chOff x="0" y="0"/>
            <a:chExt cx="8610039" cy="13716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610039" cy="1371600"/>
            </a:xfrm>
            <a:custGeom>
              <a:avLst/>
              <a:gdLst/>
              <a:ahLst/>
              <a:cxnLst/>
              <a:rect l="l" t="t" r="r" b="b"/>
              <a:pathLst>
                <a:path w="8610039" h="1371600">
                  <a:moveTo>
                    <a:pt x="0" y="0"/>
                  </a:moveTo>
                  <a:lnTo>
                    <a:pt x="8610039" y="0"/>
                  </a:lnTo>
                  <a:lnTo>
                    <a:pt x="86100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013" r="7604" b="-63013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8610039" cy="1419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26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All three are weak (|r| &lt; 0.3): time of day matters more than weather.</a:t>
              </a:r>
            </a:p>
          </p:txBody>
        </p:sp>
      </p:grpSp>
      <p:sp>
        <p:nvSpPr>
          <p:cNvPr id="25" name="Freeform 25"/>
          <p:cNvSpPr/>
          <p:nvPr/>
        </p:nvSpPr>
        <p:spPr>
          <a:xfrm>
            <a:off x="1028700" y="2396347"/>
            <a:ext cx="8539360" cy="6210443"/>
          </a:xfrm>
          <a:custGeom>
            <a:avLst/>
            <a:gdLst/>
            <a:ahLst/>
            <a:cxnLst/>
            <a:rect l="l" t="t" r="r" b="b"/>
            <a:pathLst>
              <a:path w="8539360" h="6210443">
                <a:moveTo>
                  <a:pt x="0" y="0"/>
                </a:moveTo>
                <a:lnTo>
                  <a:pt x="8539360" y="0"/>
                </a:lnTo>
                <a:lnTo>
                  <a:pt x="8539360" y="6210443"/>
                </a:lnTo>
                <a:lnTo>
                  <a:pt x="0" y="62104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26" name="Group 26"/>
          <p:cNvGrpSpPr/>
          <p:nvPr/>
        </p:nvGrpSpPr>
        <p:grpSpPr>
          <a:xfrm>
            <a:off x="0" y="25360"/>
            <a:ext cx="18287001" cy="1244847"/>
            <a:chOff x="0" y="0"/>
            <a:chExt cx="31357471" cy="213459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1357472" cy="2134591"/>
            </a:xfrm>
            <a:custGeom>
              <a:avLst/>
              <a:gdLst/>
              <a:ahLst/>
              <a:cxnLst/>
              <a:rect l="l" t="t" r="r" b="b"/>
              <a:pathLst>
                <a:path w="31357472" h="2134591">
                  <a:moveTo>
                    <a:pt x="0" y="81318"/>
                  </a:moveTo>
                  <a:cubicBezTo>
                    <a:pt x="0" y="36424"/>
                    <a:pt x="299638" y="0"/>
                    <a:pt x="668959" y="0"/>
                  </a:cubicBezTo>
                  <a:lnTo>
                    <a:pt x="30688511" y="0"/>
                  </a:lnTo>
                  <a:cubicBezTo>
                    <a:pt x="31057834" y="0"/>
                    <a:pt x="31357472" y="36424"/>
                    <a:pt x="31357472" y="81318"/>
                  </a:cubicBezTo>
                  <a:lnTo>
                    <a:pt x="31357472" y="2053273"/>
                  </a:lnTo>
                  <a:cubicBezTo>
                    <a:pt x="31357472" y="2098167"/>
                    <a:pt x="31057834" y="2134591"/>
                    <a:pt x="30688511" y="2134591"/>
                  </a:cubicBezTo>
                  <a:lnTo>
                    <a:pt x="668959" y="2134591"/>
                  </a:lnTo>
                  <a:cubicBezTo>
                    <a:pt x="299638" y="2134591"/>
                    <a:pt x="0" y="2098167"/>
                    <a:pt x="0" y="2053273"/>
                  </a:cubicBezTo>
                  <a:close/>
                </a:path>
              </a:pathLst>
            </a:custGeom>
            <a:solidFill>
              <a:srgbClr val="C2B19C"/>
            </a:solidFill>
          </p:spPr>
        </p:sp>
      </p:grpSp>
      <p:sp>
        <p:nvSpPr>
          <p:cNvPr id="28" name="TextBox 28"/>
          <p:cNvSpPr txBox="1"/>
          <p:nvPr/>
        </p:nvSpPr>
        <p:spPr>
          <a:xfrm>
            <a:off x="713232" y="304764"/>
            <a:ext cx="16363188" cy="752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99"/>
              </a:lnSpc>
            </a:pPr>
            <a:r>
              <a:rPr lang="en-US" sz="4999" b="1">
                <a:solidFill>
                  <a:srgbClr val="262626"/>
                </a:solidFill>
                <a:latin typeface="Cambria Bold"/>
                <a:ea typeface="Cambria Bold"/>
                <a:cs typeface="Cambria Bold"/>
                <a:sym typeface="Cambria Bold"/>
              </a:rPr>
              <a:t>Humidity suppresses demand, warmth lifts it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835640" y="3175635"/>
            <a:ext cx="6446520" cy="100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6EA"/>
                </a:solidFill>
                <a:latin typeface="Calibri (MS)"/>
                <a:ea typeface="Calibri (MS)"/>
                <a:cs typeface="Calibri (MS)"/>
                <a:sym typeface="Calibri (MS)"/>
              </a:rPr>
              <a:t>Damp, heavy air goes with fewer rides.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835640" y="4958715"/>
            <a:ext cx="6446520" cy="100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6EA"/>
                </a:solidFill>
                <a:latin typeface="Calibri (MS)"/>
                <a:ea typeface="Calibri (MS)"/>
                <a:cs typeface="Calibri (MS)"/>
                <a:sym typeface="Calibri (MS)"/>
              </a:rPr>
              <a:t>Warmer hours lift rentals. Values are normalised to 0–1.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835640" y="6741795"/>
            <a:ext cx="6446520" cy="100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6EA"/>
                </a:solidFill>
                <a:latin typeface="Calibri (MS)"/>
                <a:ea typeface="Calibri (MS)"/>
                <a:cs typeface="Calibri (MS)"/>
                <a:sym typeface="Calibri (MS)"/>
              </a:rPr>
              <a:t>Close to no effect.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6550640" y="9581388"/>
            <a:ext cx="681228" cy="266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b="1">
                <a:solidFill>
                  <a:srgbClr val="5E5E5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82784" y="9528048"/>
            <a:ext cx="12344400" cy="411480"/>
            <a:chOff x="0" y="0"/>
            <a:chExt cx="16459200" cy="5486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459200" cy="548640"/>
            </a:xfrm>
            <a:custGeom>
              <a:avLst/>
              <a:gdLst/>
              <a:ahLst/>
              <a:cxnLst/>
              <a:rect l="l" t="t" r="r" b="b"/>
              <a:pathLst>
                <a:path w="16459200" h="54864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4551" b="-534551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449">
                  <a:solidFill>
                    <a:srgbClr val="C455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HOLIDAY EFFECT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25360"/>
            <a:ext cx="18287001" cy="1244847"/>
            <a:chOff x="0" y="0"/>
            <a:chExt cx="31357471" cy="213459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1357472" cy="2134591"/>
            </a:xfrm>
            <a:custGeom>
              <a:avLst/>
              <a:gdLst/>
              <a:ahLst/>
              <a:cxnLst/>
              <a:rect l="l" t="t" r="r" b="b"/>
              <a:pathLst>
                <a:path w="31357472" h="2134591">
                  <a:moveTo>
                    <a:pt x="0" y="81318"/>
                  </a:moveTo>
                  <a:cubicBezTo>
                    <a:pt x="0" y="36424"/>
                    <a:pt x="299638" y="0"/>
                    <a:pt x="668959" y="0"/>
                  </a:cubicBezTo>
                  <a:lnTo>
                    <a:pt x="30688511" y="0"/>
                  </a:lnTo>
                  <a:cubicBezTo>
                    <a:pt x="31057834" y="0"/>
                    <a:pt x="31357472" y="36424"/>
                    <a:pt x="31357472" y="81318"/>
                  </a:cubicBezTo>
                  <a:lnTo>
                    <a:pt x="31357472" y="2053273"/>
                  </a:lnTo>
                  <a:cubicBezTo>
                    <a:pt x="31357472" y="2098167"/>
                    <a:pt x="31057834" y="2134591"/>
                    <a:pt x="30688511" y="2134591"/>
                  </a:cubicBezTo>
                  <a:lnTo>
                    <a:pt x="668959" y="2134591"/>
                  </a:lnTo>
                  <a:cubicBezTo>
                    <a:pt x="299638" y="2134591"/>
                    <a:pt x="0" y="2098167"/>
                    <a:pt x="0" y="2053273"/>
                  </a:cubicBezTo>
                  <a:close/>
                </a:path>
              </a:pathLst>
            </a:custGeom>
            <a:solidFill>
              <a:srgbClr val="C2B19C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11109960" y="2115735"/>
            <a:ext cx="6457529" cy="1885867"/>
            <a:chOff x="0" y="0"/>
            <a:chExt cx="9904570" cy="289254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904570" cy="2892546"/>
            </a:xfrm>
            <a:custGeom>
              <a:avLst/>
              <a:gdLst/>
              <a:ahLst/>
              <a:cxnLst/>
              <a:rect l="l" t="t" r="r" b="b"/>
              <a:pathLst>
                <a:path w="9904570" h="2892546">
                  <a:moveTo>
                    <a:pt x="0" y="110192"/>
                  </a:moveTo>
                  <a:cubicBezTo>
                    <a:pt x="0" y="49357"/>
                    <a:pt x="94644" y="0"/>
                    <a:pt x="211297" y="0"/>
                  </a:cubicBezTo>
                  <a:lnTo>
                    <a:pt x="9693272" y="0"/>
                  </a:lnTo>
                  <a:cubicBezTo>
                    <a:pt x="9809927" y="0"/>
                    <a:pt x="9904570" y="49357"/>
                    <a:pt x="9904570" y="110192"/>
                  </a:cubicBezTo>
                  <a:lnTo>
                    <a:pt x="9904570" y="2782353"/>
                  </a:lnTo>
                  <a:cubicBezTo>
                    <a:pt x="9904570" y="2843189"/>
                    <a:pt x="9809927" y="2892546"/>
                    <a:pt x="9693272" y="2892546"/>
                  </a:cubicBezTo>
                  <a:lnTo>
                    <a:pt x="211297" y="2892546"/>
                  </a:lnTo>
                  <a:cubicBezTo>
                    <a:pt x="94644" y="2892546"/>
                    <a:pt x="0" y="2843189"/>
                    <a:pt x="0" y="2782353"/>
                  </a:cubicBezTo>
                  <a:close/>
                </a:path>
              </a:pathLst>
            </a:custGeom>
            <a:solidFill>
              <a:srgbClr val="473C38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1109960" y="4275014"/>
            <a:ext cx="6457529" cy="1855379"/>
            <a:chOff x="0" y="0"/>
            <a:chExt cx="9904570" cy="284578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904570" cy="2845783"/>
            </a:xfrm>
            <a:custGeom>
              <a:avLst/>
              <a:gdLst/>
              <a:ahLst/>
              <a:cxnLst/>
              <a:rect l="l" t="t" r="r" b="b"/>
              <a:pathLst>
                <a:path w="9904570" h="2845783">
                  <a:moveTo>
                    <a:pt x="0" y="108411"/>
                  </a:moveTo>
                  <a:cubicBezTo>
                    <a:pt x="0" y="48559"/>
                    <a:pt x="94644" y="0"/>
                    <a:pt x="211297" y="0"/>
                  </a:cubicBezTo>
                  <a:lnTo>
                    <a:pt x="9693272" y="0"/>
                  </a:lnTo>
                  <a:cubicBezTo>
                    <a:pt x="9809927" y="0"/>
                    <a:pt x="9904570" y="48559"/>
                    <a:pt x="9904570" y="108411"/>
                  </a:cubicBezTo>
                  <a:lnTo>
                    <a:pt x="9904570" y="2737373"/>
                  </a:lnTo>
                  <a:cubicBezTo>
                    <a:pt x="9904570" y="2797225"/>
                    <a:pt x="9809927" y="2845783"/>
                    <a:pt x="9693272" y="2845783"/>
                  </a:cubicBezTo>
                  <a:lnTo>
                    <a:pt x="211297" y="2845783"/>
                  </a:lnTo>
                  <a:cubicBezTo>
                    <a:pt x="94644" y="2845783"/>
                    <a:pt x="0" y="2797224"/>
                    <a:pt x="0" y="2737373"/>
                  </a:cubicBezTo>
                  <a:close/>
                </a:path>
              </a:pathLst>
            </a:custGeom>
            <a:solidFill>
              <a:srgbClr val="473C38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1109960" y="6551187"/>
            <a:ext cx="6457529" cy="1799922"/>
            <a:chOff x="0" y="0"/>
            <a:chExt cx="9904570" cy="276072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904570" cy="2760724"/>
            </a:xfrm>
            <a:custGeom>
              <a:avLst/>
              <a:gdLst/>
              <a:ahLst/>
              <a:cxnLst/>
              <a:rect l="l" t="t" r="r" b="b"/>
              <a:pathLst>
                <a:path w="9904570" h="2760724">
                  <a:moveTo>
                    <a:pt x="0" y="105170"/>
                  </a:moveTo>
                  <a:cubicBezTo>
                    <a:pt x="0" y="47108"/>
                    <a:pt x="94644" y="0"/>
                    <a:pt x="211297" y="0"/>
                  </a:cubicBezTo>
                  <a:lnTo>
                    <a:pt x="9693272" y="0"/>
                  </a:lnTo>
                  <a:cubicBezTo>
                    <a:pt x="9809927" y="0"/>
                    <a:pt x="9904570" y="47108"/>
                    <a:pt x="9904570" y="105170"/>
                  </a:cubicBezTo>
                  <a:lnTo>
                    <a:pt x="9904570" y="2655554"/>
                  </a:lnTo>
                  <a:cubicBezTo>
                    <a:pt x="9904570" y="2713617"/>
                    <a:pt x="9809927" y="2760724"/>
                    <a:pt x="9693272" y="2760724"/>
                  </a:cubicBezTo>
                  <a:lnTo>
                    <a:pt x="211297" y="2760724"/>
                  </a:lnTo>
                  <a:cubicBezTo>
                    <a:pt x="94644" y="2760724"/>
                    <a:pt x="0" y="2713617"/>
                    <a:pt x="0" y="2655554"/>
                  </a:cubicBezTo>
                  <a:close/>
                </a:path>
              </a:pathLst>
            </a:custGeom>
            <a:solidFill>
              <a:srgbClr val="473C38"/>
            </a:solidFill>
          </p:spPr>
        </p:sp>
      </p:grpSp>
      <p:sp>
        <p:nvSpPr>
          <p:cNvPr id="13" name="Freeform 13"/>
          <p:cNvSpPr/>
          <p:nvPr/>
        </p:nvSpPr>
        <p:spPr>
          <a:xfrm>
            <a:off x="823284" y="2412070"/>
            <a:ext cx="9550874" cy="6391186"/>
          </a:xfrm>
          <a:custGeom>
            <a:avLst/>
            <a:gdLst/>
            <a:ahLst/>
            <a:cxnLst/>
            <a:rect l="l" t="t" r="r" b="b"/>
            <a:pathLst>
              <a:path w="9550874" h="6391186">
                <a:moveTo>
                  <a:pt x="0" y="0"/>
                </a:moveTo>
                <a:lnTo>
                  <a:pt x="9550874" y="0"/>
                </a:lnTo>
                <a:lnTo>
                  <a:pt x="9550874" y="6391186"/>
                </a:lnTo>
                <a:lnTo>
                  <a:pt x="0" y="63911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844451" y="304764"/>
            <a:ext cx="16363188" cy="752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99"/>
              </a:lnSpc>
            </a:pPr>
            <a:r>
              <a:rPr lang="en-US" sz="4999" b="1">
                <a:solidFill>
                  <a:srgbClr val="262626"/>
                </a:solidFill>
                <a:latin typeface="Cambria Bold"/>
                <a:ea typeface="Cambria Bold"/>
                <a:cs typeface="Cambria Bold"/>
                <a:sym typeface="Cambria Bold"/>
              </a:rPr>
              <a:t>Holidays shift who rides, not just how many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550640" y="9581388"/>
            <a:ext cx="681228" cy="266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b="1">
                <a:solidFill>
                  <a:srgbClr val="5E5E5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401868" y="2228125"/>
            <a:ext cx="3999438" cy="830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 b="1">
                <a:solidFill>
                  <a:srgbClr val="C4553A"/>
                </a:solidFill>
                <a:latin typeface="Cambria Bold"/>
                <a:ea typeface="Cambria Bold"/>
                <a:cs typeface="Cambria Bold"/>
                <a:sym typeface="Cambria Bold"/>
              </a:rPr>
              <a:t>-17.5%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339006" y="6446412"/>
            <a:ext cx="3999438" cy="830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 b="1">
                <a:solidFill>
                  <a:srgbClr val="C4553A"/>
                </a:solidFill>
                <a:latin typeface="Cambria Bold"/>
                <a:ea typeface="Cambria Bold"/>
                <a:cs typeface="Cambria Bold"/>
                <a:sym typeface="Cambria Bold"/>
              </a:rPr>
              <a:t>-28%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551202" y="4381137"/>
            <a:ext cx="3999438" cy="830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 b="1">
                <a:solidFill>
                  <a:srgbClr val="C4553A"/>
                </a:solidFill>
                <a:latin typeface="Cambria Bold"/>
                <a:ea typeface="Cambria Bold"/>
                <a:cs typeface="Cambria Bold"/>
                <a:sym typeface="Cambria Bold"/>
              </a:rPr>
              <a:t>+120%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339006" y="3001519"/>
            <a:ext cx="3999438" cy="1118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FFF6EA"/>
                </a:solidFill>
                <a:latin typeface="Cambria Bold"/>
                <a:ea typeface="Cambria Bold"/>
                <a:cs typeface="Cambria Bold"/>
                <a:sym typeface="Cambria Bold"/>
              </a:rPr>
              <a:t>Total rentals per hour on holidays (49.5 vs 60.0)</a:t>
            </a:r>
          </a:p>
          <a:p>
            <a:pPr algn="ctr">
              <a:lnSpc>
                <a:spcPts val="2940"/>
              </a:lnSpc>
            </a:pPr>
            <a:endParaRPr lang="en-US" sz="2100" b="1">
              <a:solidFill>
                <a:srgbClr val="FFF6EA"/>
              </a:solidFill>
              <a:latin typeface="Cambria Bold"/>
              <a:ea typeface="Cambria Bold"/>
              <a:cs typeface="Cambria Bold"/>
              <a:sym typeface="Cambria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2551202" y="5129294"/>
            <a:ext cx="3999438" cy="1118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FFF6EA"/>
                </a:solidFill>
                <a:latin typeface="Cambria Bold"/>
                <a:ea typeface="Cambria Bold"/>
                <a:cs typeface="Cambria Bold"/>
                <a:sym typeface="Cambria Bold"/>
              </a:rPr>
              <a:t>Casual rentals on holidays </a:t>
            </a:r>
          </a:p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FFF6EA"/>
                </a:solidFill>
                <a:latin typeface="Cambria Bold"/>
                <a:ea typeface="Cambria Bold"/>
                <a:cs typeface="Cambria Bold"/>
                <a:sym typeface="Cambria Bold"/>
              </a:rPr>
              <a:t>(9.0 vs 4.1)</a:t>
            </a:r>
          </a:p>
          <a:p>
            <a:pPr algn="ctr">
              <a:lnSpc>
                <a:spcPts val="2940"/>
              </a:lnSpc>
            </a:pPr>
            <a:endParaRPr lang="en-US" sz="2100" b="1">
              <a:solidFill>
                <a:srgbClr val="FFF6EA"/>
              </a:solidFill>
              <a:latin typeface="Cambria Bold"/>
              <a:ea typeface="Cambria Bold"/>
              <a:cs typeface="Cambria Bold"/>
              <a:sym typeface="Cambria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2401868" y="7300096"/>
            <a:ext cx="3999438" cy="1118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FFF6EA"/>
                </a:solidFill>
                <a:latin typeface="Cambria Bold"/>
                <a:ea typeface="Cambria Bold"/>
                <a:cs typeface="Cambria Bold"/>
                <a:sym typeface="Cambria Bold"/>
              </a:rPr>
              <a:t>Registered rentals on holidays (40.5 vs 55.9)</a:t>
            </a:r>
          </a:p>
          <a:p>
            <a:pPr algn="ctr">
              <a:lnSpc>
                <a:spcPts val="2940"/>
              </a:lnSpc>
            </a:pPr>
            <a:endParaRPr lang="en-US" sz="2100" b="1">
              <a:solidFill>
                <a:srgbClr val="FFF6EA"/>
              </a:solidFill>
              <a:latin typeface="Cambria Bold"/>
              <a:ea typeface="Cambria Bold"/>
              <a:cs typeface="Cambria Bold"/>
              <a:sym typeface="Cambria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25620" y="9528048"/>
            <a:ext cx="12344400" cy="411480"/>
            <a:chOff x="0" y="0"/>
            <a:chExt cx="16459200" cy="5486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459200" cy="548640"/>
            </a:xfrm>
            <a:custGeom>
              <a:avLst/>
              <a:gdLst/>
              <a:ahLst/>
              <a:cxnLst/>
              <a:rect l="l" t="t" r="r" b="b"/>
              <a:pathLst>
                <a:path w="16459200" h="54864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4551" b="-534551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449">
                  <a:solidFill>
                    <a:srgbClr val="C455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ANOMALY DETECTION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60120" y="2537460"/>
            <a:ext cx="6309360" cy="2057400"/>
            <a:chOff x="0" y="0"/>
            <a:chExt cx="8412480" cy="2743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412480" cy="2743200"/>
            </a:xfrm>
            <a:custGeom>
              <a:avLst/>
              <a:gdLst/>
              <a:ahLst/>
              <a:cxnLst/>
              <a:rect l="l" t="t" r="r" b="b"/>
              <a:pathLst>
                <a:path w="8412480" h="27432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8266176" y="0"/>
                  </a:lnTo>
                  <a:cubicBezTo>
                    <a:pt x="8346948" y="0"/>
                    <a:pt x="8412480" y="65532"/>
                    <a:pt x="8412480" y="146304"/>
                  </a:cubicBezTo>
                  <a:lnTo>
                    <a:pt x="8412480" y="2596896"/>
                  </a:lnTo>
                  <a:cubicBezTo>
                    <a:pt x="8412480" y="2677668"/>
                    <a:pt x="8346948" y="2743200"/>
                    <a:pt x="8266176" y="2743200"/>
                  </a:cubicBezTo>
                  <a:lnTo>
                    <a:pt x="146304" y="2743200"/>
                  </a:lnTo>
                  <a:cubicBezTo>
                    <a:pt x="65532" y="2743200"/>
                    <a:pt x="0" y="2677668"/>
                    <a:pt x="0" y="2596896"/>
                  </a:cubicBezTo>
                  <a:close/>
                </a:path>
              </a:pathLst>
            </a:custGeom>
            <a:solidFill>
              <a:srgbClr val="FDFBF7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1028700" y="2702052"/>
            <a:ext cx="6457529" cy="1885867"/>
            <a:chOff x="0" y="0"/>
            <a:chExt cx="9904570" cy="289254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904570" cy="2892546"/>
            </a:xfrm>
            <a:custGeom>
              <a:avLst/>
              <a:gdLst/>
              <a:ahLst/>
              <a:cxnLst/>
              <a:rect l="l" t="t" r="r" b="b"/>
              <a:pathLst>
                <a:path w="9904570" h="2892546">
                  <a:moveTo>
                    <a:pt x="0" y="110192"/>
                  </a:moveTo>
                  <a:cubicBezTo>
                    <a:pt x="0" y="49357"/>
                    <a:pt x="94644" y="0"/>
                    <a:pt x="211297" y="0"/>
                  </a:cubicBezTo>
                  <a:lnTo>
                    <a:pt x="9693272" y="0"/>
                  </a:lnTo>
                  <a:cubicBezTo>
                    <a:pt x="9809927" y="0"/>
                    <a:pt x="9904570" y="49357"/>
                    <a:pt x="9904570" y="110192"/>
                  </a:cubicBezTo>
                  <a:lnTo>
                    <a:pt x="9904570" y="2782353"/>
                  </a:lnTo>
                  <a:cubicBezTo>
                    <a:pt x="9904570" y="2843189"/>
                    <a:pt x="9809927" y="2892546"/>
                    <a:pt x="9693272" y="2892546"/>
                  </a:cubicBezTo>
                  <a:lnTo>
                    <a:pt x="211297" y="2892546"/>
                  </a:lnTo>
                  <a:cubicBezTo>
                    <a:pt x="94644" y="2892546"/>
                    <a:pt x="0" y="2843189"/>
                    <a:pt x="0" y="2782353"/>
                  </a:cubicBezTo>
                  <a:close/>
                </a:path>
              </a:pathLst>
            </a:custGeom>
            <a:solidFill>
              <a:srgbClr val="473C38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303020" y="2702052"/>
            <a:ext cx="2331720" cy="1728216"/>
            <a:chOff x="0" y="0"/>
            <a:chExt cx="3108960" cy="230428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108960" cy="2304288"/>
            </a:xfrm>
            <a:custGeom>
              <a:avLst/>
              <a:gdLst/>
              <a:ahLst/>
              <a:cxnLst/>
              <a:rect l="l" t="t" r="r" b="b"/>
              <a:pathLst>
                <a:path w="3108960" h="2304288">
                  <a:moveTo>
                    <a:pt x="0" y="0"/>
                  </a:moveTo>
                  <a:lnTo>
                    <a:pt x="3108960" y="0"/>
                  </a:lnTo>
                  <a:lnTo>
                    <a:pt x="3108960" y="2304288"/>
                  </a:lnTo>
                  <a:lnTo>
                    <a:pt x="0" y="2304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095" r="-45095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3108960" cy="23138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r>
                <a:rPr lang="en-US" sz="5400" b="1">
                  <a:solidFill>
                    <a:srgbClr val="C4553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30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703320" y="2702052"/>
            <a:ext cx="3360420" cy="1728216"/>
            <a:chOff x="0" y="0"/>
            <a:chExt cx="4480560" cy="23042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480560" cy="2304288"/>
            </a:xfrm>
            <a:custGeom>
              <a:avLst/>
              <a:gdLst/>
              <a:ahLst/>
              <a:cxnLst/>
              <a:rect l="l" t="t" r="r" b="b"/>
              <a:pathLst>
                <a:path w="4480560" h="2304288">
                  <a:moveTo>
                    <a:pt x="0" y="0"/>
                  </a:moveTo>
                  <a:lnTo>
                    <a:pt x="4480560" y="0"/>
                  </a:lnTo>
                  <a:lnTo>
                    <a:pt x="4480560" y="2304288"/>
                  </a:lnTo>
                  <a:lnTo>
                    <a:pt x="0" y="2304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984" r="-15984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4480560" cy="23519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6E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High outliers by the IQR rule, 3% of all records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60120" y="4869180"/>
            <a:ext cx="6309360" cy="2057400"/>
            <a:chOff x="0" y="0"/>
            <a:chExt cx="8412480" cy="27432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412480" cy="2743200"/>
            </a:xfrm>
            <a:custGeom>
              <a:avLst/>
              <a:gdLst/>
              <a:ahLst/>
              <a:cxnLst/>
              <a:rect l="l" t="t" r="r" b="b"/>
              <a:pathLst>
                <a:path w="8412480" h="27432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8266176" y="0"/>
                  </a:lnTo>
                  <a:cubicBezTo>
                    <a:pt x="8346948" y="0"/>
                    <a:pt x="8412480" y="65532"/>
                    <a:pt x="8412480" y="146304"/>
                  </a:cubicBezTo>
                  <a:lnTo>
                    <a:pt x="8412480" y="2596896"/>
                  </a:lnTo>
                  <a:cubicBezTo>
                    <a:pt x="8412480" y="2677668"/>
                    <a:pt x="8346948" y="2743200"/>
                    <a:pt x="8266176" y="2743200"/>
                  </a:cubicBezTo>
                  <a:lnTo>
                    <a:pt x="146304" y="2743200"/>
                  </a:lnTo>
                  <a:cubicBezTo>
                    <a:pt x="65532" y="2743200"/>
                    <a:pt x="0" y="2677668"/>
                    <a:pt x="0" y="2596896"/>
                  </a:cubicBezTo>
                  <a:close/>
                </a:path>
              </a:pathLst>
            </a:custGeom>
            <a:solidFill>
              <a:srgbClr val="FDFBF7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1028700" y="4954947"/>
            <a:ext cx="6457529" cy="1885867"/>
            <a:chOff x="0" y="0"/>
            <a:chExt cx="9904570" cy="289254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904570" cy="2892546"/>
            </a:xfrm>
            <a:custGeom>
              <a:avLst/>
              <a:gdLst/>
              <a:ahLst/>
              <a:cxnLst/>
              <a:rect l="l" t="t" r="r" b="b"/>
              <a:pathLst>
                <a:path w="9904570" h="2892546">
                  <a:moveTo>
                    <a:pt x="0" y="110192"/>
                  </a:moveTo>
                  <a:cubicBezTo>
                    <a:pt x="0" y="49357"/>
                    <a:pt x="94644" y="0"/>
                    <a:pt x="211297" y="0"/>
                  </a:cubicBezTo>
                  <a:lnTo>
                    <a:pt x="9693272" y="0"/>
                  </a:lnTo>
                  <a:cubicBezTo>
                    <a:pt x="9809927" y="0"/>
                    <a:pt x="9904570" y="49357"/>
                    <a:pt x="9904570" y="110192"/>
                  </a:cubicBezTo>
                  <a:lnTo>
                    <a:pt x="9904570" y="2782353"/>
                  </a:lnTo>
                  <a:cubicBezTo>
                    <a:pt x="9904570" y="2843189"/>
                    <a:pt x="9809927" y="2892546"/>
                    <a:pt x="9693272" y="2892546"/>
                  </a:cubicBezTo>
                  <a:lnTo>
                    <a:pt x="211297" y="2892546"/>
                  </a:lnTo>
                  <a:cubicBezTo>
                    <a:pt x="94644" y="2892546"/>
                    <a:pt x="0" y="2843189"/>
                    <a:pt x="0" y="2782353"/>
                  </a:cubicBezTo>
                  <a:close/>
                </a:path>
              </a:pathLst>
            </a:custGeom>
            <a:solidFill>
              <a:srgbClr val="473C38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1303020" y="5033772"/>
            <a:ext cx="2331720" cy="1728216"/>
            <a:chOff x="0" y="0"/>
            <a:chExt cx="3108960" cy="230428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108960" cy="2304288"/>
            </a:xfrm>
            <a:custGeom>
              <a:avLst/>
              <a:gdLst/>
              <a:ahLst/>
              <a:cxnLst/>
              <a:rect l="l" t="t" r="r" b="b"/>
              <a:pathLst>
                <a:path w="3108960" h="2304288">
                  <a:moveTo>
                    <a:pt x="0" y="0"/>
                  </a:moveTo>
                  <a:lnTo>
                    <a:pt x="3108960" y="0"/>
                  </a:lnTo>
                  <a:lnTo>
                    <a:pt x="3108960" y="2304288"/>
                  </a:lnTo>
                  <a:lnTo>
                    <a:pt x="0" y="2304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095" r="-45095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9525"/>
              <a:ext cx="3108960" cy="23138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r>
                <a:rPr lang="en-US" sz="5400" b="1">
                  <a:solidFill>
                    <a:srgbClr val="C4553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183.5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703320" y="5033772"/>
            <a:ext cx="3360420" cy="1728216"/>
            <a:chOff x="0" y="0"/>
            <a:chExt cx="4480560" cy="230428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480560" cy="2304288"/>
            </a:xfrm>
            <a:custGeom>
              <a:avLst/>
              <a:gdLst/>
              <a:ahLst/>
              <a:cxnLst/>
              <a:rect l="l" t="t" r="r" b="b"/>
              <a:pathLst>
                <a:path w="4480560" h="2304288">
                  <a:moveTo>
                    <a:pt x="0" y="0"/>
                  </a:moveTo>
                  <a:lnTo>
                    <a:pt x="4480560" y="0"/>
                  </a:lnTo>
                  <a:lnTo>
                    <a:pt x="4480560" y="2304288"/>
                  </a:lnTo>
                  <a:lnTo>
                    <a:pt x="0" y="2304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984" r="-15984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4480560" cy="23519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6E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IQR upper limit: Q3 of 83 plus 1.5 × IQR of 67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60120" y="7200900"/>
            <a:ext cx="6309360" cy="2057400"/>
            <a:chOff x="0" y="0"/>
            <a:chExt cx="8412480" cy="27432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412480" cy="2743200"/>
            </a:xfrm>
            <a:custGeom>
              <a:avLst/>
              <a:gdLst/>
              <a:ahLst/>
              <a:cxnLst/>
              <a:rect l="l" t="t" r="r" b="b"/>
              <a:pathLst>
                <a:path w="8412480" h="27432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8266176" y="0"/>
                  </a:lnTo>
                  <a:cubicBezTo>
                    <a:pt x="8346948" y="0"/>
                    <a:pt x="8412480" y="65532"/>
                    <a:pt x="8412480" y="146304"/>
                  </a:cubicBezTo>
                  <a:lnTo>
                    <a:pt x="8412480" y="2596896"/>
                  </a:lnTo>
                  <a:cubicBezTo>
                    <a:pt x="8412480" y="2677668"/>
                    <a:pt x="8346948" y="2743200"/>
                    <a:pt x="8266176" y="2743200"/>
                  </a:cubicBezTo>
                  <a:lnTo>
                    <a:pt x="146304" y="2743200"/>
                  </a:lnTo>
                  <a:cubicBezTo>
                    <a:pt x="65532" y="2743200"/>
                    <a:pt x="0" y="2677668"/>
                    <a:pt x="0" y="2596896"/>
                  </a:cubicBezTo>
                  <a:close/>
                </a:path>
              </a:pathLst>
            </a:custGeom>
            <a:solidFill>
              <a:srgbClr val="FDFBF7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1028700" y="7235273"/>
            <a:ext cx="6457529" cy="1885867"/>
            <a:chOff x="0" y="0"/>
            <a:chExt cx="9904570" cy="289254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9904570" cy="2892546"/>
            </a:xfrm>
            <a:custGeom>
              <a:avLst/>
              <a:gdLst/>
              <a:ahLst/>
              <a:cxnLst/>
              <a:rect l="l" t="t" r="r" b="b"/>
              <a:pathLst>
                <a:path w="9904570" h="2892546">
                  <a:moveTo>
                    <a:pt x="0" y="110192"/>
                  </a:moveTo>
                  <a:cubicBezTo>
                    <a:pt x="0" y="49357"/>
                    <a:pt x="94644" y="0"/>
                    <a:pt x="211297" y="0"/>
                  </a:cubicBezTo>
                  <a:lnTo>
                    <a:pt x="9693272" y="0"/>
                  </a:lnTo>
                  <a:cubicBezTo>
                    <a:pt x="9809927" y="0"/>
                    <a:pt x="9904570" y="49357"/>
                    <a:pt x="9904570" y="110192"/>
                  </a:cubicBezTo>
                  <a:lnTo>
                    <a:pt x="9904570" y="2782353"/>
                  </a:lnTo>
                  <a:cubicBezTo>
                    <a:pt x="9904570" y="2843189"/>
                    <a:pt x="9809927" y="2892546"/>
                    <a:pt x="9693272" y="2892546"/>
                  </a:cubicBezTo>
                  <a:lnTo>
                    <a:pt x="211297" y="2892546"/>
                  </a:lnTo>
                  <a:cubicBezTo>
                    <a:pt x="94644" y="2892546"/>
                    <a:pt x="0" y="2843189"/>
                    <a:pt x="0" y="2782353"/>
                  </a:cubicBezTo>
                  <a:close/>
                </a:path>
              </a:pathLst>
            </a:custGeom>
            <a:solidFill>
              <a:srgbClr val="473C38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1303020" y="7365492"/>
            <a:ext cx="2331720" cy="1728216"/>
            <a:chOff x="0" y="0"/>
            <a:chExt cx="3108960" cy="230428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108960" cy="2304288"/>
            </a:xfrm>
            <a:custGeom>
              <a:avLst/>
              <a:gdLst/>
              <a:ahLst/>
              <a:cxnLst/>
              <a:rect l="l" t="t" r="r" b="b"/>
              <a:pathLst>
                <a:path w="3108960" h="2304288">
                  <a:moveTo>
                    <a:pt x="0" y="0"/>
                  </a:moveTo>
                  <a:lnTo>
                    <a:pt x="3108960" y="0"/>
                  </a:lnTo>
                  <a:lnTo>
                    <a:pt x="3108960" y="2304288"/>
                  </a:lnTo>
                  <a:lnTo>
                    <a:pt x="0" y="2304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095" r="-45095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9525"/>
              <a:ext cx="3108960" cy="23138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r>
                <a:rPr lang="en-US" sz="5400" b="1">
                  <a:solidFill>
                    <a:srgbClr val="C4553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160.3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3703320" y="7365492"/>
            <a:ext cx="3360420" cy="1728216"/>
            <a:chOff x="0" y="0"/>
            <a:chExt cx="4480560" cy="230428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480560" cy="2304288"/>
            </a:xfrm>
            <a:custGeom>
              <a:avLst/>
              <a:gdLst/>
              <a:ahLst/>
              <a:cxnLst/>
              <a:rect l="l" t="t" r="r" b="b"/>
              <a:pathLst>
                <a:path w="4480560" h="2304288">
                  <a:moveTo>
                    <a:pt x="0" y="0"/>
                  </a:moveTo>
                  <a:lnTo>
                    <a:pt x="4480560" y="0"/>
                  </a:lnTo>
                  <a:lnTo>
                    <a:pt x="4480560" y="2304288"/>
                  </a:lnTo>
                  <a:lnTo>
                    <a:pt x="0" y="2304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984" r="-15984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47625"/>
              <a:ext cx="4480560" cy="23519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6E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Mean + 2σ boundary (58.3 + 2 × 51.0), flags 60 hours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818120" y="7543800"/>
            <a:ext cx="9505188" cy="1645920"/>
            <a:chOff x="0" y="0"/>
            <a:chExt cx="12673584" cy="219456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2673585" cy="2194560"/>
            </a:xfrm>
            <a:custGeom>
              <a:avLst/>
              <a:gdLst/>
              <a:ahLst/>
              <a:cxnLst/>
              <a:rect l="l" t="t" r="r" b="b"/>
              <a:pathLst>
                <a:path w="12673585" h="21945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2527280" y="0"/>
                  </a:lnTo>
                  <a:cubicBezTo>
                    <a:pt x="12608052" y="0"/>
                    <a:pt x="12673585" y="65532"/>
                    <a:pt x="12673585" y="146304"/>
                  </a:cubicBezTo>
                  <a:lnTo>
                    <a:pt x="12673585" y="2048256"/>
                  </a:lnTo>
                  <a:cubicBezTo>
                    <a:pt x="12673585" y="2129028"/>
                    <a:pt x="12608052" y="2194560"/>
                    <a:pt x="12527280" y="2194560"/>
                  </a:cubicBezTo>
                  <a:lnTo>
                    <a:pt x="146304" y="2194560"/>
                  </a:lnTo>
                  <a:cubicBezTo>
                    <a:pt x="65532" y="2194560"/>
                    <a:pt x="0" y="2129028"/>
                    <a:pt x="0" y="2048256"/>
                  </a:cubicBezTo>
                  <a:close/>
                </a:path>
              </a:pathLst>
            </a:custGeom>
            <a:solidFill>
              <a:srgbClr val="FDFBF7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8147304" y="7835868"/>
            <a:ext cx="9774616" cy="1508760"/>
            <a:chOff x="0" y="0"/>
            <a:chExt cx="13032821" cy="201168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3032822" cy="2011680"/>
            </a:xfrm>
            <a:custGeom>
              <a:avLst/>
              <a:gdLst/>
              <a:ahLst/>
              <a:cxnLst/>
              <a:rect l="l" t="t" r="r" b="b"/>
              <a:pathLst>
                <a:path w="13032822" h="2011680">
                  <a:moveTo>
                    <a:pt x="0" y="0"/>
                  </a:moveTo>
                  <a:lnTo>
                    <a:pt x="13032822" y="0"/>
                  </a:lnTo>
                  <a:lnTo>
                    <a:pt x="13032822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4253" r="9491" b="-64253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47625"/>
              <a:ext cx="13032821" cy="20593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 b="1">
                  <a:solidFill>
                    <a:srgbClr val="26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All 30 outliers fall on Monday to Friday, none on weekends, and 18 of them happened in normal weather.</a:t>
              </a:r>
            </a:p>
          </p:txBody>
        </p:sp>
      </p:grpSp>
      <p:sp>
        <p:nvSpPr>
          <p:cNvPr id="40" name="Freeform 40"/>
          <p:cNvSpPr/>
          <p:nvPr/>
        </p:nvSpPr>
        <p:spPr>
          <a:xfrm>
            <a:off x="7818120" y="2841634"/>
            <a:ext cx="10103800" cy="5114988"/>
          </a:xfrm>
          <a:custGeom>
            <a:avLst/>
            <a:gdLst/>
            <a:ahLst/>
            <a:cxnLst/>
            <a:rect l="l" t="t" r="r" b="b"/>
            <a:pathLst>
              <a:path w="10103800" h="5114988">
                <a:moveTo>
                  <a:pt x="0" y="0"/>
                </a:moveTo>
                <a:lnTo>
                  <a:pt x="10103800" y="0"/>
                </a:lnTo>
                <a:lnTo>
                  <a:pt x="10103800" y="5114988"/>
                </a:lnTo>
                <a:lnTo>
                  <a:pt x="0" y="51149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41" name="Group 41"/>
          <p:cNvGrpSpPr/>
          <p:nvPr/>
        </p:nvGrpSpPr>
        <p:grpSpPr>
          <a:xfrm>
            <a:off x="0" y="25360"/>
            <a:ext cx="18287001" cy="1244847"/>
            <a:chOff x="0" y="0"/>
            <a:chExt cx="31357471" cy="2134591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31357472" cy="2134591"/>
            </a:xfrm>
            <a:custGeom>
              <a:avLst/>
              <a:gdLst/>
              <a:ahLst/>
              <a:cxnLst/>
              <a:rect l="l" t="t" r="r" b="b"/>
              <a:pathLst>
                <a:path w="31357472" h="2134591">
                  <a:moveTo>
                    <a:pt x="0" y="81318"/>
                  </a:moveTo>
                  <a:cubicBezTo>
                    <a:pt x="0" y="36424"/>
                    <a:pt x="299638" y="0"/>
                    <a:pt x="668959" y="0"/>
                  </a:cubicBezTo>
                  <a:lnTo>
                    <a:pt x="30688511" y="0"/>
                  </a:lnTo>
                  <a:cubicBezTo>
                    <a:pt x="31057834" y="0"/>
                    <a:pt x="31357472" y="36424"/>
                    <a:pt x="31357472" y="81318"/>
                  </a:cubicBezTo>
                  <a:lnTo>
                    <a:pt x="31357472" y="2053273"/>
                  </a:lnTo>
                  <a:cubicBezTo>
                    <a:pt x="31357472" y="2098167"/>
                    <a:pt x="31057834" y="2134591"/>
                    <a:pt x="30688511" y="2134591"/>
                  </a:cubicBezTo>
                  <a:lnTo>
                    <a:pt x="668959" y="2134591"/>
                  </a:lnTo>
                  <a:cubicBezTo>
                    <a:pt x="299638" y="2134591"/>
                    <a:pt x="0" y="2098167"/>
                    <a:pt x="0" y="2053273"/>
                  </a:cubicBezTo>
                  <a:close/>
                </a:path>
              </a:pathLst>
            </a:custGeom>
            <a:solidFill>
              <a:srgbClr val="C2B19C"/>
            </a:solidFill>
          </p:spPr>
        </p:sp>
      </p:grpSp>
      <p:sp>
        <p:nvSpPr>
          <p:cNvPr id="43" name="TextBox 43"/>
          <p:cNvSpPr txBox="1"/>
          <p:nvPr/>
        </p:nvSpPr>
        <p:spPr>
          <a:xfrm>
            <a:off x="1303020" y="304764"/>
            <a:ext cx="16363188" cy="752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99"/>
              </a:lnSpc>
            </a:pPr>
            <a:r>
              <a:rPr lang="en-US" sz="4999" b="1">
                <a:solidFill>
                  <a:srgbClr val="262626"/>
                </a:solidFill>
                <a:latin typeface="Cambria Bold"/>
                <a:ea typeface="Cambria Bold"/>
                <a:cs typeface="Cambria Bold"/>
                <a:sym typeface="Cambria Bold"/>
              </a:rPr>
              <a:t>Thirty extreme hours, all at weekday rush times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6550640" y="9581388"/>
            <a:ext cx="681228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b="1" dirty="0">
                <a:solidFill>
                  <a:srgbClr val="5E5E5C"/>
                </a:solidFill>
                <a:latin typeface="Calibri (MS)"/>
                <a:ea typeface="Calibri (MS)"/>
                <a:cs typeface="Calibri (MS)"/>
                <a:sym typeface="Calibri (MS)"/>
              </a:rPr>
              <a:t>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09784" y="9490710"/>
            <a:ext cx="12344400" cy="411480"/>
            <a:chOff x="0" y="0"/>
            <a:chExt cx="16459200" cy="5486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459200" cy="548640"/>
            </a:xfrm>
            <a:custGeom>
              <a:avLst/>
              <a:gdLst/>
              <a:ahLst/>
              <a:cxnLst/>
              <a:rect l="l" t="t" r="r" b="b"/>
              <a:pathLst>
                <a:path w="16459200" h="54864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4551" b="-534551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449">
                  <a:solidFill>
                    <a:srgbClr val="C455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FORECAST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25360"/>
            <a:ext cx="18287001" cy="1244847"/>
            <a:chOff x="0" y="0"/>
            <a:chExt cx="31357471" cy="213459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1357472" cy="2134591"/>
            </a:xfrm>
            <a:custGeom>
              <a:avLst/>
              <a:gdLst/>
              <a:ahLst/>
              <a:cxnLst/>
              <a:rect l="l" t="t" r="r" b="b"/>
              <a:pathLst>
                <a:path w="31357472" h="2134591">
                  <a:moveTo>
                    <a:pt x="0" y="81318"/>
                  </a:moveTo>
                  <a:cubicBezTo>
                    <a:pt x="0" y="36424"/>
                    <a:pt x="299638" y="0"/>
                    <a:pt x="668959" y="0"/>
                  </a:cubicBezTo>
                  <a:lnTo>
                    <a:pt x="30688511" y="0"/>
                  </a:lnTo>
                  <a:cubicBezTo>
                    <a:pt x="31057834" y="0"/>
                    <a:pt x="31357472" y="36424"/>
                    <a:pt x="31357472" y="81318"/>
                  </a:cubicBezTo>
                  <a:lnTo>
                    <a:pt x="31357472" y="2053273"/>
                  </a:lnTo>
                  <a:cubicBezTo>
                    <a:pt x="31357472" y="2098167"/>
                    <a:pt x="31057834" y="2134591"/>
                    <a:pt x="30688511" y="2134591"/>
                  </a:cubicBezTo>
                  <a:lnTo>
                    <a:pt x="668959" y="2134591"/>
                  </a:lnTo>
                  <a:cubicBezTo>
                    <a:pt x="299638" y="2134591"/>
                    <a:pt x="0" y="2098167"/>
                    <a:pt x="0" y="2053273"/>
                  </a:cubicBezTo>
                  <a:close/>
                </a:path>
              </a:pathLst>
            </a:custGeom>
            <a:solidFill>
              <a:srgbClr val="C2B19C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12882086" y="4587981"/>
            <a:ext cx="4509802" cy="2121359"/>
            <a:chOff x="0" y="0"/>
            <a:chExt cx="6149269" cy="289254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149269" cy="2892546"/>
            </a:xfrm>
            <a:custGeom>
              <a:avLst/>
              <a:gdLst/>
              <a:ahLst/>
              <a:cxnLst/>
              <a:rect l="l" t="t" r="r" b="b"/>
              <a:pathLst>
                <a:path w="6149269" h="2892546">
                  <a:moveTo>
                    <a:pt x="0" y="110192"/>
                  </a:moveTo>
                  <a:cubicBezTo>
                    <a:pt x="0" y="49357"/>
                    <a:pt x="58760" y="0"/>
                    <a:pt x="131184" y="0"/>
                  </a:cubicBezTo>
                  <a:lnTo>
                    <a:pt x="6018084" y="0"/>
                  </a:lnTo>
                  <a:cubicBezTo>
                    <a:pt x="6090510" y="0"/>
                    <a:pt x="6149269" y="49357"/>
                    <a:pt x="6149269" y="110192"/>
                  </a:cubicBezTo>
                  <a:lnTo>
                    <a:pt x="6149269" y="2782353"/>
                  </a:lnTo>
                  <a:cubicBezTo>
                    <a:pt x="6149269" y="2843189"/>
                    <a:pt x="6090510" y="2892546"/>
                    <a:pt x="6018084" y="2892546"/>
                  </a:cubicBezTo>
                  <a:lnTo>
                    <a:pt x="131184" y="2892546"/>
                  </a:lnTo>
                  <a:cubicBezTo>
                    <a:pt x="58760" y="2892546"/>
                    <a:pt x="0" y="2843189"/>
                    <a:pt x="0" y="2782353"/>
                  </a:cubicBezTo>
                  <a:close/>
                </a:path>
              </a:pathLst>
            </a:custGeom>
            <a:solidFill>
              <a:srgbClr val="473C38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2882086" y="7103734"/>
            <a:ext cx="4509802" cy="2121359"/>
            <a:chOff x="0" y="0"/>
            <a:chExt cx="6149269" cy="289254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149269" cy="2892546"/>
            </a:xfrm>
            <a:custGeom>
              <a:avLst/>
              <a:gdLst/>
              <a:ahLst/>
              <a:cxnLst/>
              <a:rect l="l" t="t" r="r" b="b"/>
              <a:pathLst>
                <a:path w="6149269" h="2892546">
                  <a:moveTo>
                    <a:pt x="0" y="110192"/>
                  </a:moveTo>
                  <a:cubicBezTo>
                    <a:pt x="0" y="49357"/>
                    <a:pt x="58760" y="0"/>
                    <a:pt x="131184" y="0"/>
                  </a:cubicBezTo>
                  <a:lnTo>
                    <a:pt x="6018084" y="0"/>
                  </a:lnTo>
                  <a:cubicBezTo>
                    <a:pt x="6090510" y="0"/>
                    <a:pt x="6149269" y="49357"/>
                    <a:pt x="6149269" y="110192"/>
                  </a:cubicBezTo>
                  <a:lnTo>
                    <a:pt x="6149269" y="2782353"/>
                  </a:lnTo>
                  <a:cubicBezTo>
                    <a:pt x="6149269" y="2843189"/>
                    <a:pt x="6090510" y="2892546"/>
                    <a:pt x="6018084" y="2892546"/>
                  </a:cubicBezTo>
                  <a:lnTo>
                    <a:pt x="131184" y="2892546"/>
                  </a:lnTo>
                  <a:cubicBezTo>
                    <a:pt x="58760" y="2892546"/>
                    <a:pt x="0" y="2843189"/>
                    <a:pt x="0" y="2782353"/>
                  </a:cubicBezTo>
                  <a:close/>
                </a:path>
              </a:pathLst>
            </a:custGeom>
            <a:solidFill>
              <a:srgbClr val="473C38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2882086" y="2073464"/>
            <a:ext cx="4509802" cy="2121359"/>
            <a:chOff x="0" y="0"/>
            <a:chExt cx="6149269" cy="289254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149269" cy="2892546"/>
            </a:xfrm>
            <a:custGeom>
              <a:avLst/>
              <a:gdLst/>
              <a:ahLst/>
              <a:cxnLst/>
              <a:rect l="l" t="t" r="r" b="b"/>
              <a:pathLst>
                <a:path w="6149269" h="2892546">
                  <a:moveTo>
                    <a:pt x="0" y="110192"/>
                  </a:moveTo>
                  <a:cubicBezTo>
                    <a:pt x="0" y="49357"/>
                    <a:pt x="58760" y="0"/>
                    <a:pt x="131184" y="0"/>
                  </a:cubicBezTo>
                  <a:lnTo>
                    <a:pt x="6018084" y="0"/>
                  </a:lnTo>
                  <a:cubicBezTo>
                    <a:pt x="6090510" y="0"/>
                    <a:pt x="6149269" y="49357"/>
                    <a:pt x="6149269" y="110192"/>
                  </a:cubicBezTo>
                  <a:lnTo>
                    <a:pt x="6149269" y="2782353"/>
                  </a:lnTo>
                  <a:cubicBezTo>
                    <a:pt x="6149269" y="2843189"/>
                    <a:pt x="6090510" y="2892546"/>
                    <a:pt x="6018084" y="2892546"/>
                  </a:cubicBezTo>
                  <a:lnTo>
                    <a:pt x="131184" y="2892546"/>
                  </a:lnTo>
                  <a:cubicBezTo>
                    <a:pt x="58760" y="2892546"/>
                    <a:pt x="0" y="2843189"/>
                    <a:pt x="0" y="2782353"/>
                  </a:cubicBezTo>
                  <a:close/>
                </a:path>
              </a:pathLst>
            </a:custGeom>
            <a:solidFill>
              <a:srgbClr val="473C38"/>
            </a:solidFill>
          </p:spPr>
        </p:sp>
      </p:grpSp>
      <p:sp>
        <p:nvSpPr>
          <p:cNvPr id="13" name="Freeform 13"/>
          <p:cNvSpPr/>
          <p:nvPr/>
        </p:nvSpPr>
        <p:spPr>
          <a:xfrm>
            <a:off x="273541" y="2634708"/>
            <a:ext cx="12336864" cy="5775195"/>
          </a:xfrm>
          <a:custGeom>
            <a:avLst/>
            <a:gdLst/>
            <a:ahLst/>
            <a:cxnLst/>
            <a:rect l="l" t="t" r="r" b="b"/>
            <a:pathLst>
              <a:path w="12336864" h="5775195">
                <a:moveTo>
                  <a:pt x="0" y="0"/>
                </a:moveTo>
                <a:lnTo>
                  <a:pt x="12336864" y="0"/>
                </a:lnTo>
                <a:lnTo>
                  <a:pt x="12336864" y="5775195"/>
                </a:lnTo>
                <a:lnTo>
                  <a:pt x="0" y="57751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028700" y="304764"/>
            <a:ext cx="16363188" cy="752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99"/>
              </a:lnSpc>
            </a:pPr>
            <a:r>
              <a:rPr lang="en-US" sz="4999" b="1">
                <a:solidFill>
                  <a:srgbClr val="262626"/>
                </a:solidFill>
                <a:latin typeface="Cambria Bold"/>
                <a:ea typeface="Cambria Bold"/>
                <a:cs typeface="Cambria Bold"/>
                <a:sym typeface="Cambria Bold"/>
              </a:rPr>
              <a:t>Demand is forecast to drift up 18% by 31 March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550640" y="9581388"/>
            <a:ext cx="681228" cy="266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b="1">
                <a:solidFill>
                  <a:srgbClr val="5E5E5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15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774104" y="1809922"/>
            <a:ext cx="4147605" cy="533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C4553A"/>
                </a:solidFill>
                <a:latin typeface="Cambria Bold"/>
                <a:ea typeface="Cambria Bold"/>
                <a:cs typeface="Cambria Bold"/>
                <a:sym typeface="Cambria Bold"/>
              </a:rPr>
              <a:t>Forecast Horizon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933971" y="1901997"/>
            <a:ext cx="3999438" cy="441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15th Feb - 31st March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259862" y="2226421"/>
            <a:ext cx="3999438" cy="514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1">
                <a:solidFill>
                  <a:srgbClr val="C4553A"/>
                </a:solidFill>
                <a:latin typeface="Cambria Bold"/>
                <a:ea typeface="Cambria Bold"/>
                <a:cs typeface="Cambria Bold"/>
                <a:sym typeface="Cambria Bold"/>
              </a:rPr>
              <a:t>Historical Volatility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137268" y="2841747"/>
            <a:ext cx="3999438" cy="1259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FFF6EA"/>
                </a:solidFill>
                <a:latin typeface="Cambria Bold"/>
                <a:ea typeface="Cambria Bold"/>
                <a:cs typeface="Cambria Bold"/>
                <a:sym typeface="Cambria Bold"/>
              </a:rPr>
              <a:t>Daily bike rental counts (Jan 1 – Feb 14) fluctuate heavily between 32 and 86 without a fixed upward or downward trend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232430" y="4852987"/>
            <a:ext cx="3999438" cy="514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1">
                <a:solidFill>
                  <a:srgbClr val="C4553A"/>
                </a:solidFill>
                <a:latin typeface="Cambria Bold"/>
                <a:ea typeface="Cambria Bold"/>
                <a:cs typeface="Cambria Bold"/>
                <a:sym typeface="Cambria Bold"/>
              </a:rPr>
              <a:t>Anomaly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259862" y="5450063"/>
            <a:ext cx="3999438" cy="944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FFF6EA"/>
                </a:solidFill>
                <a:latin typeface="Cambria Bold"/>
                <a:ea typeface="Cambria Bold"/>
                <a:cs typeface="Cambria Bold"/>
                <a:sym typeface="Cambria Bold"/>
              </a:rPr>
              <a:t> A sharp, extreme drop occurs on February 16, 2011, plunging to a low of approximately 19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259862" y="7928540"/>
            <a:ext cx="3999438" cy="1259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FFF6EA"/>
                </a:solidFill>
                <a:latin typeface="Cambria Bold"/>
                <a:ea typeface="Cambria Bold"/>
                <a:cs typeface="Cambria Bold"/>
                <a:sym typeface="Cambria Bold"/>
              </a:rPr>
              <a:t>Following the anomaly, the model projects a steady, gradual recovery and upward trend through the end of March 2011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232430" y="7366565"/>
            <a:ext cx="3999438" cy="514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1">
                <a:solidFill>
                  <a:srgbClr val="C4553A"/>
                </a:solidFill>
                <a:latin typeface="Cambria Bold"/>
                <a:ea typeface="Cambria Bold"/>
                <a:cs typeface="Cambria Bold"/>
                <a:sym typeface="Cambria Bold"/>
              </a:rPr>
              <a:t>Forecast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5360"/>
            <a:ext cx="18287001" cy="1244847"/>
            <a:chOff x="0" y="0"/>
            <a:chExt cx="31357471" cy="21345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357472" cy="2134591"/>
            </a:xfrm>
            <a:custGeom>
              <a:avLst/>
              <a:gdLst/>
              <a:ahLst/>
              <a:cxnLst/>
              <a:rect l="l" t="t" r="r" b="b"/>
              <a:pathLst>
                <a:path w="31357472" h="2134591">
                  <a:moveTo>
                    <a:pt x="0" y="81318"/>
                  </a:moveTo>
                  <a:cubicBezTo>
                    <a:pt x="0" y="36424"/>
                    <a:pt x="299638" y="0"/>
                    <a:pt x="668959" y="0"/>
                  </a:cubicBezTo>
                  <a:lnTo>
                    <a:pt x="30688511" y="0"/>
                  </a:lnTo>
                  <a:cubicBezTo>
                    <a:pt x="31057834" y="0"/>
                    <a:pt x="31357472" y="36424"/>
                    <a:pt x="31357472" y="81318"/>
                  </a:cubicBezTo>
                  <a:lnTo>
                    <a:pt x="31357472" y="2053273"/>
                  </a:lnTo>
                  <a:cubicBezTo>
                    <a:pt x="31357472" y="2098167"/>
                    <a:pt x="31057834" y="2134591"/>
                    <a:pt x="30688511" y="2134591"/>
                  </a:cubicBezTo>
                  <a:lnTo>
                    <a:pt x="668959" y="2134591"/>
                  </a:lnTo>
                  <a:cubicBezTo>
                    <a:pt x="299638" y="2134591"/>
                    <a:pt x="0" y="2098167"/>
                    <a:pt x="0" y="2053273"/>
                  </a:cubicBezTo>
                  <a:close/>
                </a:path>
              </a:pathLst>
            </a:custGeom>
            <a:solidFill>
              <a:srgbClr val="C2B19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028700" y="9413748"/>
            <a:ext cx="12344400" cy="411480"/>
            <a:chOff x="0" y="0"/>
            <a:chExt cx="16459200" cy="5486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459200" cy="548640"/>
            </a:xfrm>
            <a:custGeom>
              <a:avLst/>
              <a:gdLst/>
              <a:ahLst/>
              <a:cxnLst/>
              <a:rect l="l" t="t" r="r" b="b"/>
              <a:pathLst>
                <a:path w="16459200" h="54864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4551" b="-534551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449">
                  <a:solidFill>
                    <a:srgbClr val="C455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FINDINGS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383542" y="262854"/>
            <a:ext cx="13886677" cy="752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99"/>
              </a:lnSpc>
            </a:pPr>
            <a:r>
              <a:rPr lang="en-US" sz="4999" b="1">
                <a:solidFill>
                  <a:srgbClr val="262626"/>
                </a:solidFill>
                <a:latin typeface="Cambria Bold"/>
                <a:ea typeface="Cambria Bold"/>
                <a:cs typeface="Cambria Bold"/>
                <a:sym typeface="Cambria Bold"/>
              </a:rPr>
              <a:t>Findings from the dashboard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60120" y="2586990"/>
            <a:ext cx="1234440" cy="842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1">
                <a:solidFill>
                  <a:srgbClr val="C4553A"/>
                </a:solidFill>
                <a:latin typeface="Cambria Bold"/>
                <a:ea typeface="Cambria Bold"/>
                <a:cs typeface="Cambria Bold"/>
                <a:sym typeface="Cambria Bold"/>
              </a:rPr>
              <a:t>01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2331720" y="2633472"/>
            <a:ext cx="6446520" cy="548640"/>
            <a:chOff x="0" y="0"/>
            <a:chExt cx="8595360" cy="7315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595360" cy="731520"/>
            </a:xfrm>
            <a:custGeom>
              <a:avLst/>
              <a:gdLst/>
              <a:ahLst/>
              <a:cxnLst/>
              <a:rect l="l" t="t" r="r" b="b"/>
              <a:pathLst>
                <a:path w="8595360" h="731520">
                  <a:moveTo>
                    <a:pt x="0" y="0"/>
                  </a:moveTo>
                  <a:lnTo>
                    <a:pt x="8595360" y="0"/>
                  </a:lnTo>
                  <a:lnTo>
                    <a:pt x="8595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8949" b="-178949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8595360" cy="788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Registered riders dominate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331720" y="3189351"/>
            <a:ext cx="6446520" cy="114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B8B8B4"/>
                </a:solidFill>
                <a:latin typeface="Calibri (MS)"/>
                <a:ea typeface="Calibri (MS)"/>
                <a:cs typeface="Calibri (MS)"/>
                <a:sym typeface="Calibri (MS)"/>
              </a:rPr>
              <a:t>91.6% of rentals; casual riders are only 8.4%.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26880" y="2586990"/>
            <a:ext cx="1234440" cy="842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1">
                <a:solidFill>
                  <a:srgbClr val="C4553A"/>
                </a:solidFill>
                <a:latin typeface="Cambria Bold"/>
                <a:ea typeface="Cambria Bold"/>
                <a:cs typeface="Cambria Bold"/>
                <a:sym typeface="Cambria Bold"/>
              </a:rPr>
              <a:t>02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0698480" y="2633472"/>
            <a:ext cx="6446520" cy="548640"/>
            <a:chOff x="0" y="0"/>
            <a:chExt cx="8595360" cy="73152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595360" cy="731520"/>
            </a:xfrm>
            <a:custGeom>
              <a:avLst/>
              <a:gdLst/>
              <a:ahLst/>
              <a:cxnLst/>
              <a:rect l="l" t="t" r="r" b="b"/>
              <a:pathLst>
                <a:path w="8595360" h="731520">
                  <a:moveTo>
                    <a:pt x="0" y="0"/>
                  </a:moveTo>
                  <a:lnTo>
                    <a:pt x="8595360" y="0"/>
                  </a:lnTo>
                  <a:lnTo>
                    <a:pt x="8595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8949" b="-178949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8595360" cy="788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Demand follows the commute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0698480" y="3189351"/>
            <a:ext cx="6446520" cy="114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B8B8B4"/>
                </a:solidFill>
                <a:latin typeface="Calibri (MS)"/>
                <a:ea typeface="Calibri (MS)"/>
                <a:cs typeface="Calibri (MS)"/>
                <a:sym typeface="Calibri (MS)"/>
              </a:rPr>
              <a:t>The 8:00, 17:00 and 18:00 hours drive 28.9% of volume.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60120" y="4781550"/>
            <a:ext cx="1234440" cy="842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1">
                <a:solidFill>
                  <a:srgbClr val="C4553A"/>
                </a:solidFill>
                <a:latin typeface="Cambria Bold"/>
                <a:ea typeface="Cambria Bold"/>
                <a:cs typeface="Cambria Bold"/>
                <a:sym typeface="Cambria Bold"/>
              </a:rPr>
              <a:t>03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2331720" y="4828032"/>
            <a:ext cx="6446520" cy="548640"/>
            <a:chOff x="0" y="0"/>
            <a:chExt cx="8595360" cy="73152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595360" cy="731520"/>
            </a:xfrm>
            <a:custGeom>
              <a:avLst/>
              <a:gdLst/>
              <a:ahLst/>
              <a:cxnLst/>
              <a:rect l="l" t="t" r="r" b="b"/>
              <a:pathLst>
                <a:path w="8595360" h="731520">
                  <a:moveTo>
                    <a:pt x="0" y="0"/>
                  </a:moveTo>
                  <a:lnTo>
                    <a:pt x="8595360" y="0"/>
                  </a:lnTo>
                  <a:lnTo>
                    <a:pt x="8595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8949" b="-178949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8595360" cy="788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Weekdays beat weekends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2331720" y="5383911"/>
            <a:ext cx="6446520" cy="114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B8B8B4"/>
                </a:solidFill>
                <a:latin typeface="Calibri (MS)"/>
                <a:ea typeface="Calibri (MS)"/>
                <a:cs typeface="Calibri (MS)"/>
                <a:sym typeface="Calibri (MS)"/>
              </a:rPr>
              <a:t>63.3 vs 48.1 rentals per hour, a 24% gap.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326880" y="4781550"/>
            <a:ext cx="1234440" cy="842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1">
                <a:solidFill>
                  <a:srgbClr val="C4553A"/>
                </a:solidFill>
                <a:latin typeface="Cambria Bold"/>
                <a:ea typeface="Cambria Bold"/>
                <a:cs typeface="Cambria Bold"/>
                <a:sym typeface="Cambria Bold"/>
              </a:rPr>
              <a:t>04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0698480" y="4828032"/>
            <a:ext cx="6446520" cy="548640"/>
            <a:chOff x="0" y="0"/>
            <a:chExt cx="8595360" cy="73152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595360" cy="731520"/>
            </a:xfrm>
            <a:custGeom>
              <a:avLst/>
              <a:gdLst/>
              <a:ahLst/>
              <a:cxnLst/>
              <a:rect l="l" t="t" r="r" b="b"/>
              <a:pathLst>
                <a:path w="8595360" h="731520">
                  <a:moveTo>
                    <a:pt x="0" y="0"/>
                  </a:moveTo>
                  <a:lnTo>
                    <a:pt x="8595360" y="0"/>
                  </a:lnTo>
                  <a:lnTo>
                    <a:pt x="8595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8949" b="-178949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8595360" cy="788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Severe weather hurts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0698480" y="5383911"/>
            <a:ext cx="6446520" cy="114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B8B8B4"/>
                </a:solidFill>
                <a:latin typeface="Calibri (MS)"/>
                <a:ea typeface="Calibri (MS)"/>
                <a:cs typeface="Calibri (MS)"/>
                <a:sym typeface="Calibri (MS)"/>
              </a:rPr>
              <a:t>Orange-alert hours average 46% fewer rentals.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60120" y="6976110"/>
            <a:ext cx="1234440" cy="842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1">
                <a:solidFill>
                  <a:srgbClr val="C4553A"/>
                </a:solidFill>
                <a:latin typeface="Cambria Bold"/>
                <a:ea typeface="Cambria Bold"/>
                <a:cs typeface="Cambria Bold"/>
                <a:sym typeface="Cambria Bold"/>
              </a:rPr>
              <a:t>05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2331720" y="7022592"/>
            <a:ext cx="6446520" cy="548640"/>
            <a:chOff x="0" y="0"/>
            <a:chExt cx="8595360" cy="73152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595360" cy="731520"/>
            </a:xfrm>
            <a:custGeom>
              <a:avLst/>
              <a:gdLst/>
              <a:ahLst/>
              <a:cxnLst/>
              <a:rect l="l" t="t" r="r" b="b"/>
              <a:pathLst>
                <a:path w="8595360" h="731520">
                  <a:moveTo>
                    <a:pt x="0" y="0"/>
                  </a:moveTo>
                  <a:lnTo>
                    <a:pt x="8595360" y="0"/>
                  </a:lnTo>
                  <a:lnTo>
                    <a:pt x="8595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8949" b="-178949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57150"/>
              <a:ext cx="8595360" cy="788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Holidays change who rides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2331720" y="7578471"/>
            <a:ext cx="6446520" cy="114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B8B8B4"/>
                </a:solidFill>
                <a:latin typeface="Calibri (MS)"/>
                <a:ea typeface="Calibri (MS)"/>
                <a:cs typeface="Calibri (MS)"/>
                <a:sym typeface="Calibri (MS)"/>
              </a:rPr>
              <a:t>Casual riders more than double; registered fall 28%.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326880" y="6976110"/>
            <a:ext cx="1234440" cy="842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1">
                <a:solidFill>
                  <a:srgbClr val="C4553A"/>
                </a:solidFill>
                <a:latin typeface="Cambria Bold"/>
                <a:ea typeface="Cambria Bold"/>
                <a:cs typeface="Cambria Bold"/>
                <a:sym typeface="Cambria Bold"/>
              </a:rPr>
              <a:t>06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10698480" y="7022592"/>
            <a:ext cx="6446520" cy="548640"/>
            <a:chOff x="0" y="0"/>
            <a:chExt cx="8595360" cy="73152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595360" cy="731520"/>
            </a:xfrm>
            <a:custGeom>
              <a:avLst/>
              <a:gdLst/>
              <a:ahLst/>
              <a:cxnLst/>
              <a:rect l="l" t="t" r="r" b="b"/>
              <a:pathLst>
                <a:path w="8595360" h="731520">
                  <a:moveTo>
                    <a:pt x="0" y="0"/>
                  </a:moveTo>
                  <a:lnTo>
                    <a:pt x="8595360" y="0"/>
                  </a:lnTo>
                  <a:lnTo>
                    <a:pt x="8595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8949" b="-178949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57150"/>
              <a:ext cx="8595360" cy="788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Spikes are predictable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0698480" y="7578471"/>
            <a:ext cx="6446520" cy="114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B8B8B4"/>
                </a:solidFill>
                <a:latin typeface="Calibri (MS)"/>
                <a:ea typeface="Calibri (MS)"/>
                <a:cs typeface="Calibri (MS)"/>
                <a:sym typeface="Calibri (MS)"/>
              </a:rPr>
              <a:t>All 30 outliers hit weekday rush hours; forecast trends up 18%.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6550640" y="9581388"/>
            <a:ext cx="681228" cy="266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b="1">
                <a:solidFill>
                  <a:srgbClr val="B8B8B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17220" y="9573768"/>
            <a:ext cx="12344400" cy="411480"/>
            <a:chOff x="0" y="0"/>
            <a:chExt cx="16459200" cy="5486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459200" cy="548640"/>
            </a:xfrm>
            <a:custGeom>
              <a:avLst/>
              <a:gdLst/>
              <a:ahLst/>
              <a:cxnLst/>
              <a:rect l="l" t="t" r="r" b="b"/>
              <a:pathLst>
                <a:path w="16459200" h="54864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4551" b="-534551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449">
                  <a:solidFill>
                    <a:srgbClr val="C455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RECOMMENDATIONS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25360"/>
            <a:ext cx="18287001" cy="1244847"/>
            <a:chOff x="0" y="0"/>
            <a:chExt cx="31357471" cy="213459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1357472" cy="2134591"/>
            </a:xfrm>
            <a:custGeom>
              <a:avLst/>
              <a:gdLst/>
              <a:ahLst/>
              <a:cxnLst/>
              <a:rect l="l" t="t" r="r" b="b"/>
              <a:pathLst>
                <a:path w="31357472" h="2134591">
                  <a:moveTo>
                    <a:pt x="0" y="81318"/>
                  </a:moveTo>
                  <a:cubicBezTo>
                    <a:pt x="0" y="36424"/>
                    <a:pt x="299638" y="0"/>
                    <a:pt x="668959" y="0"/>
                  </a:cubicBezTo>
                  <a:lnTo>
                    <a:pt x="30688511" y="0"/>
                  </a:lnTo>
                  <a:cubicBezTo>
                    <a:pt x="31057834" y="0"/>
                    <a:pt x="31357472" y="36424"/>
                    <a:pt x="31357472" y="81318"/>
                  </a:cubicBezTo>
                  <a:lnTo>
                    <a:pt x="31357472" y="2053273"/>
                  </a:lnTo>
                  <a:cubicBezTo>
                    <a:pt x="31357472" y="2098167"/>
                    <a:pt x="31057834" y="2134591"/>
                    <a:pt x="30688511" y="2134591"/>
                  </a:cubicBezTo>
                  <a:lnTo>
                    <a:pt x="668959" y="2134591"/>
                  </a:lnTo>
                  <a:cubicBezTo>
                    <a:pt x="299638" y="2134591"/>
                    <a:pt x="0" y="2098167"/>
                    <a:pt x="0" y="2053273"/>
                  </a:cubicBezTo>
                  <a:close/>
                </a:path>
              </a:pathLst>
            </a:custGeom>
            <a:solidFill>
              <a:srgbClr val="C2B19C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733806" y="271564"/>
            <a:ext cx="16363188" cy="752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99"/>
              </a:lnSpc>
            </a:pPr>
            <a:r>
              <a:rPr lang="en-US" sz="4999" b="1">
                <a:solidFill>
                  <a:srgbClr val="262626"/>
                </a:solidFill>
                <a:latin typeface="Cambria Bold"/>
                <a:ea typeface="Cambria Bold"/>
                <a:cs typeface="Cambria Bold"/>
                <a:sym typeface="Cambria Bold"/>
              </a:rPr>
              <a:t>Four actions the data supports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60120" y="2606040"/>
            <a:ext cx="16363188" cy="1440180"/>
            <a:chOff x="0" y="0"/>
            <a:chExt cx="21817584" cy="19202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817585" cy="1920240"/>
            </a:xfrm>
            <a:custGeom>
              <a:avLst/>
              <a:gdLst/>
              <a:ahLst/>
              <a:cxnLst/>
              <a:rect l="l" t="t" r="r" b="b"/>
              <a:pathLst>
                <a:path w="21817585" h="19202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671280" y="0"/>
                  </a:lnTo>
                  <a:cubicBezTo>
                    <a:pt x="21752052" y="0"/>
                    <a:pt x="21817585" y="65532"/>
                    <a:pt x="21817585" y="146304"/>
                  </a:cubicBezTo>
                  <a:lnTo>
                    <a:pt x="21817585" y="1773936"/>
                  </a:lnTo>
                  <a:cubicBezTo>
                    <a:pt x="21817585" y="1854708"/>
                    <a:pt x="21752052" y="1920240"/>
                    <a:pt x="21671280" y="1920240"/>
                  </a:cubicBezTo>
                  <a:lnTo>
                    <a:pt x="146304" y="1920240"/>
                  </a:lnTo>
                  <a:cubicBezTo>
                    <a:pt x="65532" y="1920240"/>
                    <a:pt x="0" y="1854708"/>
                    <a:pt x="0" y="1773936"/>
                  </a:cubicBezTo>
                  <a:close/>
                </a:path>
              </a:pathLst>
            </a:custGeom>
            <a:solidFill>
              <a:srgbClr val="FDFBF7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028700" y="2671191"/>
            <a:ext cx="6478311" cy="1296162"/>
            <a:chOff x="0" y="0"/>
            <a:chExt cx="8833398" cy="176736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833398" cy="1767361"/>
            </a:xfrm>
            <a:custGeom>
              <a:avLst/>
              <a:gdLst/>
              <a:ahLst/>
              <a:cxnLst/>
              <a:rect l="l" t="t" r="r" b="b"/>
              <a:pathLst>
                <a:path w="8833398" h="1767361">
                  <a:moveTo>
                    <a:pt x="0" y="67328"/>
                  </a:moveTo>
                  <a:cubicBezTo>
                    <a:pt x="0" y="30157"/>
                    <a:pt x="84408" y="0"/>
                    <a:pt x="188446" y="0"/>
                  </a:cubicBezTo>
                  <a:lnTo>
                    <a:pt x="8644951" y="0"/>
                  </a:lnTo>
                  <a:cubicBezTo>
                    <a:pt x="8748990" y="0"/>
                    <a:pt x="8833398" y="30157"/>
                    <a:pt x="8833398" y="67328"/>
                  </a:cubicBezTo>
                  <a:lnTo>
                    <a:pt x="8833398" y="1700033"/>
                  </a:lnTo>
                  <a:cubicBezTo>
                    <a:pt x="8833398" y="1737204"/>
                    <a:pt x="8748990" y="1767361"/>
                    <a:pt x="8644951" y="1767361"/>
                  </a:cubicBezTo>
                  <a:lnTo>
                    <a:pt x="188446" y="1767361"/>
                  </a:lnTo>
                  <a:cubicBezTo>
                    <a:pt x="84408" y="1767361"/>
                    <a:pt x="0" y="1737204"/>
                    <a:pt x="0" y="1700033"/>
                  </a:cubicBezTo>
                  <a:close/>
                </a:path>
              </a:pathLst>
            </a:custGeom>
            <a:solidFill>
              <a:srgbClr val="473C38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303020" y="2839212"/>
            <a:ext cx="960120" cy="960120"/>
            <a:chOff x="0" y="0"/>
            <a:chExt cx="1280160" cy="12801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80160" cy="1280160"/>
            </a:xfrm>
            <a:custGeom>
              <a:avLst/>
              <a:gdLst/>
              <a:ahLst/>
              <a:cxnLst/>
              <a:rect l="l" t="t" r="r" b="b"/>
              <a:pathLst>
                <a:path w="1280160" h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C4553A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536192" y="3072384"/>
            <a:ext cx="493776" cy="493776"/>
            <a:chOff x="0" y="0"/>
            <a:chExt cx="658368" cy="658368"/>
          </a:xfrm>
        </p:grpSpPr>
        <p:sp>
          <p:nvSpPr>
            <p:cNvPr id="15" name="Freeform 15" descr="Recommendation icon"/>
            <p:cNvSpPr/>
            <p:nvPr/>
          </p:nvSpPr>
          <p:spPr>
            <a:xfrm>
              <a:off x="0" y="0"/>
              <a:ext cx="658368" cy="658368"/>
            </a:xfrm>
            <a:custGeom>
              <a:avLst/>
              <a:gdLst/>
              <a:ahLst/>
              <a:cxnLst/>
              <a:rect l="l" t="t" r="r" b="b"/>
              <a:pathLst>
                <a:path w="658368" h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2571750" y="2736342"/>
            <a:ext cx="6035040" cy="1165860"/>
            <a:chOff x="0" y="0"/>
            <a:chExt cx="8046720" cy="155448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046720" cy="1554480"/>
            </a:xfrm>
            <a:custGeom>
              <a:avLst/>
              <a:gdLst/>
              <a:ahLst/>
              <a:cxnLst/>
              <a:rect l="l" t="t" r="r" b="b"/>
              <a:pathLst>
                <a:path w="8046720" h="1554480">
                  <a:moveTo>
                    <a:pt x="0" y="0"/>
                  </a:moveTo>
                  <a:lnTo>
                    <a:pt x="8046720" y="0"/>
                  </a:lnTo>
                  <a:lnTo>
                    <a:pt x="804672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863" b="-50863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8046720" cy="15640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19"/>
                </a:lnSpc>
              </a:pPr>
              <a:r>
                <a:rPr lang="en-US" sz="2850" b="1">
                  <a:solidFill>
                    <a:srgbClr val="FFF6E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Stage bikes before the peaks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915400" y="2743200"/>
            <a:ext cx="8407908" cy="1165860"/>
            <a:chOff x="0" y="0"/>
            <a:chExt cx="11210544" cy="155448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1210544" cy="1554480"/>
            </a:xfrm>
            <a:custGeom>
              <a:avLst/>
              <a:gdLst/>
              <a:ahLst/>
              <a:cxnLst/>
              <a:rect l="l" t="t" r="r" b="b"/>
              <a:pathLst>
                <a:path w="11210544" h="1554480">
                  <a:moveTo>
                    <a:pt x="0" y="0"/>
                  </a:moveTo>
                  <a:lnTo>
                    <a:pt x="11210544" y="0"/>
                  </a:lnTo>
                  <a:lnTo>
                    <a:pt x="11210544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5249" r="3752" b="-85249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11210544" cy="16021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Pre-position fleet and docks ahead of 8:00 and 17:00 on weekdays.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60120" y="4279392"/>
            <a:ext cx="16363188" cy="1440180"/>
            <a:chOff x="0" y="0"/>
            <a:chExt cx="21817584" cy="192024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1817585" cy="1920240"/>
            </a:xfrm>
            <a:custGeom>
              <a:avLst/>
              <a:gdLst/>
              <a:ahLst/>
              <a:cxnLst/>
              <a:rect l="l" t="t" r="r" b="b"/>
              <a:pathLst>
                <a:path w="21817585" h="19202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671280" y="0"/>
                  </a:lnTo>
                  <a:cubicBezTo>
                    <a:pt x="21752052" y="0"/>
                    <a:pt x="21817585" y="65532"/>
                    <a:pt x="21817585" y="146304"/>
                  </a:cubicBezTo>
                  <a:lnTo>
                    <a:pt x="21817585" y="1773936"/>
                  </a:lnTo>
                  <a:cubicBezTo>
                    <a:pt x="21817585" y="1854708"/>
                    <a:pt x="21752052" y="1920240"/>
                    <a:pt x="21671280" y="1920240"/>
                  </a:cubicBezTo>
                  <a:lnTo>
                    <a:pt x="146304" y="1920240"/>
                  </a:lnTo>
                  <a:cubicBezTo>
                    <a:pt x="65532" y="1920240"/>
                    <a:pt x="0" y="1854708"/>
                    <a:pt x="0" y="1773936"/>
                  </a:cubicBezTo>
                  <a:close/>
                </a:path>
              </a:pathLst>
            </a:custGeom>
            <a:solidFill>
              <a:srgbClr val="FDFBF7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028700" y="4286250"/>
            <a:ext cx="6478311" cy="1296162"/>
            <a:chOff x="0" y="0"/>
            <a:chExt cx="8833398" cy="176736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833398" cy="1767361"/>
            </a:xfrm>
            <a:custGeom>
              <a:avLst/>
              <a:gdLst/>
              <a:ahLst/>
              <a:cxnLst/>
              <a:rect l="l" t="t" r="r" b="b"/>
              <a:pathLst>
                <a:path w="8833398" h="1767361">
                  <a:moveTo>
                    <a:pt x="0" y="67328"/>
                  </a:moveTo>
                  <a:cubicBezTo>
                    <a:pt x="0" y="30157"/>
                    <a:pt x="84408" y="0"/>
                    <a:pt x="188446" y="0"/>
                  </a:cubicBezTo>
                  <a:lnTo>
                    <a:pt x="8644951" y="0"/>
                  </a:lnTo>
                  <a:cubicBezTo>
                    <a:pt x="8748990" y="0"/>
                    <a:pt x="8833398" y="30157"/>
                    <a:pt x="8833398" y="67328"/>
                  </a:cubicBezTo>
                  <a:lnTo>
                    <a:pt x="8833398" y="1700033"/>
                  </a:lnTo>
                  <a:cubicBezTo>
                    <a:pt x="8833398" y="1737204"/>
                    <a:pt x="8748990" y="1767361"/>
                    <a:pt x="8644951" y="1767361"/>
                  </a:cubicBezTo>
                  <a:lnTo>
                    <a:pt x="188446" y="1767361"/>
                  </a:lnTo>
                  <a:cubicBezTo>
                    <a:pt x="84408" y="1767361"/>
                    <a:pt x="0" y="1737204"/>
                    <a:pt x="0" y="1700033"/>
                  </a:cubicBezTo>
                  <a:close/>
                </a:path>
              </a:pathLst>
            </a:custGeom>
            <a:solidFill>
              <a:srgbClr val="473C38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1303020" y="4512564"/>
            <a:ext cx="960120" cy="960120"/>
            <a:chOff x="0" y="0"/>
            <a:chExt cx="1280160" cy="128016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280160" cy="1280160"/>
            </a:xfrm>
            <a:custGeom>
              <a:avLst/>
              <a:gdLst/>
              <a:ahLst/>
              <a:cxnLst/>
              <a:rect l="l" t="t" r="r" b="b"/>
              <a:pathLst>
                <a:path w="1280160" h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C4553A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1536192" y="4745736"/>
            <a:ext cx="493776" cy="493776"/>
            <a:chOff x="0" y="0"/>
            <a:chExt cx="658368" cy="658368"/>
          </a:xfrm>
        </p:grpSpPr>
        <p:sp>
          <p:nvSpPr>
            <p:cNvPr id="29" name="Freeform 29" descr="Recommendation icon"/>
            <p:cNvSpPr/>
            <p:nvPr/>
          </p:nvSpPr>
          <p:spPr>
            <a:xfrm>
              <a:off x="0" y="0"/>
              <a:ext cx="658368" cy="658368"/>
            </a:xfrm>
            <a:custGeom>
              <a:avLst/>
              <a:gdLst/>
              <a:ahLst/>
              <a:cxnLst/>
              <a:rect l="l" t="t" r="r" b="b"/>
              <a:pathLst>
                <a:path w="658368" h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30" name="Group 30"/>
          <p:cNvGrpSpPr/>
          <p:nvPr/>
        </p:nvGrpSpPr>
        <p:grpSpPr>
          <a:xfrm>
            <a:off x="2674620" y="4416552"/>
            <a:ext cx="6035040" cy="1165860"/>
            <a:chOff x="0" y="0"/>
            <a:chExt cx="8046720" cy="155448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046720" cy="1554480"/>
            </a:xfrm>
            <a:custGeom>
              <a:avLst/>
              <a:gdLst/>
              <a:ahLst/>
              <a:cxnLst/>
              <a:rect l="l" t="t" r="r" b="b"/>
              <a:pathLst>
                <a:path w="8046720" h="1554480">
                  <a:moveTo>
                    <a:pt x="0" y="0"/>
                  </a:moveTo>
                  <a:lnTo>
                    <a:pt x="8046720" y="0"/>
                  </a:lnTo>
                  <a:lnTo>
                    <a:pt x="804672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863" b="-50863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9525"/>
              <a:ext cx="8046720" cy="15640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19"/>
                </a:lnSpc>
              </a:pPr>
              <a:r>
                <a:rPr lang="en-US" sz="2850" b="1">
                  <a:solidFill>
                    <a:srgbClr val="FFF6E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Convert casual riders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915400" y="4416552"/>
            <a:ext cx="8092440" cy="1165860"/>
            <a:chOff x="0" y="0"/>
            <a:chExt cx="10789920" cy="155448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789920" cy="1554480"/>
            </a:xfrm>
            <a:custGeom>
              <a:avLst/>
              <a:gdLst/>
              <a:ahLst/>
              <a:cxnLst/>
              <a:rect l="l" t="t" r="r" b="b"/>
              <a:pathLst>
                <a:path w="10789920" h="1554480">
                  <a:moveTo>
                    <a:pt x="0" y="0"/>
                  </a:moveTo>
                  <a:lnTo>
                    <a:pt x="10789920" y="0"/>
                  </a:lnTo>
                  <a:lnTo>
                    <a:pt x="1078992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5249" b="-85249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47625"/>
              <a:ext cx="10789920" cy="16021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Target weekend and holiday riders with membership offers.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60120" y="5952744"/>
            <a:ext cx="16363188" cy="1440180"/>
            <a:chOff x="0" y="0"/>
            <a:chExt cx="21817584" cy="192024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1817585" cy="1920240"/>
            </a:xfrm>
            <a:custGeom>
              <a:avLst/>
              <a:gdLst/>
              <a:ahLst/>
              <a:cxnLst/>
              <a:rect l="l" t="t" r="r" b="b"/>
              <a:pathLst>
                <a:path w="21817585" h="19202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671280" y="0"/>
                  </a:lnTo>
                  <a:cubicBezTo>
                    <a:pt x="21752052" y="0"/>
                    <a:pt x="21817585" y="65532"/>
                    <a:pt x="21817585" y="146304"/>
                  </a:cubicBezTo>
                  <a:lnTo>
                    <a:pt x="21817585" y="1773936"/>
                  </a:lnTo>
                  <a:cubicBezTo>
                    <a:pt x="21817585" y="1854708"/>
                    <a:pt x="21752052" y="1920240"/>
                    <a:pt x="21671280" y="1920240"/>
                  </a:cubicBezTo>
                  <a:lnTo>
                    <a:pt x="146304" y="1920240"/>
                  </a:lnTo>
                  <a:cubicBezTo>
                    <a:pt x="65532" y="1920240"/>
                    <a:pt x="0" y="1854708"/>
                    <a:pt x="0" y="1773936"/>
                  </a:cubicBezTo>
                  <a:close/>
                </a:path>
              </a:pathLst>
            </a:custGeom>
            <a:solidFill>
              <a:srgbClr val="FDFBF7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1028700" y="5948172"/>
            <a:ext cx="6478311" cy="1296162"/>
            <a:chOff x="0" y="0"/>
            <a:chExt cx="8833398" cy="1767361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833398" cy="1767361"/>
            </a:xfrm>
            <a:custGeom>
              <a:avLst/>
              <a:gdLst/>
              <a:ahLst/>
              <a:cxnLst/>
              <a:rect l="l" t="t" r="r" b="b"/>
              <a:pathLst>
                <a:path w="8833398" h="1767361">
                  <a:moveTo>
                    <a:pt x="0" y="67328"/>
                  </a:moveTo>
                  <a:cubicBezTo>
                    <a:pt x="0" y="30157"/>
                    <a:pt x="84408" y="0"/>
                    <a:pt x="188446" y="0"/>
                  </a:cubicBezTo>
                  <a:lnTo>
                    <a:pt x="8644951" y="0"/>
                  </a:lnTo>
                  <a:cubicBezTo>
                    <a:pt x="8748990" y="0"/>
                    <a:pt x="8833398" y="30157"/>
                    <a:pt x="8833398" y="67328"/>
                  </a:cubicBezTo>
                  <a:lnTo>
                    <a:pt x="8833398" y="1700033"/>
                  </a:lnTo>
                  <a:cubicBezTo>
                    <a:pt x="8833398" y="1737204"/>
                    <a:pt x="8748990" y="1767361"/>
                    <a:pt x="8644951" y="1767361"/>
                  </a:cubicBezTo>
                  <a:lnTo>
                    <a:pt x="188446" y="1767361"/>
                  </a:lnTo>
                  <a:cubicBezTo>
                    <a:pt x="84408" y="1767361"/>
                    <a:pt x="0" y="1737204"/>
                    <a:pt x="0" y="1700033"/>
                  </a:cubicBezTo>
                  <a:close/>
                </a:path>
              </a:pathLst>
            </a:custGeom>
            <a:solidFill>
              <a:srgbClr val="473C38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1303020" y="6185916"/>
            <a:ext cx="960120" cy="960120"/>
            <a:chOff x="0" y="0"/>
            <a:chExt cx="1280160" cy="128016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280160" cy="1280160"/>
            </a:xfrm>
            <a:custGeom>
              <a:avLst/>
              <a:gdLst/>
              <a:ahLst/>
              <a:cxnLst/>
              <a:rect l="l" t="t" r="r" b="b"/>
              <a:pathLst>
                <a:path w="1280160" h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C4553A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1536192" y="6419088"/>
            <a:ext cx="493776" cy="493776"/>
            <a:chOff x="0" y="0"/>
            <a:chExt cx="658368" cy="658368"/>
          </a:xfrm>
        </p:grpSpPr>
        <p:sp>
          <p:nvSpPr>
            <p:cNvPr id="43" name="Freeform 43" descr="Recommendation icon"/>
            <p:cNvSpPr/>
            <p:nvPr/>
          </p:nvSpPr>
          <p:spPr>
            <a:xfrm>
              <a:off x="0" y="0"/>
              <a:ext cx="658368" cy="658368"/>
            </a:xfrm>
            <a:custGeom>
              <a:avLst/>
              <a:gdLst/>
              <a:ahLst/>
              <a:cxnLst/>
              <a:rect l="l" t="t" r="r" b="b"/>
              <a:pathLst>
                <a:path w="658368" h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44" name="Group 44"/>
          <p:cNvGrpSpPr/>
          <p:nvPr/>
        </p:nvGrpSpPr>
        <p:grpSpPr>
          <a:xfrm>
            <a:off x="2674620" y="6089904"/>
            <a:ext cx="6035040" cy="1165860"/>
            <a:chOff x="0" y="0"/>
            <a:chExt cx="8046720" cy="155448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046720" cy="1554480"/>
            </a:xfrm>
            <a:custGeom>
              <a:avLst/>
              <a:gdLst/>
              <a:ahLst/>
              <a:cxnLst/>
              <a:rect l="l" t="t" r="r" b="b"/>
              <a:pathLst>
                <a:path w="8046720" h="1554480">
                  <a:moveTo>
                    <a:pt x="0" y="0"/>
                  </a:moveTo>
                  <a:lnTo>
                    <a:pt x="8046720" y="0"/>
                  </a:lnTo>
                  <a:lnTo>
                    <a:pt x="804672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863" b="-50863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9525"/>
              <a:ext cx="8046720" cy="15640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19"/>
                </a:lnSpc>
              </a:pPr>
              <a:r>
                <a:rPr lang="en-US" sz="2850" b="1">
                  <a:solidFill>
                    <a:srgbClr val="FFF6E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Plan around severe weather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915400" y="6089904"/>
            <a:ext cx="8092440" cy="1165860"/>
            <a:chOff x="0" y="0"/>
            <a:chExt cx="10789920" cy="155448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0789920" cy="1554480"/>
            </a:xfrm>
            <a:custGeom>
              <a:avLst/>
              <a:gdLst/>
              <a:ahLst/>
              <a:cxnLst/>
              <a:rect l="l" t="t" r="r" b="b"/>
              <a:pathLst>
                <a:path w="10789920" h="1554480">
                  <a:moveTo>
                    <a:pt x="0" y="0"/>
                  </a:moveTo>
                  <a:lnTo>
                    <a:pt x="10789920" y="0"/>
                  </a:lnTo>
                  <a:lnTo>
                    <a:pt x="1078992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5249" b="-85249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47625"/>
              <a:ext cx="10789920" cy="16021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Scale fleet and staffing down for Orange and Red alert hours.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60120" y="7626096"/>
            <a:ext cx="16363188" cy="1440180"/>
            <a:chOff x="0" y="0"/>
            <a:chExt cx="21817584" cy="192024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21817585" cy="1920240"/>
            </a:xfrm>
            <a:custGeom>
              <a:avLst/>
              <a:gdLst/>
              <a:ahLst/>
              <a:cxnLst/>
              <a:rect l="l" t="t" r="r" b="b"/>
              <a:pathLst>
                <a:path w="21817585" h="19202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671280" y="0"/>
                  </a:lnTo>
                  <a:cubicBezTo>
                    <a:pt x="21752052" y="0"/>
                    <a:pt x="21817585" y="65532"/>
                    <a:pt x="21817585" y="146304"/>
                  </a:cubicBezTo>
                  <a:lnTo>
                    <a:pt x="21817585" y="1773936"/>
                  </a:lnTo>
                  <a:cubicBezTo>
                    <a:pt x="21817585" y="1854708"/>
                    <a:pt x="21752052" y="1920240"/>
                    <a:pt x="21671280" y="1920240"/>
                  </a:cubicBezTo>
                  <a:lnTo>
                    <a:pt x="146304" y="1920240"/>
                  </a:lnTo>
                  <a:cubicBezTo>
                    <a:pt x="65532" y="1920240"/>
                    <a:pt x="0" y="1854708"/>
                    <a:pt x="0" y="1773936"/>
                  </a:cubicBezTo>
                  <a:close/>
                </a:path>
              </a:pathLst>
            </a:custGeom>
            <a:solidFill>
              <a:srgbClr val="FDFBF7"/>
            </a:solidFill>
          </p:spPr>
        </p:sp>
      </p:grpSp>
      <p:grpSp>
        <p:nvGrpSpPr>
          <p:cNvPr id="52" name="Group 52"/>
          <p:cNvGrpSpPr/>
          <p:nvPr/>
        </p:nvGrpSpPr>
        <p:grpSpPr>
          <a:xfrm>
            <a:off x="1028700" y="7621524"/>
            <a:ext cx="6478311" cy="1296162"/>
            <a:chOff x="0" y="0"/>
            <a:chExt cx="8833398" cy="1767361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8833398" cy="1767361"/>
            </a:xfrm>
            <a:custGeom>
              <a:avLst/>
              <a:gdLst/>
              <a:ahLst/>
              <a:cxnLst/>
              <a:rect l="l" t="t" r="r" b="b"/>
              <a:pathLst>
                <a:path w="8833398" h="1767361">
                  <a:moveTo>
                    <a:pt x="0" y="67328"/>
                  </a:moveTo>
                  <a:cubicBezTo>
                    <a:pt x="0" y="30157"/>
                    <a:pt x="84408" y="0"/>
                    <a:pt x="188446" y="0"/>
                  </a:cubicBezTo>
                  <a:lnTo>
                    <a:pt x="8644951" y="0"/>
                  </a:lnTo>
                  <a:cubicBezTo>
                    <a:pt x="8748990" y="0"/>
                    <a:pt x="8833398" y="30157"/>
                    <a:pt x="8833398" y="67328"/>
                  </a:cubicBezTo>
                  <a:lnTo>
                    <a:pt x="8833398" y="1700033"/>
                  </a:lnTo>
                  <a:cubicBezTo>
                    <a:pt x="8833398" y="1737204"/>
                    <a:pt x="8748990" y="1767361"/>
                    <a:pt x="8644951" y="1767361"/>
                  </a:cubicBezTo>
                  <a:lnTo>
                    <a:pt x="188446" y="1767361"/>
                  </a:lnTo>
                  <a:cubicBezTo>
                    <a:pt x="84408" y="1767361"/>
                    <a:pt x="0" y="1737204"/>
                    <a:pt x="0" y="1700033"/>
                  </a:cubicBezTo>
                  <a:close/>
                </a:path>
              </a:pathLst>
            </a:custGeom>
            <a:solidFill>
              <a:srgbClr val="473C38"/>
            </a:solidFill>
          </p:spPr>
        </p:sp>
      </p:grpSp>
      <p:grpSp>
        <p:nvGrpSpPr>
          <p:cNvPr id="54" name="Group 54"/>
          <p:cNvGrpSpPr/>
          <p:nvPr/>
        </p:nvGrpSpPr>
        <p:grpSpPr>
          <a:xfrm>
            <a:off x="1303020" y="7859268"/>
            <a:ext cx="960120" cy="960120"/>
            <a:chOff x="0" y="0"/>
            <a:chExt cx="1280160" cy="128016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280160" cy="1280160"/>
            </a:xfrm>
            <a:custGeom>
              <a:avLst/>
              <a:gdLst/>
              <a:ahLst/>
              <a:cxnLst/>
              <a:rect l="l" t="t" r="r" b="b"/>
              <a:pathLst>
                <a:path w="1280160" h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C4553A"/>
            </a:solidFill>
          </p:spPr>
        </p:sp>
      </p:grpSp>
      <p:grpSp>
        <p:nvGrpSpPr>
          <p:cNvPr id="56" name="Group 56"/>
          <p:cNvGrpSpPr/>
          <p:nvPr/>
        </p:nvGrpSpPr>
        <p:grpSpPr>
          <a:xfrm>
            <a:off x="1536192" y="8092440"/>
            <a:ext cx="493776" cy="493776"/>
            <a:chOff x="0" y="0"/>
            <a:chExt cx="658368" cy="658368"/>
          </a:xfrm>
        </p:grpSpPr>
        <p:sp>
          <p:nvSpPr>
            <p:cNvPr id="57" name="Freeform 57" descr="Recommendation icon"/>
            <p:cNvSpPr/>
            <p:nvPr/>
          </p:nvSpPr>
          <p:spPr>
            <a:xfrm>
              <a:off x="0" y="0"/>
              <a:ext cx="658368" cy="658368"/>
            </a:xfrm>
            <a:custGeom>
              <a:avLst/>
              <a:gdLst/>
              <a:ahLst/>
              <a:cxnLst/>
              <a:rect l="l" t="t" r="r" b="b"/>
              <a:pathLst>
                <a:path w="658368" h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58" name="Group 58"/>
          <p:cNvGrpSpPr/>
          <p:nvPr/>
        </p:nvGrpSpPr>
        <p:grpSpPr>
          <a:xfrm>
            <a:off x="2674620" y="7763256"/>
            <a:ext cx="6035040" cy="1165860"/>
            <a:chOff x="0" y="0"/>
            <a:chExt cx="8046720" cy="155448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8046720" cy="1554480"/>
            </a:xfrm>
            <a:custGeom>
              <a:avLst/>
              <a:gdLst/>
              <a:ahLst/>
              <a:cxnLst/>
              <a:rect l="l" t="t" r="r" b="b"/>
              <a:pathLst>
                <a:path w="8046720" h="1554480">
                  <a:moveTo>
                    <a:pt x="0" y="0"/>
                  </a:moveTo>
                  <a:lnTo>
                    <a:pt x="8046720" y="0"/>
                  </a:lnTo>
                  <a:lnTo>
                    <a:pt x="804672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863" b="-50863"/>
              </a:stretch>
            </a:blipFill>
          </p:spPr>
        </p:sp>
        <p:sp>
          <p:nvSpPr>
            <p:cNvPr id="60" name="TextBox 60"/>
            <p:cNvSpPr txBox="1"/>
            <p:nvPr/>
          </p:nvSpPr>
          <p:spPr>
            <a:xfrm>
              <a:off x="0" y="-9525"/>
              <a:ext cx="8046720" cy="15640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19"/>
                </a:lnSpc>
              </a:pPr>
              <a:r>
                <a:rPr lang="en-US" sz="2850" b="1">
                  <a:solidFill>
                    <a:srgbClr val="FFF6E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Maintain in the quiet hours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8915400" y="7763256"/>
            <a:ext cx="8092440" cy="1165860"/>
            <a:chOff x="0" y="0"/>
            <a:chExt cx="10789920" cy="155448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10789920" cy="1554480"/>
            </a:xfrm>
            <a:custGeom>
              <a:avLst/>
              <a:gdLst/>
              <a:ahLst/>
              <a:cxnLst/>
              <a:rect l="l" t="t" r="r" b="b"/>
              <a:pathLst>
                <a:path w="10789920" h="1554480">
                  <a:moveTo>
                    <a:pt x="0" y="0"/>
                  </a:moveTo>
                  <a:lnTo>
                    <a:pt x="10789920" y="0"/>
                  </a:lnTo>
                  <a:lnTo>
                    <a:pt x="1078992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5249" b="-85249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-47625"/>
              <a:ext cx="10789920" cy="16021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Schedule servicing between 1:00 and 5:00, when demand is under 11 rentals per hour.</a:t>
              </a:r>
            </a:p>
          </p:txBody>
        </p:sp>
      </p:grpSp>
      <p:sp>
        <p:nvSpPr>
          <p:cNvPr id="64" name="TextBox 64"/>
          <p:cNvSpPr txBox="1"/>
          <p:nvPr/>
        </p:nvSpPr>
        <p:spPr>
          <a:xfrm>
            <a:off x="16550640" y="9581388"/>
            <a:ext cx="681228" cy="266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b="1">
                <a:solidFill>
                  <a:srgbClr val="5E5E5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28600"/>
            <a:ext cx="18288000" cy="10515600"/>
          </a:xfrm>
          <a:custGeom>
            <a:avLst/>
            <a:gdLst/>
            <a:ahLst/>
            <a:cxnLst/>
            <a:rect l="l" t="t" r="r" b="b"/>
            <a:pathLst>
              <a:path w="18288000" h="10515600">
                <a:moveTo>
                  <a:pt x="0" y="0"/>
                </a:moveTo>
                <a:lnTo>
                  <a:pt x="18288000" y="0"/>
                </a:lnTo>
                <a:lnTo>
                  <a:pt x="18288000" y="10515600"/>
                </a:lnTo>
                <a:lnTo>
                  <a:pt x="0" y="10515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278131" y="3612418"/>
            <a:ext cx="11731738" cy="1531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75"/>
              </a:lnSpc>
            </a:pPr>
            <a:r>
              <a:rPr lang="en-US" sz="10062" b="1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1401</Words>
  <Application>Microsoft Office PowerPoint</Application>
  <PresentationFormat>Custom</PresentationFormat>
  <Paragraphs>322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Calibri (MS) Bold</vt:lpstr>
      <vt:lpstr>Calibri</vt:lpstr>
      <vt:lpstr>Cambria Bold</vt:lpstr>
      <vt:lpstr>Canva Sans Bold</vt:lpstr>
      <vt:lpstr>Calibri (MS)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Bike Rental Analysis</dc:title>
  <dc:creator>Arpit Vats</dc:creator>
  <cp:lastModifiedBy>Arpit Vats</cp:lastModifiedBy>
  <cp:revision>2</cp:revision>
  <dcterms:created xsi:type="dcterms:W3CDTF">2006-08-16T00:00:00Z</dcterms:created>
  <dcterms:modified xsi:type="dcterms:W3CDTF">2026-10-09T16:01:45Z</dcterms:modified>
  <dc:identifier>DAHXhaVigaA</dc:identifier>
</cp:coreProperties>
</file>